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2" r:id="rId9"/>
    <p:sldId id="260" r:id="rId10"/>
    <p:sldId id="261" r:id="rId11"/>
    <p:sldId id="268" r:id="rId12"/>
    <p:sldId id="269" r:id="rId13"/>
    <p:sldId id="270" r:id="rId14"/>
    <p:sldId id="299" r:id="rId15"/>
    <p:sldId id="271" r:id="rId16"/>
    <p:sldId id="272" r:id="rId17"/>
    <p:sldId id="273" r:id="rId18"/>
    <p:sldId id="274" r:id="rId19"/>
    <p:sldId id="275" r:id="rId20"/>
    <p:sldId id="276" r:id="rId21"/>
    <p:sldId id="277" r:id="rId22"/>
    <p:sldId id="283" r:id="rId23"/>
    <p:sldId id="278" r:id="rId24"/>
    <p:sldId id="280" r:id="rId25"/>
    <p:sldId id="279" r:id="rId26"/>
    <p:sldId id="296" r:id="rId27"/>
    <p:sldId id="282" r:id="rId28"/>
    <p:sldId id="281" r:id="rId29"/>
    <p:sldId id="284" r:id="rId30"/>
    <p:sldId id="285" r:id="rId31"/>
    <p:sldId id="286" r:id="rId32"/>
    <p:sldId id="287" r:id="rId33"/>
    <p:sldId id="288" r:id="rId34"/>
    <p:sldId id="290" r:id="rId35"/>
    <p:sldId id="291" r:id="rId36"/>
    <p:sldId id="292" r:id="rId37"/>
    <p:sldId id="293" r:id="rId38"/>
    <p:sldId id="298" r:id="rId39"/>
    <p:sldId id="294" r:id="rId40"/>
    <p:sldId id="301" r:id="rId41"/>
    <p:sldId id="302" r:id="rId4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2" dt="2026-08-19T04:36:25.529"/>
    <p1510:client id="{16B3D7C3-8629-CEE8-EB1B-3242A7C87D12}" v="600" dt="2026-08-18T16:33:01.574"/>
    <p1510:client id="{6D9B4472-E975-7D08-2DE9-D9F605C35CD6}" v="663" dt="2026-08-19T04:26:11.447"/>
    <p1510:client id="{BCAFC7EA-1CF6-1145-9346-4077AE575575}" v="1089" dt="2026-08-19T04:34:03.315"/>
    <p1510:client id="{C6B9F803-8D68-3A90-48C3-54EA4A94CD7A}" v="935" dt="2026-08-19T04:26:50.1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2B97AAA-5130-176D-2624-D40E5F5456F9}"/>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23036CA3-87F5-8DE9-AF56-26F56D2644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A596958A-F113-D05F-67CE-33CEF3FF39F2}"/>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5" name="Chỗ dành sẵn cho Chân trang 4">
            <a:extLst>
              <a:ext uri="{FF2B5EF4-FFF2-40B4-BE49-F238E27FC236}">
                <a16:creationId xmlns:a16="http://schemas.microsoft.com/office/drawing/2014/main" id="{B13C9AD3-9C92-F8F8-95C1-88C65196FECB}"/>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F3580050-ADD0-80CC-E08E-F3DCD0612530}"/>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2239737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0681570-99D3-FA1B-A3BE-C48BAEDE86F9}"/>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E3A88F62-3354-D11D-5C88-5FEEA0FDCEA4}"/>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40917A45-9248-FC31-C00E-FED430952BE7}"/>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5" name="Chỗ dành sẵn cho Chân trang 4">
            <a:extLst>
              <a:ext uri="{FF2B5EF4-FFF2-40B4-BE49-F238E27FC236}">
                <a16:creationId xmlns:a16="http://schemas.microsoft.com/office/drawing/2014/main" id="{0B3EC779-DCAF-32FE-1E72-C7C3083F79AF}"/>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4528BA73-20BD-FA77-5F35-45C2D83EC212}"/>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211156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0C99BB0-17B1-ABBA-A9B9-024C44046B18}"/>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22705F45-2C76-FA3C-8FE6-A255B14977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88E8F58D-789E-1629-EA12-0062BBF18BB5}"/>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5" name="Chỗ dành sẵn cho Chân trang 4">
            <a:extLst>
              <a:ext uri="{FF2B5EF4-FFF2-40B4-BE49-F238E27FC236}">
                <a16:creationId xmlns:a16="http://schemas.microsoft.com/office/drawing/2014/main" id="{118F72CB-9426-2A41-42F9-FD34B984647E}"/>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FD3E0E35-0EB7-C0AB-B694-A8D555E25825}"/>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152028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D7D293F-DCC6-94C1-327E-B613DC23B79D}"/>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55966603-3BD8-2FAC-87A3-D9084ECCEE9B}"/>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6EF29553-6BBC-7210-2EA3-2C2BB86012EC}"/>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61874770-9BC2-D321-65F9-583A1E7E7E50}"/>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6" name="Chỗ dành sẵn cho Chân trang 5">
            <a:extLst>
              <a:ext uri="{FF2B5EF4-FFF2-40B4-BE49-F238E27FC236}">
                <a16:creationId xmlns:a16="http://schemas.microsoft.com/office/drawing/2014/main" id="{BA32CD96-B6F6-CF10-72BB-F7CCBFEEE7F3}"/>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C60D7605-4245-54FE-22FB-F9EA983642B0}"/>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2329104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774AE9D-4FA7-7403-5EF4-1F9053A6472E}"/>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BD30614F-3D5C-F5A4-3F2B-9094B69CD5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20CA14A3-1BEC-DD31-E8C9-81D2F7D82BBE}"/>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821D3E2C-EAD8-7973-943D-CF542B2BC7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F61EE17B-FA03-3CFF-E580-38370A560FE7}"/>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EC1A7312-F127-C83B-D2DD-E238791FA97C}"/>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8" name="Chỗ dành sẵn cho Chân trang 7">
            <a:extLst>
              <a:ext uri="{FF2B5EF4-FFF2-40B4-BE49-F238E27FC236}">
                <a16:creationId xmlns:a16="http://schemas.microsoft.com/office/drawing/2014/main" id="{A816665C-9BAA-EA2B-790A-380F532DEFB0}"/>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39BC2288-8322-ED10-68CA-88BFC214D347}"/>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606381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328501F-0FBF-10D8-D799-693AB4A9026B}"/>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2BF788A3-C15E-AAFF-B761-BDCFF07D4FC3}"/>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4" name="Chỗ dành sẵn cho Chân trang 3">
            <a:extLst>
              <a:ext uri="{FF2B5EF4-FFF2-40B4-BE49-F238E27FC236}">
                <a16:creationId xmlns:a16="http://schemas.microsoft.com/office/drawing/2014/main" id="{A4B6AB4F-552B-842A-7881-72013FAC3AAF}"/>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B660A896-2FDA-E6FB-5A14-85A0E097B224}"/>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1428202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CAD23DE8-C8F4-1F6C-8C47-37B28EA9DC26}"/>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3" name="Chỗ dành sẵn cho Chân trang 2">
            <a:extLst>
              <a:ext uri="{FF2B5EF4-FFF2-40B4-BE49-F238E27FC236}">
                <a16:creationId xmlns:a16="http://schemas.microsoft.com/office/drawing/2014/main" id="{494A2044-9D12-5CF5-5EA2-40FD12E774A1}"/>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8CD2027B-8C29-BAC9-4351-6F97B3196674}"/>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1840801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1D24E1F-DF97-24E8-B1C2-7CEA29111C83}"/>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6C664D57-75F3-D7D2-5574-F04089D795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5EACA2A1-B789-AEF4-4319-0FB2836A91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AD0EC906-5319-A797-2E86-DDB65DEABF01}"/>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6" name="Chỗ dành sẵn cho Chân trang 5">
            <a:extLst>
              <a:ext uri="{FF2B5EF4-FFF2-40B4-BE49-F238E27FC236}">
                <a16:creationId xmlns:a16="http://schemas.microsoft.com/office/drawing/2014/main" id="{4BD80D04-8B2B-9A3E-4F5E-B2EDCF537D21}"/>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207E271C-DFCF-ADB7-4FDB-AB0F43C62F08}"/>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1834160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497527B-DBF3-91CC-85EE-F8548A18083B}"/>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7B0201D2-A934-2DC9-2B1C-E7A7AF89BB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3181F83C-07FB-A45C-FDF2-97A3417B13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D1489380-BD15-F8F4-2BD8-60CFCAB9C040}"/>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6" name="Chỗ dành sẵn cho Chân trang 5">
            <a:extLst>
              <a:ext uri="{FF2B5EF4-FFF2-40B4-BE49-F238E27FC236}">
                <a16:creationId xmlns:a16="http://schemas.microsoft.com/office/drawing/2014/main" id="{3A3EC75B-9E48-00F2-35A2-8975E71506DA}"/>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8A8D1EA4-1481-3548-5E51-F41FC14AED82}"/>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203174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DDE65DD-81AD-33F6-10C8-FA354CC0666D}"/>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F71B3A68-4953-8BC5-B5C5-44DE07A1AE5C}"/>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9479A9C0-E7E2-6882-D335-F04FAD985574}"/>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5" name="Chỗ dành sẵn cho Chân trang 4">
            <a:extLst>
              <a:ext uri="{FF2B5EF4-FFF2-40B4-BE49-F238E27FC236}">
                <a16:creationId xmlns:a16="http://schemas.microsoft.com/office/drawing/2014/main" id="{D5F8D3C1-674D-214C-8912-13408F5629BC}"/>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5458EA0D-59EF-E7C1-82EF-01A3B56E55CD}"/>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3109623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977278A2-29F2-0F7B-39EB-0E36C65B602A}"/>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C827F584-247F-4BA4-21DE-72FA563AA9AA}"/>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E3B1089F-6C3E-50C1-A108-878DA4127882}"/>
              </a:ext>
            </a:extLst>
          </p:cNvPr>
          <p:cNvSpPr>
            <a:spLocks noGrp="1"/>
          </p:cNvSpPr>
          <p:nvPr>
            <p:ph type="dt" sz="half" idx="10"/>
          </p:nvPr>
        </p:nvSpPr>
        <p:spPr/>
        <p:txBody>
          <a:bodyPr/>
          <a:lstStyle/>
          <a:p>
            <a:fld id="{75171B5E-EB6A-4E9B-AD77-5DA3B4E8F40C}" type="datetimeFigureOut">
              <a:rPr lang="vi-VN" smtClean="0"/>
              <a:t>18/08/2026</a:t>
            </a:fld>
            <a:endParaRPr lang="vi-VN"/>
          </a:p>
        </p:txBody>
      </p:sp>
      <p:sp>
        <p:nvSpPr>
          <p:cNvPr id="5" name="Chỗ dành sẵn cho Chân trang 4">
            <a:extLst>
              <a:ext uri="{FF2B5EF4-FFF2-40B4-BE49-F238E27FC236}">
                <a16:creationId xmlns:a16="http://schemas.microsoft.com/office/drawing/2014/main" id="{1168D6CB-EDEF-8554-AE48-BCC8F0E1021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C9DBF80B-AC68-28A4-7204-97CFC61876F1}"/>
              </a:ext>
            </a:extLst>
          </p:cNvPr>
          <p:cNvSpPr>
            <a:spLocks noGrp="1"/>
          </p:cNvSpPr>
          <p:nvPr>
            <p:ph type="sldNum" sz="quarter" idx="12"/>
          </p:nvPr>
        </p:nvSpPr>
        <p:spPr/>
        <p:txBody>
          <a:bodyPr/>
          <a:lstStyle/>
          <a:p>
            <a:fld id="{CA4136BA-1936-4D37-A1E2-C658F6F22CE3}" type="slidenum">
              <a:rPr lang="vi-VN" smtClean="0"/>
              <a:t>‹#›</a:t>
            </a:fld>
            <a:endParaRPr lang="vi-VN"/>
          </a:p>
        </p:txBody>
      </p:sp>
    </p:spTree>
    <p:extLst>
      <p:ext uri="{BB962C8B-B14F-4D97-AF65-F5344CB8AC3E}">
        <p14:creationId xmlns:p14="http://schemas.microsoft.com/office/powerpoint/2010/main" val="1567506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111CBEE6-F3E8-4F53-E81F-FA62811F3A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641AAA14-349D-08F5-CE1A-02B68F4E4C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37517856-1575-B76E-C674-D93F39B530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171B5E-EB6A-4E9B-AD77-5DA3B4E8F40C}" type="datetimeFigureOut">
              <a:rPr lang="vi-VN" smtClean="0"/>
              <a:t>18/08/2026</a:t>
            </a:fld>
            <a:endParaRPr lang="vi-VN"/>
          </a:p>
        </p:txBody>
      </p:sp>
      <p:sp>
        <p:nvSpPr>
          <p:cNvPr id="5" name="Chỗ dành sẵn cho Chân trang 4">
            <a:extLst>
              <a:ext uri="{FF2B5EF4-FFF2-40B4-BE49-F238E27FC236}">
                <a16:creationId xmlns:a16="http://schemas.microsoft.com/office/drawing/2014/main" id="{CEBB57F1-9198-325A-6B89-389790DDAF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Chỗ dành sẵn cho Số hiệu Bản chiếu 5">
            <a:extLst>
              <a:ext uri="{FF2B5EF4-FFF2-40B4-BE49-F238E27FC236}">
                <a16:creationId xmlns:a16="http://schemas.microsoft.com/office/drawing/2014/main" id="{E9896989-B2F0-B2A4-6A88-6CBC4EB4AC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4136BA-1936-4D37-A1E2-C658F6F22CE3}" type="slidenum">
              <a:rPr lang="vi-VN" smtClean="0"/>
              <a:t>‹#›</a:t>
            </a:fld>
            <a:endParaRPr lang="vi-VN"/>
          </a:p>
        </p:txBody>
      </p:sp>
    </p:spTree>
    <p:extLst>
      <p:ext uri="{BB962C8B-B14F-4D97-AF65-F5344CB8AC3E}">
        <p14:creationId xmlns:p14="http://schemas.microsoft.com/office/powerpoint/2010/main" val="4039730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3">
            <a:extLst>
              <a:ext uri="{FF2B5EF4-FFF2-40B4-BE49-F238E27FC236}">
                <a16:creationId xmlns:a16="http://schemas.microsoft.com/office/drawing/2014/main" id="{9B6E0321-3EC3-FBFB-A215-57A8DFDB8157}"/>
              </a:ext>
            </a:extLst>
          </p:cNvPr>
          <p:cNvSpPr txBox="1"/>
          <p:nvPr/>
        </p:nvSpPr>
        <p:spPr>
          <a:xfrm>
            <a:off x="594360" y="502920"/>
            <a:ext cx="10698480" cy="475488"/>
          </a:xfrm>
          <a:prstGeom prst="rect">
            <a:avLst/>
          </a:prstGeom>
          <a:noFill/>
        </p:spPr>
        <p:txBody>
          <a:bodyPr wrap="square" lIns="27432" tIns="27432" rIns="27432" bIns="27432" anchor="t">
            <a:spAutoFit/>
          </a:bodyPr>
          <a:lstStyle/>
          <a:p>
            <a:pPr algn="l">
              <a:spcBef>
                <a:spcPts val="0"/>
              </a:spcBef>
              <a:spcAft>
                <a:spcPts val="0"/>
              </a:spcAft>
              <a:defRPr sz="2700" b="1" i="0">
                <a:solidFill>
                  <a:srgbClr val="102A43"/>
                </a:solidFill>
                <a:latin typeface="Arial"/>
              </a:defRPr>
            </a:pPr>
            <a:r>
              <a:rPr err="1"/>
              <a:t>Mục</a:t>
            </a:r>
            <a:r>
              <a:t> </a:t>
            </a:r>
            <a:r>
              <a:rPr err="1"/>
              <a:t>lục</a:t>
            </a:r>
            <a:endParaRPr/>
          </a:p>
        </p:txBody>
      </p:sp>
      <p:sp>
        <p:nvSpPr>
          <p:cNvPr id="8" name="Hộp Văn bản 7">
            <a:extLst>
              <a:ext uri="{FF2B5EF4-FFF2-40B4-BE49-F238E27FC236}">
                <a16:creationId xmlns:a16="http://schemas.microsoft.com/office/drawing/2014/main" id="{BB356B07-8A58-9A48-C78D-BEDD10874B6D}"/>
              </a:ext>
            </a:extLst>
          </p:cNvPr>
          <p:cNvSpPr txBox="1"/>
          <p:nvPr/>
        </p:nvSpPr>
        <p:spPr>
          <a:xfrm>
            <a:off x="594360" y="1298448"/>
            <a:ext cx="6528816" cy="923330"/>
          </a:xfrm>
          <a:prstGeom prst="rect">
            <a:avLst/>
          </a:prstGeom>
          <a:noFill/>
        </p:spPr>
        <p:txBody>
          <a:bodyPr wrap="square" rtlCol="0">
            <a:spAutoFit/>
          </a:bodyPr>
          <a:lstStyle/>
          <a:p>
            <a:pPr marL="400050" indent="-400050">
              <a:buAutoNum type="romanUcPeriod"/>
            </a:pPr>
            <a:r>
              <a:rPr lang="vi-VN"/>
              <a:t>Tổng quan về hệ thống điều hướng dẫn đường Nav2</a:t>
            </a:r>
          </a:p>
          <a:p>
            <a:pPr marL="400050" indent="-400050">
              <a:buAutoNum type="romanUcPeriod"/>
            </a:pPr>
            <a:r>
              <a:rPr lang="vi-VN"/>
              <a:t>Phương pháp PSTMO</a:t>
            </a:r>
          </a:p>
          <a:p>
            <a:pPr marL="400050" indent="-400050">
              <a:buAutoNum type="romanUcPeriod"/>
            </a:pPr>
            <a:r>
              <a:rPr lang="vi-VN"/>
              <a:t>Thực nghiệm và đánh giá</a:t>
            </a:r>
          </a:p>
        </p:txBody>
      </p:sp>
    </p:spTree>
    <p:extLst>
      <p:ext uri="{BB962C8B-B14F-4D97-AF65-F5344CB8AC3E}">
        <p14:creationId xmlns:p14="http://schemas.microsoft.com/office/powerpoint/2010/main" val="2426516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4031B-1F1E-0D9B-D138-46F88F8FD460}"/>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187E264D-DA7C-4933-5259-8486C2B09101}"/>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 Tổng quan về hệ thống điều hướng dẫn đường Nav2</a:t>
            </a:r>
          </a:p>
          <a:p>
            <a:pPr algn="l">
              <a:spcBef>
                <a:spcPts val="0"/>
              </a:spcBef>
              <a:spcAft>
                <a:spcPts val="0"/>
              </a:spcAft>
              <a:defRPr sz="2700" b="1" i="0">
                <a:solidFill>
                  <a:srgbClr val="102A43"/>
                </a:solidFill>
                <a:latin typeface="Arial"/>
              </a:defRPr>
            </a:pPr>
            <a:endParaRPr/>
          </a:p>
        </p:txBody>
      </p:sp>
      <p:sp>
        <p:nvSpPr>
          <p:cNvPr id="2" name="Hộp Văn bản 1">
            <a:extLst>
              <a:ext uri="{FF2B5EF4-FFF2-40B4-BE49-F238E27FC236}">
                <a16:creationId xmlns:a16="http://schemas.microsoft.com/office/drawing/2014/main" id="{C2270850-6261-6EE7-DAFF-71C205E62A94}"/>
              </a:ext>
            </a:extLst>
          </p:cNvPr>
          <p:cNvSpPr txBox="1"/>
          <p:nvPr/>
        </p:nvSpPr>
        <p:spPr>
          <a:xfrm>
            <a:off x="594360" y="1416749"/>
            <a:ext cx="5321808" cy="1200329"/>
          </a:xfrm>
          <a:prstGeom prst="rect">
            <a:avLst/>
          </a:prstGeom>
          <a:noFill/>
        </p:spPr>
        <p:txBody>
          <a:bodyPr wrap="square" rtlCol="0">
            <a:spAutoFit/>
          </a:bodyPr>
          <a:lstStyle/>
          <a:p>
            <a:pPr marL="342900" indent="-342900">
              <a:buAutoNum type="arabicPeriod"/>
            </a:pPr>
            <a:r>
              <a:rPr lang="vi-VN"/>
              <a:t>Tổng quan hệ thống điều hướng Nav2</a:t>
            </a:r>
          </a:p>
          <a:p>
            <a:pPr marL="342900" indent="-342900">
              <a:buAutoNum type="arabicPeriod"/>
            </a:pPr>
            <a:r>
              <a:rPr lang="vi-VN"/>
              <a:t>Quy trình xử lý đường đi của hệ thống Nav2</a:t>
            </a:r>
          </a:p>
          <a:p>
            <a:pPr marL="342900" indent="-342900">
              <a:buAutoNum type="arabicPeriod"/>
            </a:pPr>
            <a:r>
              <a:rPr lang="vi-VN"/>
              <a:t>Bài toán làm mượt đường đi trong Nav2</a:t>
            </a:r>
          </a:p>
          <a:p>
            <a:pPr marL="342900" indent="-342900">
              <a:buAutoNum type="arabicPeriod"/>
            </a:pPr>
            <a:r>
              <a:rPr lang="vi-VN"/>
              <a:t>Các phương pháp làm mượt đường đi đã có</a:t>
            </a:r>
          </a:p>
        </p:txBody>
      </p:sp>
    </p:spTree>
    <p:extLst>
      <p:ext uri="{BB962C8B-B14F-4D97-AF65-F5344CB8AC3E}">
        <p14:creationId xmlns:p14="http://schemas.microsoft.com/office/powerpoint/2010/main" val="1747040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4FA6-E8E0-8B77-7A2E-97F6B11E9001}"/>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A4898418-0E94-DD3E-D99B-929FB5EC03CC}"/>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 Tổng quan về hệ thống điều hướng dẫn đường Nav2</a:t>
            </a:r>
          </a:p>
          <a:p>
            <a:pPr algn="l">
              <a:spcBef>
                <a:spcPts val="0"/>
              </a:spcBef>
              <a:spcAft>
                <a:spcPts val="0"/>
              </a:spcAft>
              <a:defRPr sz="2700" b="1" i="0">
                <a:solidFill>
                  <a:srgbClr val="102A43"/>
                </a:solidFill>
                <a:latin typeface="Arial"/>
              </a:defRPr>
            </a:pPr>
            <a:endParaRPr/>
          </a:p>
        </p:txBody>
      </p:sp>
      <p:sp>
        <p:nvSpPr>
          <p:cNvPr id="2" name="Hộp Văn bản 1">
            <a:extLst>
              <a:ext uri="{FF2B5EF4-FFF2-40B4-BE49-F238E27FC236}">
                <a16:creationId xmlns:a16="http://schemas.microsoft.com/office/drawing/2014/main" id="{2F5059BC-D15E-3CA7-6AA1-22D24BF4BC35}"/>
              </a:ext>
            </a:extLst>
          </p:cNvPr>
          <p:cNvSpPr txBox="1"/>
          <p:nvPr/>
        </p:nvSpPr>
        <p:spPr>
          <a:xfrm>
            <a:off x="594360" y="1232083"/>
            <a:ext cx="5321808" cy="369332"/>
          </a:xfrm>
          <a:prstGeom prst="rect">
            <a:avLst/>
          </a:prstGeom>
          <a:noFill/>
        </p:spPr>
        <p:txBody>
          <a:bodyPr wrap="square" rtlCol="0">
            <a:spAutoFit/>
          </a:bodyPr>
          <a:lstStyle/>
          <a:p>
            <a:pPr marL="342900" indent="-342900">
              <a:buAutoNum type="arabicPeriod"/>
            </a:pPr>
            <a:r>
              <a:rPr lang="vi-VN"/>
              <a:t>Tổng quan hệ thống điều hướng Nav2</a:t>
            </a:r>
          </a:p>
        </p:txBody>
      </p:sp>
      <p:pic>
        <p:nvPicPr>
          <p:cNvPr id="6" name="Hình ảnh 5">
            <a:extLst>
              <a:ext uri="{FF2B5EF4-FFF2-40B4-BE49-F238E27FC236}">
                <a16:creationId xmlns:a16="http://schemas.microsoft.com/office/drawing/2014/main" id="{26D6B4EA-DDE7-F886-0CDD-6CADBA09A6D0}"/>
              </a:ext>
            </a:extLst>
          </p:cNvPr>
          <p:cNvPicPr>
            <a:picLocks noChangeAspect="1"/>
          </p:cNvPicPr>
          <p:nvPr/>
        </p:nvPicPr>
        <p:blipFill>
          <a:blip r:embed="rId2"/>
          <a:stretch>
            <a:fillRect/>
          </a:stretch>
        </p:blipFill>
        <p:spPr>
          <a:xfrm>
            <a:off x="8319155" y="1416749"/>
            <a:ext cx="4856932" cy="5221352"/>
          </a:xfrm>
          <a:prstGeom prst="rect">
            <a:avLst/>
          </a:prstGeom>
        </p:spPr>
      </p:pic>
      <p:sp>
        <p:nvSpPr>
          <p:cNvPr id="8" name="Hộp Văn bản 7">
            <a:extLst>
              <a:ext uri="{FF2B5EF4-FFF2-40B4-BE49-F238E27FC236}">
                <a16:creationId xmlns:a16="http://schemas.microsoft.com/office/drawing/2014/main" id="{C90AC083-9D73-2119-9F1D-D973BEAC9BEA}"/>
              </a:ext>
            </a:extLst>
          </p:cNvPr>
          <p:cNvSpPr txBox="1"/>
          <p:nvPr/>
        </p:nvSpPr>
        <p:spPr>
          <a:xfrm>
            <a:off x="896111" y="1911095"/>
            <a:ext cx="7107245" cy="923330"/>
          </a:xfrm>
          <a:prstGeom prst="rect">
            <a:avLst/>
          </a:prstGeom>
          <a:noFill/>
        </p:spPr>
        <p:txBody>
          <a:bodyPr wrap="square" rtlCol="0">
            <a:spAutoFit/>
          </a:bodyPr>
          <a:lstStyle/>
          <a:p>
            <a:r>
              <a:rPr lang="vi-VN"/>
              <a:t>Nav2 là hệ thống bộ công cụ hoàn chỉnh gồm nhiều </a:t>
            </a:r>
            <a:r>
              <a:rPr lang="vi-VN" err="1"/>
              <a:t>plugin</a:t>
            </a:r>
            <a:r>
              <a:rPr lang="vi-VN"/>
              <a:t> độc lập để </a:t>
            </a:r>
            <a:r>
              <a:rPr lang="vi-VN" err="1"/>
              <a:t>robot</a:t>
            </a:r>
            <a:r>
              <a:rPr lang="vi-VN"/>
              <a:t> tự động di chuyển từ điểm A đến điểm B trong môi trường đã biết hoặc chưa biết. </a:t>
            </a:r>
          </a:p>
        </p:txBody>
      </p:sp>
      <p:pic>
        <p:nvPicPr>
          <p:cNvPr id="10" name="Hình ảnh 9">
            <a:extLst>
              <a:ext uri="{FF2B5EF4-FFF2-40B4-BE49-F238E27FC236}">
                <a16:creationId xmlns:a16="http://schemas.microsoft.com/office/drawing/2014/main" id="{3AD727B3-198C-199B-3965-B412C0787DA9}"/>
              </a:ext>
            </a:extLst>
          </p:cNvPr>
          <p:cNvPicPr>
            <a:picLocks noChangeAspect="1"/>
          </p:cNvPicPr>
          <p:nvPr/>
        </p:nvPicPr>
        <p:blipFill>
          <a:blip r:embed="rId3"/>
          <a:stretch>
            <a:fillRect/>
          </a:stretch>
        </p:blipFill>
        <p:spPr>
          <a:xfrm>
            <a:off x="1427730" y="3328771"/>
            <a:ext cx="5689931" cy="2914355"/>
          </a:xfrm>
          <a:prstGeom prst="rect">
            <a:avLst/>
          </a:prstGeom>
        </p:spPr>
      </p:pic>
    </p:spTree>
    <p:extLst>
      <p:ext uri="{BB962C8B-B14F-4D97-AF65-F5344CB8AC3E}">
        <p14:creationId xmlns:p14="http://schemas.microsoft.com/office/powerpoint/2010/main" val="12991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091C5-B951-17CE-27F7-D53000B806F8}"/>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0FFF8432-222C-F124-1230-9BF530826E83}"/>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 Tổng quan về hệ thống điều hướng dẫn đường Nav2</a:t>
            </a:r>
          </a:p>
          <a:p>
            <a:pPr algn="l">
              <a:spcBef>
                <a:spcPts val="0"/>
              </a:spcBef>
              <a:spcAft>
                <a:spcPts val="0"/>
              </a:spcAft>
              <a:defRPr sz="2700" b="1" i="0">
                <a:solidFill>
                  <a:srgbClr val="102A43"/>
                </a:solidFill>
                <a:latin typeface="Arial"/>
              </a:defRPr>
            </a:pPr>
            <a:endParaRPr/>
          </a:p>
        </p:txBody>
      </p:sp>
      <p:sp>
        <p:nvSpPr>
          <p:cNvPr id="2" name="Hộp Văn bản 1">
            <a:extLst>
              <a:ext uri="{FF2B5EF4-FFF2-40B4-BE49-F238E27FC236}">
                <a16:creationId xmlns:a16="http://schemas.microsoft.com/office/drawing/2014/main" id="{8C8DADF2-BA2B-5D6E-9CCC-C54DF151A3B6}"/>
              </a:ext>
            </a:extLst>
          </p:cNvPr>
          <p:cNvSpPr txBox="1"/>
          <p:nvPr/>
        </p:nvSpPr>
        <p:spPr>
          <a:xfrm>
            <a:off x="594360" y="1232083"/>
            <a:ext cx="5321808" cy="369332"/>
          </a:xfrm>
          <a:prstGeom prst="rect">
            <a:avLst/>
          </a:prstGeom>
          <a:noFill/>
        </p:spPr>
        <p:txBody>
          <a:bodyPr wrap="square" rtlCol="0">
            <a:spAutoFit/>
          </a:bodyPr>
          <a:lstStyle/>
          <a:p>
            <a:r>
              <a:rPr lang="vi-VN"/>
              <a:t>2. Quy trình xử lý đường đi của hệ thống Nav2</a:t>
            </a:r>
          </a:p>
        </p:txBody>
      </p:sp>
      <p:cxnSp>
        <p:nvCxnSpPr>
          <p:cNvPr id="3" name="Connector 5">
            <a:extLst>
              <a:ext uri="{FF2B5EF4-FFF2-40B4-BE49-F238E27FC236}">
                <a16:creationId xmlns:a16="http://schemas.microsoft.com/office/drawing/2014/main" id="{F3EB7038-3420-7FF6-ACBD-0A20653EFA38}"/>
              </a:ext>
            </a:extLst>
          </p:cNvPr>
          <p:cNvCxnSpPr/>
          <p:nvPr/>
        </p:nvCxnSpPr>
        <p:spPr>
          <a:xfrm>
            <a:off x="568453" y="1983106"/>
            <a:ext cx="10991088" cy="0"/>
          </a:xfrm>
          <a:prstGeom prst="line">
            <a:avLst/>
          </a:prstGeom>
          <a:ln w="12700">
            <a:solidFill>
              <a:srgbClr val="D9E1E7"/>
            </a:solidFill>
          </a:ln>
        </p:spPr>
        <p:style>
          <a:lnRef idx="2">
            <a:schemeClr val="accent1"/>
          </a:lnRef>
          <a:fillRef idx="0">
            <a:schemeClr val="accent1"/>
          </a:fillRef>
          <a:effectRef idx="1">
            <a:schemeClr val="accent1"/>
          </a:effectRef>
          <a:fontRef idx="minor">
            <a:schemeClr val="tx1"/>
          </a:fontRef>
        </p:style>
      </p:cxnSp>
      <p:sp>
        <p:nvSpPr>
          <p:cNvPr id="4" name="Rounded Rectangle 7">
            <a:extLst>
              <a:ext uri="{FF2B5EF4-FFF2-40B4-BE49-F238E27FC236}">
                <a16:creationId xmlns:a16="http://schemas.microsoft.com/office/drawing/2014/main" id="{DF0267C7-73F2-792C-BBDA-96B8D570C057}"/>
              </a:ext>
            </a:extLst>
          </p:cNvPr>
          <p:cNvSpPr/>
          <p:nvPr/>
        </p:nvSpPr>
        <p:spPr>
          <a:xfrm>
            <a:off x="723901" y="2303146"/>
            <a:ext cx="1797710" cy="822960"/>
          </a:xfrm>
          <a:prstGeom prst="roundRect">
            <a:avLst/>
          </a:prstGeom>
          <a:solidFill>
            <a:srgbClr val="FFFFFF"/>
          </a:solidFill>
          <a:ln w="12700">
            <a:solidFill>
              <a:srgbClr val="D9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8">
            <a:extLst>
              <a:ext uri="{FF2B5EF4-FFF2-40B4-BE49-F238E27FC236}">
                <a16:creationId xmlns:a16="http://schemas.microsoft.com/office/drawing/2014/main" id="{20461650-2D21-5340-30C2-3E826F2F7D45}"/>
              </a:ext>
            </a:extLst>
          </p:cNvPr>
          <p:cNvSpPr txBox="1"/>
          <p:nvPr/>
        </p:nvSpPr>
        <p:spPr>
          <a:xfrm>
            <a:off x="769621" y="2358010"/>
            <a:ext cx="1706270" cy="713232"/>
          </a:xfrm>
          <a:prstGeom prst="rect">
            <a:avLst/>
          </a:prstGeom>
          <a:noFill/>
        </p:spPr>
        <p:txBody>
          <a:bodyPr wrap="square" lIns="0" tIns="0" rIns="0" bIns="0" anchor="ctr">
            <a:spAutoFit/>
          </a:bodyPr>
          <a:lstStyle/>
          <a:p>
            <a:pPr algn="ctr">
              <a:spcBef>
                <a:spcPts val="0"/>
              </a:spcBef>
              <a:spcAft>
                <a:spcPts val="0"/>
              </a:spcAft>
              <a:defRPr sz="1340" b="0" i="0">
                <a:solidFill>
                  <a:srgbClr val="172B3A"/>
                </a:solidFill>
                <a:latin typeface="Arial"/>
              </a:defRPr>
            </a:pPr>
            <a:r>
              <a:t>Map + Sensor</a:t>
            </a:r>
          </a:p>
        </p:txBody>
      </p:sp>
      <p:sp>
        <p:nvSpPr>
          <p:cNvPr id="9" name="Right Arrow 9">
            <a:extLst>
              <a:ext uri="{FF2B5EF4-FFF2-40B4-BE49-F238E27FC236}">
                <a16:creationId xmlns:a16="http://schemas.microsoft.com/office/drawing/2014/main" id="{8B428BD8-B699-6271-3EEF-9A5694411A16}"/>
              </a:ext>
            </a:extLst>
          </p:cNvPr>
          <p:cNvSpPr/>
          <p:nvPr/>
        </p:nvSpPr>
        <p:spPr>
          <a:xfrm>
            <a:off x="2613051" y="2623186"/>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0">
            <a:extLst>
              <a:ext uri="{FF2B5EF4-FFF2-40B4-BE49-F238E27FC236}">
                <a16:creationId xmlns:a16="http://schemas.microsoft.com/office/drawing/2014/main" id="{227A5D62-CB94-C23A-E372-5BE3280EA540}"/>
              </a:ext>
            </a:extLst>
          </p:cNvPr>
          <p:cNvSpPr/>
          <p:nvPr/>
        </p:nvSpPr>
        <p:spPr>
          <a:xfrm>
            <a:off x="2960523" y="2303146"/>
            <a:ext cx="1797710" cy="822960"/>
          </a:xfrm>
          <a:prstGeom prst="roundRect">
            <a:avLst/>
          </a:prstGeom>
          <a:solidFill>
            <a:srgbClr val="FFFFFF"/>
          </a:solidFill>
          <a:ln w="12700">
            <a:solidFill>
              <a:srgbClr val="D9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1">
            <a:extLst>
              <a:ext uri="{FF2B5EF4-FFF2-40B4-BE49-F238E27FC236}">
                <a16:creationId xmlns:a16="http://schemas.microsoft.com/office/drawing/2014/main" id="{619A3D96-3871-0005-AA72-D507107B1EBA}"/>
              </a:ext>
            </a:extLst>
          </p:cNvPr>
          <p:cNvSpPr txBox="1"/>
          <p:nvPr/>
        </p:nvSpPr>
        <p:spPr>
          <a:xfrm>
            <a:off x="3006243" y="2358010"/>
            <a:ext cx="1706270" cy="713232"/>
          </a:xfrm>
          <a:prstGeom prst="rect">
            <a:avLst/>
          </a:prstGeom>
          <a:noFill/>
        </p:spPr>
        <p:txBody>
          <a:bodyPr wrap="square" lIns="0" tIns="0" rIns="0" bIns="0" anchor="ctr">
            <a:spAutoFit/>
          </a:bodyPr>
          <a:lstStyle/>
          <a:p>
            <a:pPr algn="ctr">
              <a:spcBef>
                <a:spcPts val="0"/>
              </a:spcBef>
              <a:spcAft>
                <a:spcPts val="0"/>
              </a:spcAft>
              <a:defRPr sz="1340" b="0" i="0">
                <a:solidFill>
                  <a:srgbClr val="172B3A"/>
                </a:solidFill>
                <a:latin typeface="Arial"/>
              </a:defRPr>
            </a:pPr>
            <a:r>
              <a:t>Global Planner</a:t>
            </a:r>
          </a:p>
        </p:txBody>
      </p:sp>
      <p:sp>
        <p:nvSpPr>
          <p:cNvPr id="12" name="Right Arrow 12">
            <a:extLst>
              <a:ext uri="{FF2B5EF4-FFF2-40B4-BE49-F238E27FC236}">
                <a16:creationId xmlns:a16="http://schemas.microsoft.com/office/drawing/2014/main" id="{F7A39EEE-22D5-6A49-C103-1526EA868A5A}"/>
              </a:ext>
            </a:extLst>
          </p:cNvPr>
          <p:cNvSpPr/>
          <p:nvPr/>
        </p:nvSpPr>
        <p:spPr>
          <a:xfrm>
            <a:off x="4849673" y="2623186"/>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3">
            <a:extLst>
              <a:ext uri="{FF2B5EF4-FFF2-40B4-BE49-F238E27FC236}">
                <a16:creationId xmlns:a16="http://schemas.microsoft.com/office/drawing/2014/main" id="{103620A2-1FA6-40A3-2E97-AD6A4D66C128}"/>
              </a:ext>
            </a:extLst>
          </p:cNvPr>
          <p:cNvSpPr/>
          <p:nvPr/>
        </p:nvSpPr>
        <p:spPr>
          <a:xfrm>
            <a:off x="5197145" y="2303146"/>
            <a:ext cx="1797710" cy="822960"/>
          </a:xfrm>
          <a:prstGeom prst="roundRect">
            <a:avLst/>
          </a:prstGeom>
          <a:solidFill>
            <a:srgbClr val="E2F1EF"/>
          </a:solidFill>
          <a:ln w="19050">
            <a:solidFill>
              <a:srgbClr val="0B7A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4">
            <a:extLst>
              <a:ext uri="{FF2B5EF4-FFF2-40B4-BE49-F238E27FC236}">
                <a16:creationId xmlns:a16="http://schemas.microsoft.com/office/drawing/2014/main" id="{0BB599A5-86BA-5BEC-5B0B-464951288E7E}"/>
              </a:ext>
            </a:extLst>
          </p:cNvPr>
          <p:cNvSpPr txBox="1"/>
          <p:nvPr/>
        </p:nvSpPr>
        <p:spPr>
          <a:xfrm>
            <a:off x="5242865" y="2358010"/>
            <a:ext cx="1706270" cy="713232"/>
          </a:xfrm>
          <a:prstGeom prst="rect">
            <a:avLst/>
          </a:prstGeom>
          <a:noFill/>
        </p:spPr>
        <p:txBody>
          <a:bodyPr wrap="square" lIns="0" tIns="0" rIns="0" bIns="0" anchor="ctr">
            <a:spAutoFit/>
          </a:bodyPr>
          <a:lstStyle/>
          <a:p>
            <a:pPr algn="ctr">
              <a:spcBef>
                <a:spcPts val="0"/>
              </a:spcBef>
              <a:spcAft>
                <a:spcPts val="0"/>
              </a:spcAft>
              <a:defRPr sz="1340" b="1" i="0">
                <a:solidFill>
                  <a:srgbClr val="075D59"/>
                </a:solidFill>
                <a:latin typeface="Arial"/>
              </a:defRPr>
            </a:pPr>
            <a:r>
              <a:t>Smoother</a:t>
            </a:r>
          </a:p>
        </p:txBody>
      </p:sp>
      <p:sp>
        <p:nvSpPr>
          <p:cNvPr id="15" name="Right Arrow 15">
            <a:extLst>
              <a:ext uri="{FF2B5EF4-FFF2-40B4-BE49-F238E27FC236}">
                <a16:creationId xmlns:a16="http://schemas.microsoft.com/office/drawing/2014/main" id="{D9760896-A1D7-226C-C6BA-8BCBD19BC0B4}"/>
              </a:ext>
            </a:extLst>
          </p:cNvPr>
          <p:cNvSpPr/>
          <p:nvPr/>
        </p:nvSpPr>
        <p:spPr>
          <a:xfrm>
            <a:off x="7086296" y="2623186"/>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6">
            <a:extLst>
              <a:ext uri="{FF2B5EF4-FFF2-40B4-BE49-F238E27FC236}">
                <a16:creationId xmlns:a16="http://schemas.microsoft.com/office/drawing/2014/main" id="{4F29B886-AD4C-E019-52E3-0F037B84CEF1}"/>
              </a:ext>
            </a:extLst>
          </p:cNvPr>
          <p:cNvSpPr/>
          <p:nvPr/>
        </p:nvSpPr>
        <p:spPr>
          <a:xfrm>
            <a:off x="7433768" y="2303146"/>
            <a:ext cx="1797710" cy="822960"/>
          </a:xfrm>
          <a:prstGeom prst="roundRect">
            <a:avLst/>
          </a:prstGeom>
          <a:solidFill>
            <a:srgbClr val="FFFFFF"/>
          </a:solidFill>
          <a:ln w="12700">
            <a:solidFill>
              <a:srgbClr val="D9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7">
            <a:extLst>
              <a:ext uri="{FF2B5EF4-FFF2-40B4-BE49-F238E27FC236}">
                <a16:creationId xmlns:a16="http://schemas.microsoft.com/office/drawing/2014/main" id="{02C2DCD8-CD5E-614F-C43F-33A60690D934}"/>
              </a:ext>
            </a:extLst>
          </p:cNvPr>
          <p:cNvSpPr txBox="1"/>
          <p:nvPr/>
        </p:nvSpPr>
        <p:spPr>
          <a:xfrm>
            <a:off x="7479488" y="2358010"/>
            <a:ext cx="1706270" cy="713232"/>
          </a:xfrm>
          <a:prstGeom prst="rect">
            <a:avLst/>
          </a:prstGeom>
          <a:noFill/>
        </p:spPr>
        <p:txBody>
          <a:bodyPr wrap="square" lIns="0" tIns="0" rIns="0" bIns="0" anchor="ctr">
            <a:spAutoFit/>
          </a:bodyPr>
          <a:lstStyle/>
          <a:p>
            <a:pPr algn="ctr">
              <a:spcBef>
                <a:spcPts val="0"/>
              </a:spcBef>
              <a:spcAft>
                <a:spcPts val="0"/>
              </a:spcAft>
              <a:defRPr sz="1340" b="0" i="0">
                <a:solidFill>
                  <a:srgbClr val="172B3A"/>
                </a:solidFill>
                <a:latin typeface="Arial"/>
              </a:defRPr>
            </a:pPr>
            <a:r>
              <a:t>Controller</a:t>
            </a:r>
          </a:p>
        </p:txBody>
      </p:sp>
      <p:sp>
        <p:nvSpPr>
          <p:cNvPr id="18" name="Right Arrow 18">
            <a:extLst>
              <a:ext uri="{FF2B5EF4-FFF2-40B4-BE49-F238E27FC236}">
                <a16:creationId xmlns:a16="http://schemas.microsoft.com/office/drawing/2014/main" id="{228799F4-A0E2-83A8-E917-86EF3528BC4C}"/>
              </a:ext>
            </a:extLst>
          </p:cNvPr>
          <p:cNvSpPr/>
          <p:nvPr/>
        </p:nvSpPr>
        <p:spPr>
          <a:xfrm>
            <a:off x="9322918" y="2623186"/>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9">
            <a:extLst>
              <a:ext uri="{FF2B5EF4-FFF2-40B4-BE49-F238E27FC236}">
                <a16:creationId xmlns:a16="http://schemas.microsoft.com/office/drawing/2014/main" id="{D2140951-5B61-406C-913D-DCAF02DBD376}"/>
              </a:ext>
            </a:extLst>
          </p:cNvPr>
          <p:cNvSpPr/>
          <p:nvPr/>
        </p:nvSpPr>
        <p:spPr>
          <a:xfrm>
            <a:off x="9670390" y="2303146"/>
            <a:ext cx="1797710" cy="822960"/>
          </a:xfrm>
          <a:prstGeom prst="roundRect">
            <a:avLst/>
          </a:prstGeom>
          <a:solidFill>
            <a:srgbClr val="FFFFFF"/>
          </a:solidFill>
          <a:ln w="12700">
            <a:solidFill>
              <a:srgbClr val="D9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0">
            <a:extLst>
              <a:ext uri="{FF2B5EF4-FFF2-40B4-BE49-F238E27FC236}">
                <a16:creationId xmlns:a16="http://schemas.microsoft.com/office/drawing/2014/main" id="{A2AF06AB-8941-E511-382C-1099899F87F6}"/>
              </a:ext>
            </a:extLst>
          </p:cNvPr>
          <p:cNvSpPr txBox="1"/>
          <p:nvPr/>
        </p:nvSpPr>
        <p:spPr>
          <a:xfrm>
            <a:off x="9716110" y="2358010"/>
            <a:ext cx="1706270" cy="713232"/>
          </a:xfrm>
          <a:prstGeom prst="rect">
            <a:avLst/>
          </a:prstGeom>
          <a:noFill/>
        </p:spPr>
        <p:txBody>
          <a:bodyPr wrap="square" lIns="0" tIns="0" rIns="0" bIns="0" anchor="ctr">
            <a:spAutoFit/>
          </a:bodyPr>
          <a:lstStyle/>
          <a:p>
            <a:pPr algn="ctr">
              <a:spcBef>
                <a:spcPts val="0"/>
              </a:spcBef>
              <a:spcAft>
                <a:spcPts val="0"/>
              </a:spcAft>
              <a:defRPr sz="1340" b="0" i="0">
                <a:solidFill>
                  <a:srgbClr val="172B3A"/>
                </a:solidFill>
                <a:latin typeface="Arial"/>
              </a:defRPr>
            </a:pPr>
            <a:r>
              <a:t>Robot</a:t>
            </a:r>
          </a:p>
        </p:txBody>
      </p:sp>
      <p:sp>
        <p:nvSpPr>
          <p:cNvPr id="58" name="TextBox 22">
            <a:extLst>
              <a:ext uri="{FF2B5EF4-FFF2-40B4-BE49-F238E27FC236}">
                <a16:creationId xmlns:a16="http://schemas.microsoft.com/office/drawing/2014/main" id="{97C36DC8-B0CF-C966-E8EA-BF51FBA39D69}"/>
              </a:ext>
            </a:extLst>
          </p:cNvPr>
          <p:cNvSpPr txBox="1"/>
          <p:nvPr/>
        </p:nvSpPr>
        <p:spPr>
          <a:xfrm>
            <a:off x="970485" y="3675888"/>
            <a:ext cx="2944368" cy="283464"/>
          </a:xfrm>
          <a:prstGeom prst="rect">
            <a:avLst/>
          </a:prstGeom>
          <a:noFill/>
        </p:spPr>
        <p:txBody>
          <a:bodyPr wrap="square" lIns="27432" tIns="27432" rIns="27432" bIns="27432" anchor="t">
            <a:spAutoFit/>
          </a:bodyPr>
          <a:lstStyle/>
          <a:p>
            <a:pPr algn="ctr">
              <a:spcBef>
                <a:spcPts val="0"/>
              </a:spcBef>
              <a:spcAft>
                <a:spcPts val="0"/>
              </a:spcAft>
              <a:defRPr sz="1400" b="1" i="0">
                <a:solidFill>
                  <a:srgbClr val="2F6FED"/>
                </a:solidFill>
                <a:latin typeface="Arial"/>
              </a:defRPr>
            </a:pPr>
            <a:r>
              <a:t>PLANNER</a:t>
            </a:r>
          </a:p>
        </p:txBody>
      </p:sp>
      <p:sp>
        <p:nvSpPr>
          <p:cNvPr id="60" name="TextBox 23">
            <a:extLst>
              <a:ext uri="{FF2B5EF4-FFF2-40B4-BE49-F238E27FC236}">
                <a16:creationId xmlns:a16="http://schemas.microsoft.com/office/drawing/2014/main" id="{44614AAF-1ADD-70FB-F8CD-75C18F3ABBD9}"/>
              </a:ext>
            </a:extLst>
          </p:cNvPr>
          <p:cNvSpPr txBox="1"/>
          <p:nvPr/>
        </p:nvSpPr>
        <p:spPr>
          <a:xfrm>
            <a:off x="1025349" y="4270247"/>
            <a:ext cx="2834640" cy="658368"/>
          </a:xfrm>
          <a:prstGeom prst="rect">
            <a:avLst/>
          </a:prstGeom>
          <a:noFill/>
        </p:spPr>
        <p:txBody>
          <a:bodyPr wrap="square" lIns="27432" tIns="27432" rIns="27432" bIns="27432" anchor="t">
            <a:spAutoFit/>
          </a:bodyPr>
          <a:lstStyle/>
          <a:p>
            <a:pPr algn="ctr">
              <a:spcBef>
                <a:spcPts val="0"/>
              </a:spcBef>
              <a:spcAft>
                <a:spcPts val="0"/>
              </a:spcAft>
              <a:defRPr sz="1300" b="0" i="0">
                <a:solidFill>
                  <a:srgbClr val="172B3A"/>
                </a:solidFill>
                <a:latin typeface="Arial"/>
              </a:defRPr>
            </a:pPr>
            <a:r>
              <a:t>Tìm chuỗi pose đi từ start tới goal trên costmap.</a:t>
            </a:r>
          </a:p>
        </p:txBody>
      </p:sp>
      <p:sp>
        <p:nvSpPr>
          <p:cNvPr id="62" name="Rounded Rectangle 24">
            <a:extLst>
              <a:ext uri="{FF2B5EF4-FFF2-40B4-BE49-F238E27FC236}">
                <a16:creationId xmlns:a16="http://schemas.microsoft.com/office/drawing/2014/main" id="{DF1946A9-3774-1DAA-F7CF-A17570C9F9A6}"/>
              </a:ext>
            </a:extLst>
          </p:cNvPr>
          <p:cNvSpPr/>
          <p:nvPr/>
        </p:nvSpPr>
        <p:spPr>
          <a:xfrm>
            <a:off x="1372821" y="5166360"/>
            <a:ext cx="2139696" cy="347472"/>
          </a:xfrm>
          <a:prstGeom prst="roundRect">
            <a:avLst/>
          </a:prstGeom>
          <a:solidFill>
            <a:srgbClr val="EEF2F5"/>
          </a:solidFill>
          <a:ln w="12700">
            <a:solidFill>
              <a:srgbClr val="EE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25">
            <a:extLst>
              <a:ext uri="{FF2B5EF4-FFF2-40B4-BE49-F238E27FC236}">
                <a16:creationId xmlns:a16="http://schemas.microsoft.com/office/drawing/2014/main" id="{18A0D0ED-9B06-E658-A510-13FC00FFFD4D}"/>
              </a:ext>
            </a:extLst>
          </p:cNvPr>
          <p:cNvSpPr txBox="1"/>
          <p:nvPr/>
        </p:nvSpPr>
        <p:spPr>
          <a:xfrm>
            <a:off x="1491693" y="5239512"/>
            <a:ext cx="1901952" cy="201168"/>
          </a:xfrm>
          <a:prstGeom prst="rect">
            <a:avLst/>
          </a:prstGeom>
          <a:noFill/>
        </p:spPr>
        <p:txBody>
          <a:bodyPr wrap="square" lIns="27432" tIns="27432" rIns="27432" bIns="27432" anchor="t">
            <a:spAutoFit/>
          </a:bodyPr>
          <a:lstStyle/>
          <a:p>
            <a:pPr algn="ctr">
              <a:spcBef>
                <a:spcPts val="0"/>
              </a:spcBef>
              <a:spcAft>
                <a:spcPts val="0"/>
              </a:spcAft>
              <a:defRPr sz="1080" b="1" i="0">
                <a:solidFill>
                  <a:srgbClr val="102A43"/>
                </a:solidFill>
                <a:latin typeface="Arial"/>
              </a:defRPr>
            </a:pPr>
            <a:r>
              <a:t>OUTPUT: Đường thô</a:t>
            </a:r>
          </a:p>
        </p:txBody>
      </p:sp>
      <p:sp>
        <p:nvSpPr>
          <p:cNvPr id="68" name="TextBox 27">
            <a:extLst>
              <a:ext uri="{FF2B5EF4-FFF2-40B4-BE49-F238E27FC236}">
                <a16:creationId xmlns:a16="http://schemas.microsoft.com/office/drawing/2014/main" id="{D2D76FEF-988E-1527-AE76-9FE6BCD80234}"/>
              </a:ext>
            </a:extLst>
          </p:cNvPr>
          <p:cNvSpPr txBox="1"/>
          <p:nvPr/>
        </p:nvSpPr>
        <p:spPr>
          <a:xfrm>
            <a:off x="4673804" y="3675888"/>
            <a:ext cx="2944368" cy="283464"/>
          </a:xfrm>
          <a:prstGeom prst="rect">
            <a:avLst/>
          </a:prstGeom>
          <a:noFill/>
        </p:spPr>
        <p:txBody>
          <a:bodyPr wrap="square" lIns="27432" tIns="27432" rIns="27432" bIns="27432" anchor="t">
            <a:spAutoFit/>
          </a:bodyPr>
          <a:lstStyle/>
          <a:p>
            <a:pPr algn="ctr">
              <a:spcBef>
                <a:spcPts val="0"/>
              </a:spcBef>
              <a:spcAft>
                <a:spcPts val="0"/>
              </a:spcAft>
              <a:defRPr sz="1400" b="1" i="0">
                <a:solidFill>
                  <a:srgbClr val="0B7A75"/>
                </a:solidFill>
                <a:latin typeface="Arial"/>
              </a:defRPr>
            </a:pPr>
            <a:r>
              <a:t>SMOOTHER</a:t>
            </a:r>
          </a:p>
        </p:txBody>
      </p:sp>
      <p:sp>
        <p:nvSpPr>
          <p:cNvPr id="70" name="TextBox 28">
            <a:extLst>
              <a:ext uri="{FF2B5EF4-FFF2-40B4-BE49-F238E27FC236}">
                <a16:creationId xmlns:a16="http://schemas.microsoft.com/office/drawing/2014/main" id="{D3E80170-FC09-1EE4-8C71-1C5CED4CBB94}"/>
              </a:ext>
            </a:extLst>
          </p:cNvPr>
          <p:cNvSpPr txBox="1"/>
          <p:nvPr/>
        </p:nvSpPr>
        <p:spPr>
          <a:xfrm>
            <a:off x="4728669" y="4270247"/>
            <a:ext cx="2834640" cy="658368"/>
          </a:xfrm>
          <a:prstGeom prst="rect">
            <a:avLst/>
          </a:prstGeom>
          <a:noFill/>
        </p:spPr>
        <p:txBody>
          <a:bodyPr wrap="square" lIns="27432" tIns="27432" rIns="27432" bIns="27432" anchor="t">
            <a:spAutoFit/>
          </a:bodyPr>
          <a:lstStyle/>
          <a:p>
            <a:pPr algn="ctr">
              <a:spcBef>
                <a:spcPts val="0"/>
              </a:spcBef>
              <a:spcAft>
                <a:spcPts val="0"/>
              </a:spcAft>
              <a:defRPr sz="1300" b="0" i="0">
                <a:solidFill>
                  <a:srgbClr val="172B3A"/>
                </a:solidFill>
                <a:latin typeface="Arial"/>
              </a:defRPr>
            </a:pPr>
            <a:r>
              <a:rPr err="1"/>
              <a:t>Điều</a:t>
            </a:r>
            <a:r>
              <a:t> </a:t>
            </a:r>
            <a:r>
              <a:rPr err="1"/>
              <a:t>chỉnh</a:t>
            </a:r>
            <a:r>
              <a:t> </a:t>
            </a:r>
            <a:r>
              <a:rPr err="1"/>
              <a:t>hình</a:t>
            </a:r>
            <a:r>
              <a:t> </a:t>
            </a:r>
            <a:r>
              <a:rPr err="1"/>
              <a:t>học</a:t>
            </a:r>
            <a:r>
              <a:t> </a:t>
            </a:r>
            <a:r>
              <a:rPr err="1"/>
              <a:t>của</a:t>
            </a:r>
            <a:r>
              <a:t> path; </a:t>
            </a:r>
            <a:r>
              <a:rPr err="1"/>
              <a:t>giữ</a:t>
            </a:r>
            <a:r>
              <a:t> start/goal.</a:t>
            </a:r>
          </a:p>
        </p:txBody>
      </p:sp>
      <p:sp>
        <p:nvSpPr>
          <p:cNvPr id="72" name="Rounded Rectangle 29">
            <a:extLst>
              <a:ext uri="{FF2B5EF4-FFF2-40B4-BE49-F238E27FC236}">
                <a16:creationId xmlns:a16="http://schemas.microsoft.com/office/drawing/2014/main" id="{8D7248E5-8858-7FED-BBAC-496A8260C8F8}"/>
              </a:ext>
            </a:extLst>
          </p:cNvPr>
          <p:cNvSpPr/>
          <p:nvPr/>
        </p:nvSpPr>
        <p:spPr>
          <a:xfrm>
            <a:off x="5076141" y="5166360"/>
            <a:ext cx="2020824" cy="460950"/>
          </a:xfrm>
          <a:prstGeom prst="roundRect">
            <a:avLst/>
          </a:prstGeom>
          <a:solidFill>
            <a:srgbClr val="EEF2F5"/>
          </a:solidFill>
          <a:ln w="12700">
            <a:solidFill>
              <a:srgbClr val="EE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30">
            <a:extLst>
              <a:ext uri="{FF2B5EF4-FFF2-40B4-BE49-F238E27FC236}">
                <a16:creationId xmlns:a16="http://schemas.microsoft.com/office/drawing/2014/main" id="{249274CB-5047-CF94-25FE-FC9451A5E0A8}"/>
              </a:ext>
            </a:extLst>
          </p:cNvPr>
          <p:cNvSpPr txBox="1"/>
          <p:nvPr/>
        </p:nvSpPr>
        <p:spPr>
          <a:xfrm>
            <a:off x="5195013" y="5239512"/>
            <a:ext cx="1901952" cy="387798"/>
          </a:xfrm>
          <a:prstGeom prst="rect">
            <a:avLst/>
          </a:prstGeom>
          <a:noFill/>
        </p:spPr>
        <p:txBody>
          <a:bodyPr wrap="square" lIns="27432" tIns="27432" rIns="27432" bIns="27432" anchor="t">
            <a:spAutoFit/>
          </a:bodyPr>
          <a:lstStyle/>
          <a:p>
            <a:pPr algn="ctr">
              <a:spcBef>
                <a:spcPts val="0"/>
              </a:spcBef>
              <a:spcAft>
                <a:spcPts val="0"/>
              </a:spcAft>
              <a:defRPr sz="1080" b="1" i="0">
                <a:solidFill>
                  <a:srgbClr val="102A43"/>
                </a:solidFill>
                <a:latin typeface="Arial"/>
              </a:defRPr>
            </a:pPr>
            <a:r>
              <a:t>OUTPUT: </a:t>
            </a:r>
            <a:r>
              <a:rPr err="1"/>
              <a:t>Đường</a:t>
            </a:r>
            <a:r>
              <a:rPr lang="vi-VN"/>
              <a:t> mới đã được làm mượt</a:t>
            </a:r>
            <a:endParaRPr/>
          </a:p>
        </p:txBody>
      </p:sp>
      <p:sp>
        <p:nvSpPr>
          <p:cNvPr id="78" name="TextBox 32">
            <a:extLst>
              <a:ext uri="{FF2B5EF4-FFF2-40B4-BE49-F238E27FC236}">
                <a16:creationId xmlns:a16="http://schemas.microsoft.com/office/drawing/2014/main" id="{56562516-125E-FE84-F796-3B30BE80308B}"/>
              </a:ext>
            </a:extLst>
          </p:cNvPr>
          <p:cNvSpPr txBox="1"/>
          <p:nvPr/>
        </p:nvSpPr>
        <p:spPr>
          <a:xfrm>
            <a:off x="8377125" y="3675888"/>
            <a:ext cx="2944368" cy="283464"/>
          </a:xfrm>
          <a:prstGeom prst="rect">
            <a:avLst/>
          </a:prstGeom>
          <a:noFill/>
        </p:spPr>
        <p:txBody>
          <a:bodyPr wrap="square" lIns="27432" tIns="27432" rIns="27432" bIns="27432" anchor="t">
            <a:spAutoFit/>
          </a:bodyPr>
          <a:lstStyle/>
          <a:p>
            <a:pPr algn="ctr">
              <a:spcBef>
                <a:spcPts val="0"/>
              </a:spcBef>
              <a:spcAft>
                <a:spcPts val="0"/>
              </a:spcAft>
              <a:defRPr sz="1400" b="1" i="0">
                <a:solidFill>
                  <a:srgbClr val="E07A2F"/>
                </a:solidFill>
                <a:latin typeface="Arial"/>
              </a:defRPr>
            </a:pPr>
            <a:r>
              <a:t>CONTROLLER</a:t>
            </a:r>
          </a:p>
        </p:txBody>
      </p:sp>
      <p:sp>
        <p:nvSpPr>
          <p:cNvPr id="80" name="TextBox 33">
            <a:extLst>
              <a:ext uri="{FF2B5EF4-FFF2-40B4-BE49-F238E27FC236}">
                <a16:creationId xmlns:a16="http://schemas.microsoft.com/office/drawing/2014/main" id="{1CAA2220-C602-6979-8C21-EDFC74AD93BD}"/>
              </a:ext>
            </a:extLst>
          </p:cNvPr>
          <p:cNvSpPr txBox="1"/>
          <p:nvPr/>
        </p:nvSpPr>
        <p:spPr>
          <a:xfrm>
            <a:off x="8431989" y="4270247"/>
            <a:ext cx="2834640" cy="655564"/>
          </a:xfrm>
          <a:prstGeom prst="rect">
            <a:avLst/>
          </a:prstGeom>
          <a:noFill/>
        </p:spPr>
        <p:txBody>
          <a:bodyPr wrap="square" lIns="27432" tIns="27432" rIns="27432" bIns="27432" anchor="t">
            <a:spAutoFit/>
          </a:bodyPr>
          <a:lstStyle/>
          <a:p>
            <a:pPr algn="ctr">
              <a:defRPr sz="1300" b="0" i="0">
                <a:solidFill>
                  <a:srgbClr val="172B3A"/>
                </a:solidFill>
                <a:latin typeface="Arial"/>
              </a:defRPr>
            </a:pPr>
            <a:r>
              <a:t>So </a:t>
            </a:r>
            <a:r>
              <a:rPr err="1"/>
              <a:t>sánh</a:t>
            </a:r>
            <a:r>
              <a:t> pose robot </a:t>
            </a:r>
            <a:r>
              <a:rPr err="1"/>
              <a:t>với</a:t>
            </a:r>
            <a:r>
              <a:t> path </a:t>
            </a:r>
            <a:r>
              <a:rPr err="1"/>
              <a:t>và</a:t>
            </a:r>
            <a:r>
              <a:t> </a:t>
            </a:r>
            <a:r>
              <a:rPr err="1"/>
              <a:t>phát</a:t>
            </a:r>
            <a:r>
              <a:t> </a:t>
            </a:r>
            <a:r>
              <a:rPr err="1"/>
              <a:t>lệnh</a:t>
            </a:r>
            <a:r>
              <a:t> v, ω</a:t>
            </a:r>
            <a:r>
              <a:rPr lang="en-US"/>
              <a:t> </a:t>
            </a:r>
            <a:r>
              <a:rPr lang="en-US" err="1"/>
              <a:t>điều</a:t>
            </a:r>
            <a:r>
              <a:rPr lang="en-US"/>
              <a:t> </a:t>
            </a:r>
            <a:r>
              <a:rPr lang="en-US" err="1"/>
              <a:t>kiển</a:t>
            </a:r>
            <a:r>
              <a:rPr lang="en-US"/>
              <a:t> </a:t>
            </a:r>
            <a:r>
              <a:rPr lang="en-US" err="1"/>
              <a:t>xe</a:t>
            </a:r>
            <a:r>
              <a:rPr lang="en-US"/>
              <a:t> </a:t>
            </a:r>
            <a:r>
              <a:rPr lang="en-US" err="1"/>
              <a:t>theo</a:t>
            </a:r>
            <a:r>
              <a:rPr lang="en-US"/>
              <a:t> </a:t>
            </a:r>
            <a:r>
              <a:rPr lang="en-US" err="1"/>
              <a:t>đường</a:t>
            </a:r>
            <a:r>
              <a:rPr lang="en-US"/>
              <a:t> </a:t>
            </a:r>
            <a:r>
              <a:rPr lang="en-US" err="1"/>
              <a:t>đã</a:t>
            </a:r>
            <a:r>
              <a:rPr lang="en-US"/>
              <a:t> </a:t>
            </a:r>
            <a:r>
              <a:rPr lang="en-US" err="1"/>
              <a:t>được</a:t>
            </a:r>
            <a:r>
              <a:rPr lang="en-US"/>
              <a:t> </a:t>
            </a:r>
            <a:r>
              <a:rPr lang="en-US" err="1"/>
              <a:t>làm</a:t>
            </a:r>
            <a:r>
              <a:rPr lang="en-US"/>
              <a:t> </a:t>
            </a:r>
            <a:r>
              <a:rPr lang="en-US" err="1"/>
              <a:t>mượt</a:t>
            </a:r>
            <a:r>
              <a:rPr lang="en-US"/>
              <a:t>.</a:t>
            </a:r>
            <a:endParaRPr/>
          </a:p>
        </p:txBody>
      </p:sp>
      <p:sp>
        <p:nvSpPr>
          <p:cNvPr id="82" name="Rounded Rectangle 34">
            <a:extLst>
              <a:ext uri="{FF2B5EF4-FFF2-40B4-BE49-F238E27FC236}">
                <a16:creationId xmlns:a16="http://schemas.microsoft.com/office/drawing/2014/main" id="{EFF62846-375A-01A2-702E-00DE0CC08AF0}"/>
              </a:ext>
            </a:extLst>
          </p:cNvPr>
          <p:cNvSpPr/>
          <p:nvPr/>
        </p:nvSpPr>
        <p:spPr>
          <a:xfrm>
            <a:off x="8779461" y="5166360"/>
            <a:ext cx="2139696" cy="347472"/>
          </a:xfrm>
          <a:prstGeom prst="roundRect">
            <a:avLst/>
          </a:prstGeom>
          <a:solidFill>
            <a:srgbClr val="EEF2F5"/>
          </a:solidFill>
          <a:ln w="12700">
            <a:solidFill>
              <a:srgbClr val="EEF2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35">
            <a:extLst>
              <a:ext uri="{FF2B5EF4-FFF2-40B4-BE49-F238E27FC236}">
                <a16:creationId xmlns:a16="http://schemas.microsoft.com/office/drawing/2014/main" id="{8E3C88DF-E029-8D37-2A2D-094A4BF18510}"/>
              </a:ext>
            </a:extLst>
          </p:cNvPr>
          <p:cNvSpPr txBox="1"/>
          <p:nvPr/>
        </p:nvSpPr>
        <p:spPr>
          <a:xfrm>
            <a:off x="8898333" y="5239512"/>
            <a:ext cx="1901952" cy="201168"/>
          </a:xfrm>
          <a:prstGeom prst="rect">
            <a:avLst/>
          </a:prstGeom>
          <a:noFill/>
        </p:spPr>
        <p:txBody>
          <a:bodyPr wrap="square" lIns="27432" tIns="27432" rIns="27432" bIns="27432" anchor="t">
            <a:spAutoFit/>
          </a:bodyPr>
          <a:lstStyle/>
          <a:p>
            <a:pPr algn="ctr">
              <a:spcBef>
                <a:spcPts val="0"/>
              </a:spcBef>
              <a:spcAft>
                <a:spcPts val="0"/>
              </a:spcAft>
              <a:defRPr sz="1080" b="1" i="0">
                <a:solidFill>
                  <a:srgbClr val="102A43"/>
                </a:solidFill>
                <a:latin typeface="Arial"/>
              </a:defRPr>
            </a:pPr>
            <a:r>
              <a:t>OUTPUT: cmd_vel</a:t>
            </a:r>
          </a:p>
        </p:txBody>
      </p:sp>
      <p:sp>
        <p:nvSpPr>
          <p:cNvPr id="86" name="Rounded Rectangle 36">
            <a:extLst>
              <a:ext uri="{FF2B5EF4-FFF2-40B4-BE49-F238E27FC236}">
                <a16:creationId xmlns:a16="http://schemas.microsoft.com/office/drawing/2014/main" id="{EC675334-1504-A701-1F38-2ED0D82331C7}"/>
              </a:ext>
            </a:extLst>
          </p:cNvPr>
          <p:cNvSpPr/>
          <p:nvPr/>
        </p:nvSpPr>
        <p:spPr>
          <a:xfrm>
            <a:off x="1839164" y="6135624"/>
            <a:ext cx="8412480" cy="493776"/>
          </a:xfrm>
          <a:prstGeom prst="roundRect">
            <a:avLst/>
          </a:prstGeom>
          <a:solidFill>
            <a:schemeClr val="bg1">
              <a:lumMod val="95000"/>
            </a:schemeClr>
          </a:solidFill>
          <a:ln w="12700">
            <a:solidFill>
              <a:srgbClr val="E2F1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37">
            <a:extLst>
              <a:ext uri="{FF2B5EF4-FFF2-40B4-BE49-F238E27FC236}">
                <a16:creationId xmlns:a16="http://schemas.microsoft.com/office/drawing/2014/main" id="{A78E5251-813E-E1D4-CC66-F99F4F8C658C}"/>
              </a:ext>
            </a:extLst>
          </p:cNvPr>
          <p:cNvSpPr txBox="1"/>
          <p:nvPr/>
        </p:nvSpPr>
        <p:spPr>
          <a:xfrm>
            <a:off x="1985469" y="6245352"/>
            <a:ext cx="8119871" cy="256032"/>
          </a:xfrm>
          <a:prstGeom prst="rect">
            <a:avLst/>
          </a:prstGeom>
          <a:noFill/>
        </p:spPr>
        <p:txBody>
          <a:bodyPr wrap="square" lIns="27432" tIns="27432" rIns="27432" bIns="27432" anchor="t">
            <a:spAutoFit/>
          </a:bodyPr>
          <a:lstStyle/>
          <a:p>
            <a:pPr algn="ctr">
              <a:spcBef>
                <a:spcPts val="0"/>
              </a:spcBef>
              <a:spcAft>
                <a:spcPts val="0"/>
              </a:spcAft>
              <a:defRPr sz="1300" b="1" i="0">
                <a:solidFill>
                  <a:srgbClr val="075D59"/>
                </a:solidFill>
                <a:latin typeface="Arial"/>
              </a:defRPr>
            </a:pPr>
            <a:r>
              <a:t>Controller </a:t>
            </a:r>
            <a:r>
              <a:rPr lang="vi-VN"/>
              <a:t>sẽ</a:t>
            </a:r>
            <a:r>
              <a:t> </a:t>
            </a:r>
            <a:r>
              <a:rPr err="1"/>
              <a:t>bám</a:t>
            </a:r>
            <a:r>
              <a:t> </a:t>
            </a:r>
            <a:r>
              <a:rPr err="1"/>
              <a:t>đường</a:t>
            </a:r>
            <a:r>
              <a:rPr lang="vi-VN"/>
              <a:t> sau</a:t>
            </a:r>
            <a:r>
              <a:t> smoother, </a:t>
            </a:r>
            <a:r>
              <a:rPr err="1"/>
              <a:t>không</a:t>
            </a:r>
            <a:r>
              <a:t> </a:t>
            </a:r>
            <a:r>
              <a:rPr err="1"/>
              <a:t>bám</a:t>
            </a:r>
            <a:r>
              <a:t> </a:t>
            </a:r>
            <a:r>
              <a:rPr err="1"/>
              <a:t>lại</a:t>
            </a:r>
            <a:r>
              <a:t> raw path.</a:t>
            </a:r>
          </a:p>
        </p:txBody>
      </p:sp>
    </p:spTree>
    <p:extLst>
      <p:ext uri="{BB962C8B-B14F-4D97-AF65-F5344CB8AC3E}">
        <p14:creationId xmlns:p14="http://schemas.microsoft.com/office/powerpoint/2010/main" val="2149740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9E5AC-378A-DADD-C4DC-85DCB0A260DD}"/>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C6E65CF1-E2C5-9EF4-49C0-691D6E371073}"/>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 Tổng quan về hệ thống điều hướng dẫn đường Nav2</a:t>
            </a:r>
          </a:p>
          <a:p>
            <a:pPr algn="l">
              <a:spcBef>
                <a:spcPts val="0"/>
              </a:spcBef>
              <a:spcAft>
                <a:spcPts val="0"/>
              </a:spcAft>
              <a:defRPr sz="2700" b="1" i="0">
                <a:solidFill>
                  <a:srgbClr val="102A43"/>
                </a:solidFill>
                <a:latin typeface="Arial"/>
              </a:defRPr>
            </a:pPr>
            <a:endParaRPr/>
          </a:p>
        </p:txBody>
      </p:sp>
      <p:sp>
        <p:nvSpPr>
          <p:cNvPr id="2" name="Hộp Văn bản 1">
            <a:extLst>
              <a:ext uri="{FF2B5EF4-FFF2-40B4-BE49-F238E27FC236}">
                <a16:creationId xmlns:a16="http://schemas.microsoft.com/office/drawing/2014/main" id="{8A7DD51B-7C20-D444-6487-6C6AAF4C7336}"/>
              </a:ext>
            </a:extLst>
          </p:cNvPr>
          <p:cNvSpPr txBox="1"/>
          <p:nvPr/>
        </p:nvSpPr>
        <p:spPr>
          <a:xfrm>
            <a:off x="594360" y="1232083"/>
            <a:ext cx="5321808" cy="369332"/>
          </a:xfrm>
          <a:prstGeom prst="rect">
            <a:avLst/>
          </a:prstGeom>
          <a:noFill/>
        </p:spPr>
        <p:txBody>
          <a:bodyPr wrap="square" rtlCol="0">
            <a:spAutoFit/>
          </a:bodyPr>
          <a:lstStyle/>
          <a:p>
            <a:r>
              <a:rPr lang="vi-VN"/>
              <a:t>3. Bài toán làm mượt đường đi trong Nav2 </a:t>
            </a:r>
          </a:p>
        </p:txBody>
      </p:sp>
      <p:pic>
        <p:nvPicPr>
          <p:cNvPr id="17" name="Hình ảnh 16">
            <a:extLst>
              <a:ext uri="{FF2B5EF4-FFF2-40B4-BE49-F238E27FC236}">
                <a16:creationId xmlns:a16="http://schemas.microsoft.com/office/drawing/2014/main" id="{EB045EDD-7CEC-45DE-FD61-F71A9266D473}"/>
              </a:ext>
            </a:extLst>
          </p:cNvPr>
          <p:cNvPicPr>
            <a:picLocks noChangeAspect="1"/>
          </p:cNvPicPr>
          <p:nvPr/>
        </p:nvPicPr>
        <p:blipFill>
          <a:blip r:embed="rId2"/>
          <a:stretch>
            <a:fillRect/>
          </a:stretch>
        </p:blipFill>
        <p:spPr>
          <a:xfrm>
            <a:off x="3855812" y="1601415"/>
            <a:ext cx="6742084" cy="5149355"/>
          </a:xfrm>
          <a:prstGeom prst="rect">
            <a:avLst/>
          </a:prstGeom>
        </p:spPr>
      </p:pic>
      <p:pic>
        <p:nvPicPr>
          <p:cNvPr id="3" name="Picture 2">
            <a:extLst>
              <a:ext uri="{FF2B5EF4-FFF2-40B4-BE49-F238E27FC236}">
                <a16:creationId xmlns:a16="http://schemas.microsoft.com/office/drawing/2014/main" id="{58DCD0AD-94C0-7C9C-948F-083B0CFEDB16}"/>
              </a:ext>
            </a:extLst>
          </p:cNvPr>
          <p:cNvPicPr>
            <a:picLocks noChangeAspect="1"/>
          </p:cNvPicPr>
          <p:nvPr/>
        </p:nvPicPr>
        <p:blipFill>
          <a:blip r:embed="rId3"/>
          <a:stretch>
            <a:fillRect/>
          </a:stretch>
        </p:blipFill>
        <p:spPr>
          <a:xfrm>
            <a:off x="2754" y="2008742"/>
            <a:ext cx="3767769" cy="3767769"/>
          </a:xfrm>
          <a:prstGeom prst="rect">
            <a:avLst/>
          </a:prstGeom>
        </p:spPr>
      </p:pic>
    </p:spTree>
    <p:extLst>
      <p:ext uri="{BB962C8B-B14F-4D97-AF65-F5344CB8AC3E}">
        <p14:creationId xmlns:p14="http://schemas.microsoft.com/office/powerpoint/2010/main" val="797176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8F2F9-1222-196A-3CE6-1D89A65DD8CC}"/>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DA68DB94-38A0-454E-0897-05920C318A3C}"/>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 Tổng quan về hệ thống điều hướng dẫn đường Nav2</a:t>
            </a:r>
          </a:p>
          <a:p>
            <a:pPr algn="l">
              <a:spcBef>
                <a:spcPts val="0"/>
              </a:spcBef>
              <a:spcAft>
                <a:spcPts val="0"/>
              </a:spcAft>
              <a:defRPr sz="2700" b="1" i="0">
                <a:solidFill>
                  <a:srgbClr val="102A43"/>
                </a:solidFill>
                <a:latin typeface="Arial"/>
              </a:defRPr>
            </a:pPr>
            <a:endParaRPr/>
          </a:p>
        </p:txBody>
      </p:sp>
      <p:sp>
        <p:nvSpPr>
          <p:cNvPr id="2" name="Hộp Văn bản 1">
            <a:extLst>
              <a:ext uri="{FF2B5EF4-FFF2-40B4-BE49-F238E27FC236}">
                <a16:creationId xmlns:a16="http://schemas.microsoft.com/office/drawing/2014/main" id="{728EC924-301A-0AB6-3617-BB1047B7CACC}"/>
              </a:ext>
            </a:extLst>
          </p:cNvPr>
          <p:cNvSpPr txBox="1"/>
          <p:nvPr/>
        </p:nvSpPr>
        <p:spPr>
          <a:xfrm>
            <a:off x="594360" y="1232083"/>
            <a:ext cx="5321808" cy="369332"/>
          </a:xfrm>
          <a:prstGeom prst="rect">
            <a:avLst/>
          </a:prstGeom>
          <a:noFill/>
        </p:spPr>
        <p:txBody>
          <a:bodyPr wrap="square" rtlCol="0">
            <a:spAutoFit/>
          </a:bodyPr>
          <a:lstStyle/>
          <a:p>
            <a:r>
              <a:rPr lang="vi-VN"/>
              <a:t>3. Bài toán làm mượt đường đi trong Nav2 </a:t>
            </a:r>
          </a:p>
        </p:txBody>
      </p:sp>
      <p:pic>
        <p:nvPicPr>
          <p:cNvPr id="21" name="Picture 8" descr="image4.png">
            <a:extLst>
              <a:ext uri="{FF2B5EF4-FFF2-40B4-BE49-F238E27FC236}">
                <a16:creationId xmlns:a16="http://schemas.microsoft.com/office/drawing/2014/main" id="{2BFB03CA-A7B5-071C-8C83-A18B96BF03AC}"/>
              </a:ext>
            </a:extLst>
          </p:cNvPr>
          <p:cNvPicPr>
            <a:picLocks noChangeAspect="1"/>
          </p:cNvPicPr>
          <p:nvPr/>
        </p:nvPicPr>
        <p:blipFill>
          <a:blip r:embed="rId2"/>
          <a:stretch>
            <a:fillRect/>
          </a:stretch>
        </p:blipFill>
        <p:spPr>
          <a:xfrm>
            <a:off x="5916168" y="1737360"/>
            <a:ext cx="5244068" cy="4078224"/>
          </a:xfrm>
          <a:prstGeom prst="rect">
            <a:avLst/>
          </a:prstGeom>
        </p:spPr>
      </p:pic>
      <p:sp>
        <p:nvSpPr>
          <p:cNvPr id="22" name="Hộp Văn bản 21">
            <a:extLst>
              <a:ext uri="{FF2B5EF4-FFF2-40B4-BE49-F238E27FC236}">
                <a16:creationId xmlns:a16="http://schemas.microsoft.com/office/drawing/2014/main" id="{B6BA7079-1FBF-4136-1104-D246E3883068}"/>
              </a:ext>
            </a:extLst>
          </p:cNvPr>
          <p:cNvSpPr txBox="1"/>
          <p:nvPr/>
        </p:nvSpPr>
        <p:spPr>
          <a:xfrm>
            <a:off x="594360" y="1819656"/>
            <a:ext cx="4745736" cy="4247317"/>
          </a:xfrm>
          <a:prstGeom prst="rect">
            <a:avLst/>
          </a:prstGeom>
          <a:noFill/>
        </p:spPr>
        <p:txBody>
          <a:bodyPr wrap="square" lIns="91440" tIns="45720" rIns="91440" bIns="45720" rtlCol="0" anchor="t">
            <a:spAutoFit/>
          </a:bodyPr>
          <a:lstStyle/>
          <a:p>
            <a:r>
              <a:rPr lang="vi-VN">
                <a:latin typeface="Arial"/>
                <a:cs typeface="Arial"/>
              </a:rPr>
              <a:t>Vấn đề </a:t>
            </a:r>
            <a:r>
              <a:rPr lang="vi-VN">
                <a:highlight>
                  <a:srgbClr val="FFFFFF"/>
                </a:highlight>
                <a:latin typeface="Arial"/>
                <a:ea typeface="+mn-lt"/>
                <a:cs typeface="Arial"/>
              </a:rPr>
              <a:t>cốt lõi của robot di động vi sai (Differential-Drive):</a:t>
            </a:r>
            <a:endParaRPr lang="en-US">
              <a:latin typeface="Arial"/>
              <a:cs typeface="Arial"/>
            </a:endParaRPr>
          </a:p>
          <a:p>
            <a:r>
              <a:rPr lang="vi-VN">
                <a:latin typeface="Arial"/>
                <a:cs typeface="Arial"/>
              </a:rPr>
              <a:t>Bộ lập kế hoạch toàn cục (global planner) tạo ra các tập hợp điểm rời rạc nối liền nhau bằng các đoạn thẳng gây ra đoạn gấp khúc tại các điểm nối. Từ đó:</a:t>
            </a:r>
          </a:p>
          <a:p>
            <a:pPr marL="285750" indent="-285750">
              <a:buChar char="-"/>
            </a:pPr>
            <a:r>
              <a:rPr lang="vi-VN">
                <a:latin typeface="Arial"/>
              </a:rPr>
              <a:t>Robot phải giảm tốc đột ngột, dễ đi lệch khỏi đường hình học</a:t>
            </a:r>
            <a:endParaRPr lang="vi-VN">
              <a:latin typeface="Arial"/>
              <a:cs typeface="Arial"/>
            </a:endParaRPr>
          </a:p>
          <a:p>
            <a:pPr marL="285750" indent="-285750">
              <a:buFontTx/>
              <a:buChar char="-"/>
            </a:pPr>
            <a:r>
              <a:rPr lang="vi-VN">
                <a:latin typeface="Arial"/>
              </a:rPr>
              <a:t>Robot</a:t>
            </a:r>
            <a:r>
              <a:rPr lang="vi-VN">
                <a:latin typeface="Arial"/>
                <a:ea typeface="+mn-lt"/>
                <a:cs typeface="Arial"/>
              </a:rPr>
              <a:t> </a:t>
            </a:r>
            <a:r>
              <a:rPr lang="vi-VN">
                <a:highlight>
                  <a:srgbClr val="FFFFFF"/>
                </a:highlight>
                <a:latin typeface="Arial"/>
                <a:ea typeface="+mn-lt"/>
                <a:cs typeface="Arial"/>
              </a:rPr>
              <a:t>dừng – quay tại chỗ (pivot) – rồi đi tiếp: hao phí thời gian, giảm hiệu suất vận hành</a:t>
            </a:r>
            <a:endParaRPr lang="vi-VN">
              <a:latin typeface="Arial"/>
              <a:cs typeface="Arial"/>
            </a:endParaRPr>
          </a:p>
          <a:p>
            <a:pPr marL="285750" indent="-285750">
              <a:buFontTx/>
              <a:buChar char="-"/>
            </a:pPr>
            <a:r>
              <a:rPr lang="vi-VN">
                <a:latin typeface="Arial"/>
              </a:rPr>
              <a:t>Hướng tiếp tuyến cạnh vào và cạnh ra khác nhau; thay đổi đột ngột</a:t>
            </a:r>
            <a:endParaRPr lang="vi-VN">
              <a:latin typeface="Arial"/>
              <a:cs typeface="Arial"/>
            </a:endParaRPr>
          </a:p>
          <a:p>
            <a:pPr marL="285750" indent="-285750">
              <a:buFontTx/>
              <a:buChar char="-"/>
            </a:pPr>
            <a:r>
              <a:rPr lang="vi-VN">
                <a:latin typeface="Arial"/>
              </a:rPr>
              <a:t>Độ cong rất lớn hoặc không xác định tại điểm gấp khúc.</a:t>
            </a:r>
            <a:endParaRPr lang="vi-VN">
              <a:latin typeface="Arial"/>
              <a:cs typeface="Arial"/>
            </a:endParaRPr>
          </a:p>
        </p:txBody>
      </p:sp>
    </p:spTree>
    <p:extLst>
      <p:ext uri="{BB962C8B-B14F-4D97-AF65-F5344CB8AC3E}">
        <p14:creationId xmlns:p14="http://schemas.microsoft.com/office/powerpoint/2010/main" val="78170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C590F-EF52-B82B-127D-F3643185739F}"/>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C8904E24-D9DF-C29A-7E2E-23467A2005AA}"/>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 Tổng quan về hệ thống điều hướng dẫn đường Nav2</a:t>
            </a:r>
          </a:p>
          <a:p>
            <a:pPr algn="l">
              <a:spcBef>
                <a:spcPts val="0"/>
              </a:spcBef>
              <a:spcAft>
                <a:spcPts val="0"/>
              </a:spcAft>
              <a:defRPr sz="2700" b="1" i="0">
                <a:solidFill>
                  <a:srgbClr val="102A43"/>
                </a:solidFill>
                <a:latin typeface="Arial"/>
              </a:defRPr>
            </a:pPr>
            <a:endParaRPr/>
          </a:p>
        </p:txBody>
      </p:sp>
      <p:sp>
        <p:nvSpPr>
          <p:cNvPr id="2" name="Hộp Văn bản 1">
            <a:extLst>
              <a:ext uri="{FF2B5EF4-FFF2-40B4-BE49-F238E27FC236}">
                <a16:creationId xmlns:a16="http://schemas.microsoft.com/office/drawing/2014/main" id="{4AB0C083-5B19-A376-A8F1-3210573FB8E6}"/>
              </a:ext>
            </a:extLst>
          </p:cNvPr>
          <p:cNvSpPr txBox="1"/>
          <p:nvPr/>
        </p:nvSpPr>
        <p:spPr>
          <a:xfrm>
            <a:off x="594360" y="1232083"/>
            <a:ext cx="5321808" cy="369332"/>
          </a:xfrm>
          <a:prstGeom prst="rect">
            <a:avLst/>
          </a:prstGeom>
          <a:noFill/>
        </p:spPr>
        <p:txBody>
          <a:bodyPr wrap="square" rtlCol="0">
            <a:spAutoFit/>
          </a:bodyPr>
          <a:lstStyle/>
          <a:p>
            <a:r>
              <a:rPr lang="vi-VN"/>
              <a:t>4. Các phương pháp làm mượt đường đi đã có</a:t>
            </a:r>
          </a:p>
        </p:txBody>
      </p:sp>
      <p:sp>
        <p:nvSpPr>
          <p:cNvPr id="4" name="TextBox 9">
            <a:extLst>
              <a:ext uri="{FF2B5EF4-FFF2-40B4-BE49-F238E27FC236}">
                <a16:creationId xmlns:a16="http://schemas.microsoft.com/office/drawing/2014/main" id="{2F93268B-3D8B-BFC9-894B-8E0EBD4F3A80}"/>
              </a:ext>
            </a:extLst>
          </p:cNvPr>
          <p:cNvSpPr txBox="1"/>
          <p:nvPr/>
        </p:nvSpPr>
        <p:spPr>
          <a:xfrm>
            <a:off x="786384" y="1773936"/>
            <a:ext cx="3236976" cy="363176"/>
          </a:xfrm>
          <a:prstGeom prst="rect">
            <a:avLst/>
          </a:prstGeom>
          <a:noFill/>
        </p:spPr>
        <p:txBody>
          <a:bodyPr wrap="square" lIns="27432" tIns="27432" rIns="27432" bIns="27432" anchor="t">
            <a:spAutoFit/>
          </a:bodyPr>
          <a:lstStyle/>
          <a:p>
            <a:pPr algn="ctr">
              <a:spcBef>
                <a:spcPts val="0"/>
              </a:spcBef>
              <a:spcAft>
                <a:spcPts val="0"/>
              </a:spcAft>
              <a:defRPr sz="1600" b="1" i="0">
                <a:solidFill>
                  <a:srgbClr val="2F6FED"/>
                </a:solidFill>
                <a:latin typeface="Arial"/>
              </a:defRPr>
            </a:pPr>
            <a:r>
              <a:rPr sz="2000"/>
              <a:t>Simple</a:t>
            </a:r>
          </a:p>
        </p:txBody>
      </p:sp>
      <p:sp>
        <p:nvSpPr>
          <p:cNvPr id="6" name="TextBox 18">
            <a:extLst>
              <a:ext uri="{FF2B5EF4-FFF2-40B4-BE49-F238E27FC236}">
                <a16:creationId xmlns:a16="http://schemas.microsoft.com/office/drawing/2014/main" id="{1C5F1129-6AFA-A1E3-1A87-8D04A388D915}"/>
              </a:ext>
            </a:extLst>
          </p:cNvPr>
          <p:cNvSpPr txBox="1"/>
          <p:nvPr/>
        </p:nvSpPr>
        <p:spPr>
          <a:xfrm>
            <a:off x="4687824" y="1755304"/>
            <a:ext cx="2304288" cy="363176"/>
          </a:xfrm>
          <a:prstGeom prst="rect">
            <a:avLst/>
          </a:prstGeom>
          <a:noFill/>
        </p:spPr>
        <p:txBody>
          <a:bodyPr wrap="square" lIns="27432" tIns="27432" rIns="27432" bIns="27432" anchor="t">
            <a:spAutoFit/>
          </a:bodyPr>
          <a:lstStyle/>
          <a:p>
            <a:pPr algn="ctr">
              <a:spcBef>
                <a:spcPts val="0"/>
              </a:spcBef>
              <a:spcAft>
                <a:spcPts val="0"/>
              </a:spcAft>
              <a:defRPr sz="1600" b="1" i="0">
                <a:solidFill>
                  <a:srgbClr val="E07A2F"/>
                </a:solidFill>
                <a:latin typeface="Arial"/>
              </a:defRPr>
            </a:pPr>
            <a:r>
              <a:rPr sz="2000" err="1"/>
              <a:t>Savitzky</a:t>
            </a:r>
            <a:r>
              <a:rPr sz="2000"/>
              <a:t>–Golay</a:t>
            </a:r>
          </a:p>
        </p:txBody>
      </p:sp>
      <p:sp>
        <p:nvSpPr>
          <p:cNvPr id="9" name="TextBox 27">
            <a:extLst>
              <a:ext uri="{FF2B5EF4-FFF2-40B4-BE49-F238E27FC236}">
                <a16:creationId xmlns:a16="http://schemas.microsoft.com/office/drawing/2014/main" id="{0B42AD03-0A80-5E49-58EF-3390935EBED3}"/>
              </a:ext>
            </a:extLst>
          </p:cNvPr>
          <p:cNvSpPr txBox="1"/>
          <p:nvPr/>
        </p:nvSpPr>
        <p:spPr>
          <a:xfrm>
            <a:off x="8168642" y="1755304"/>
            <a:ext cx="2304288" cy="363176"/>
          </a:xfrm>
          <a:prstGeom prst="rect">
            <a:avLst/>
          </a:prstGeom>
          <a:noFill/>
        </p:spPr>
        <p:txBody>
          <a:bodyPr wrap="square" lIns="27432" tIns="27432" rIns="27432" bIns="27432" anchor="t">
            <a:spAutoFit/>
          </a:bodyPr>
          <a:lstStyle/>
          <a:p>
            <a:pPr algn="ctr">
              <a:spcBef>
                <a:spcPts val="0"/>
              </a:spcBef>
              <a:spcAft>
                <a:spcPts val="0"/>
              </a:spcAft>
              <a:defRPr sz="1600" b="1" i="0">
                <a:solidFill>
                  <a:srgbClr val="6E5AE6"/>
                </a:solidFill>
                <a:latin typeface="Arial"/>
              </a:defRPr>
            </a:pPr>
            <a:r>
              <a:rPr sz="2000"/>
              <a:t>Constrained</a:t>
            </a:r>
          </a:p>
        </p:txBody>
      </p:sp>
    </p:spTree>
    <p:extLst>
      <p:ext uri="{BB962C8B-B14F-4D97-AF65-F5344CB8AC3E}">
        <p14:creationId xmlns:p14="http://schemas.microsoft.com/office/powerpoint/2010/main" val="1140364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502920"/>
            <a:ext cx="10698480" cy="475488"/>
          </a:xfrm>
          <a:prstGeom prst="rect">
            <a:avLst/>
          </a:prstGeom>
          <a:noFill/>
        </p:spPr>
        <p:txBody>
          <a:bodyPr wrap="square" lIns="27432" tIns="27432" rIns="27432" bIns="27432" anchor="t">
            <a:spAutoFit/>
          </a:bodyPr>
          <a:lstStyle/>
          <a:p>
            <a:pPr algn="l">
              <a:spcBef>
                <a:spcPts val="0"/>
              </a:spcBef>
              <a:spcAft>
                <a:spcPts val="0"/>
              </a:spcAft>
              <a:defRPr sz="2700" b="1" i="0">
                <a:solidFill>
                  <a:srgbClr val="102A43"/>
                </a:solidFill>
                <a:latin typeface="Arial"/>
              </a:defRPr>
            </a:pPr>
            <a:r>
              <a:t>Simple Smoother: lặp cục bộ từng waypoint</a:t>
            </a:r>
          </a:p>
        </p:txBody>
      </p:sp>
      <p:sp>
        <p:nvSpPr>
          <p:cNvPr id="5" name="TextBox 4"/>
          <p:cNvSpPr txBox="1"/>
          <p:nvPr/>
        </p:nvSpPr>
        <p:spPr>
          <a:xfrm>
            <a:off x="612648" y="960120"/>
            <a:ext cx="10515600" cy="329184"/>
          </a:xfrm>
          <a:prstGeom prst="rect">
            <a:avLst/>
          </a:prstGeom>
          <a:noFill/>
        </p:spPr>
        <p:txBody>
          <a:bodyPr wrap="square" lIns="27432" tIns="27432" rIns="27432" bIns="27432" anchor="t">
            <a:spAutoFit/>
          </a:bodyPr>
          <a:lstStyle/>
          <a:p>
            <a:pPr algn="l">
              <a:spcBef>
                <a:spcPts val="0"/>
              </a:spcBef>
              <a:spcAft>
                <a:spcPts val="0"/>
              </a:spcAft>
              <a:defRPr sz="1350" b="0" i="0">
                <a:solidFill>
                  <a:srgbClr val="526777"/>
                </a:solidFill>
                <a:latin typeface="Arial"/>
              </a:defRPr>
            </a:pPr>
            <a:r>
              <a:t>Mỗi điểm được kéo về gần dữ liệu gốc và đồng thời kéo về trung bình hai điểm lân cận.</a:t>
            </a:r>
          </a:p>
        </p:txBody>
      </p:sp>
      <p:cxnSp>
        <p:nvCxnSpPr>
          <p:cNvPr id="6" name="Connector 5"/>
          <p:cNvCxnSpPr/>
          <p:nvPr/>
        </p:nvCxnSpPr>
        <p:spPr>
          <a:xfrm>
            <a:off x="594360" y="1280160"/>
            <a:ext cx="10991088" cy="0"/>
          </a:xfrm>
          <a:prstGeom prst="line">
            <a:avLst/>
          </a:prstGeom>
          <a:ln w="12700">
            <a:solidFill>
              <a:srgbClr val="D9E1E7"/>
            </a:solidFill>
          </a:ln>
        </p:spPr>
        <p:style>
          <a:lnRef idx="2">
            <a:schemeClr val="accent1"/>
          </a:lnRef>
          <a:fillRef idx="0">
            <a:schemeClr val="accent1"/>
          </a:fillRef>
          <a:effectRef idx="1">
            <a:schemeClr val="accent1"/>
          </a:effectRef>
          <a:fontRef idx="minor">
            <a:schemeClr val="tx1"/>
          </a:fontRef>
        </p:style>
      </p:cxnSp>
      <p:pic>
        <p:nvPicPr>
          <p:cNvPr id="9" name="Picture 8" descr="simple_smoother.png"/>
          <p:cNvPicPr>
            <a:picLocks noChangeAspect="1"/>
          </p:cNvPicPr>
          <p:nvPr/>
        </p:nvPicPr>
        <p:blipFill>
          <a:blip r:embed="rId2"/>
          <a:stretch>
            <a:fillRect/>
          </a:stretch>
        </p:blipFill>
        <p:spPr>
          <a:xfrm>
            <a:off x="749808" y="2048827"/>
            <a:ext cx="6492240" cy="3327272"/>
          </a:xfrm>
          <a:prstGeom prst="rect">
            <a:avLst/>
          </a:prstGeom>
        </p:spPr>
      </p:pic>
      <p:sp>
        <p:nvSpPr>
          <p:cNvPr id="11" name="TextBox 10"/>
          <p:cNvSpPr txBox="1"/>
          <p:nvPr/>
        </p:nvSpPr>
        <p:spPr>
          <a:xfrm>
            <a:off x="8025384" y="1648523"/>
            <a:ext cx="3401568" cy="424732"/>
          </a:xfrm>
          <a:prstGeom prst="rect">
            <a:avLst/>
          </a:prstGeom>
          <a:noFill/>
        </p:spPr>
        <p:txBody>
          <a:bodyPr wrap="square" lIns="27432" tIns="27432" rIns="27432" bIns="27432" anchor="t">
            <a:spAutoFit/>
          </a:bodyPr>
          <a:lstStyle/>
          <a:p>
            <a:pPr algn="ctr">
              <a:spcBef>
                <a:spcPts val="0"/>
              </a:spcBef>
              <a:spcAft>
                <a:spcPts val="0"/>
              </a:spcAft>
              <a:defRPr sz="1300" b="1" i="0">
                <a:solidFill>
                  <a:srgbClr val="2F6FED"/>
                </a:solidFill>
                <a:latin typeface="Arial"/>
              </a:defRPr>
            </a:pPr>
            <a:r>
              <a:rPr sz="2400"/>
              <a:t>Công </a:t>
            </a:r>
            <a:r>
              <a:rPr sz="2400" err="1"/>
              <a:t>thức</a:t>
            </a:r>
            <a:r>
              <a:rPr sz="2400"/>
              <a:t> </a:t>
            </a:r>
            <a:r>
              <a:rPr sz="2400" err="1"/>
              <a:t>cập</a:t>
            </a:r>
            <a:r>
              <a:rPr sz="2400"/>
              <a:t> </a:t>
            </a:r>
            <a:r>
              <a:rPr sz="2400" err="1"/>
              <a:t>nhậ</a:t>
            </a:r>
            <a:r>
              <a:rPr lang="vi-VN" sz="2400"/>
              <a:t>t</a:t>
            </a:r>
            <a:endParaRPr sz="2400"/>
          </a:p>
        </p:txBody>
      </p:sp>
      <p:sp>
        <p:nvSpPr>
          <p:cNvPr id="12" name="TextBox 11"/>
          <p:cNvSpPr txBox="1"/>
          <p:nvPr/>
        </p:nvSpPr>
        <p:spPr>
          <a:xfrm>
            <a:off x="7312151" y="2232490"/>
            <a:ext cx="5004512" cy="363176"/>
          </a:xfrm>
          <a:prstGeom prst="rect">
            <a:avLst/>
          </a:prstGeom>
          <a:noFill/>
        </p:spPr>
        <p:txBody>
          <a:bodyPr wrap="square" lIns="27432" tIns="27432" rIns="27432" bIns="27432" anchor="t">
            <a:spAutoFit/>
          </a:bodyPr>
          <a:lstStyle/>
          <a:p>
            <a:pPr algn="ctr">
              <a:spcBef>
                <a:spcPts val="0"/>
              </a:spcBef>
              <a:spcAft>
                <a:spcPts val="0"/>
              </a:spcAft>
              <a:defRPr sz="1280" b="1" i="0">
                <a:solidFill>
                  <a:srgbClr val="102A43"/>
                </a:solidFill>
                <a:latin typeface="Arial"/>
              </a:defRPr>
            </a:pPr>
            <a:r>
              <a:rPr sz="2000"/>
              <a:t>yᵢ ← yᵢ + wd(xᵢ−yᵢ) + </a:t>
            </a:r>
            <a:r>
              <a:rPr sz="2000" err="1"/>
              <a:t>ws</a:t>
            </a:r>
            <a:r>
              <a:rPr sz="2000"/>
              <a:t>(yᵢ₋₁+yᵢ₊₁−2yᵢ)</a:t>
            </a:r>
          </a:p>
        </p:txBody>
      </p:sp>
      <p:sp>
        <p:nvSpPr>
          <p:cNvPr id="15" name="Rounded Rectangle 14"/>
          <p:cNvSpPr/>
          <p:nvPr/>
        </p:nvSpPr>
        <p:spPr>
          <a:xfrm>
            <a:off x="7680960" y="4251960"/>
            <a:ext cx="2761488" cy="953008"/>
          </a:xfrm>
          <a:prstGeom prst="roundRect">
            <a:avLst/>
          </a:prstGeom>
          <a:solidFill>
            <a:srgbClr val="E8F5EC"/>
          </a:solidFill>
          <a:ln w="12700">
            <a:solidFill>
              <a:srgbClr val="E8F5EC"/>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a:p>
        </p:txBody>
      </p:sp>
      <p:sp>
        <p:nvSpPr>
          <p:cNvPr id="18" name="Rounded Rectangle 17"/>
          <p:cNvSpPr/>
          <p:nvPr/>
        </p:nvSpPr>
        <p:spPr>
          <a:xfrm>
            <a:off x="7648448" y="5369560"/>
            <a:ext cx="3980688" cy="1196848"/>
          </a:xfrm>
          <a:prstGeom prst="roundRect">
            <a:avLst/>
          </a:prstGeom>
          <a:solidFill>
            <a:srgbClr val="FBEAEA"/>
          </a:solidFill>
          <a:ln w="12700">
            <a:solidFill>
              <a:srgbClr val="FBEA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87773A18-D817-5ABC-C108-3CE803AF5F22}"/>
              </a:ext>
            </a:extLst>
          </p:cNvPr>
          <p:cNvSpPr txBox="1"/>
          <p:nvPr/>
        </p:nvSpPr>
        <p:spPr>
          <a:xfrm>
            <a:off x="7648214" y="2587438"/>
            <a:ext cx="401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Trong </a:t>
            </a:r>
            <a:r>
              <a:rPr lang="en-US" err="1"/>
              <a:t>đó</a:t>
            </a:r>
            <a:r>
              <a:rPr lang="en-US"/>
              <a:t> : </a:t>
            </a:r>
            <a:br>
              <a:rPr lang="en-US"/>
            </a:br>
            <a:r>
              <a:rPr lang="en-US">
                <a:ea typeface="+mn-lt"/>
                <a:cs typeface="+mn-lt"/>
              </a:rPr>
              <a:t>xᵢ: điểm ban đầu</a:t>
            </a:r>
            <a:endParaRPr lang="en-US"/>
          </a:p>
          <a:p>
            <a:r>
              <a:rPr lang="en-US">
                <a:ea typeface="+mn-lt"/>
                <a:cs typeface="+mn-lt"/>
              </a:rPr>
              <a:t>yᵢ: điểm sau làm mượt</a:t>
            </a:r>
            <a:endParaRPr lang="en-US"/>
          </a:p>
          <a:p>
            <a:r>
              <a:rPr lang="en-US">
                <a:ea typeface="+mn-lt"/>
                <a:cs typeface="+mn-lt"/>
              </a:rPr>
              <a:t>w_data: mức giữ gần đường gốc</a:t>
            </a:r>
            <a:endParaRPr lang="en-US"/>
          </a:p>
          <a:p>
            <a:r>
              <a:rPr lang="en-US">
                <a:ea typeface="+mn-lt"/>
                <a:cs typeface="+mn-lt"/>
              </a:rPr>
              <a:t>w_smooth: mức làm mượt</a:t>
            </a:r>
            <a:endParaRPr lang="en-US"/>
          </a:p>
        </p:txBody>
      </p:sp>
      <p:sp>
        <p:nvSpPr>
          <p:cNvPr id="7" name="TextBox 6">
            <a:extLst>
              <a:ext uri="{FF2B5EF4-FFF2-40B4-BE49-F238E27FC236}">
                <a16:creationId xmlns:a16="http://schemas.microsoft.com/office/drawing/2014/main" id="{4A1D455F-6DA7-DCDB-856A-98E49E74FAA9}"/>
              </a:ext>
            </a:extLst>
          </p:cNvPr>
          <p:cNvSpPr txBox="1"/>
          <p:nvPr/>
        </p:nvSpPr>
        <p:spPr>
          <a:xfrm>
            <a:off x="7685881" y="4262718"/>
            <a:ext cx="26009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Phù</a:t>
            </a:r>
            <a:r>
              <a:rPr lang="en-US"/>
              <a:t> ​</a:t>
            </a:r>
            <a:r>
              <a:rPr lang="en-US" err="1"/>
              <a:t>hợp</a:t>
            </a:r>
            <a:r>
              <a:rPr lang="en-US"/>
              <a:t> : </a:t>
            </a:r>
          </a:p>
          <a:p>
            <a:r>
              <a:rPr lang="en-US">
                <a:ea typeface="+mn-lt"/>
                <a:cs typeface="+mn-lt"/>
              </a:rPr>
              <a:t>Giảm </a:t>
            </a:r>
            <a:r>
              <a:rPr lang="en-US" err="1">
                <a:ea typeface="+mn-lt"/>
                <a:cs typeface="+mn-lt"/>
              </a:rPr>
              <a:t>góc</a:t>
            </a:r>
            <a:r>
              <a:rPr lang="en-US">
                <a:ea typeface="+mn-lt"/>
                <a:cs typeface="+mn-lt"/>
              </a:rPr>
              <a:t> </a:t>
            </a:r>
            <a:r>
              <a:rPr lang="en-US" err="1">
                <a:ea typeface="+mn-lt"/>
                <a:cs typeface="+mn-lt"/>
              </a:rPr>
              <a:t>gãy</a:t>
            </a:r>
            <a:r>
              <a:rPr lang="en-US">
                <a:ea typeface="+mn-lt"/>
                <a:cs typeface="+mn-lt"/>
              </a:rPr>
              <a:t> </a:t>
            </a:r>
            <a:r>
              <a:rPr lang="en-US" err="1">
                <a:ea typeface="+mn-lt"/>
                <a:cs typeface="+mn-lt"/>
              </a:rPr>
              <a:t>nhanh</a:t>
            </a:r>
            <a:r>
              <a:rPr lang="en-US">
                <a:ea typeface="+mn-lt"/>
                <a:cs typeface="+mn-lt"/>
              </a:rPr>
              <a:t>, chi </a:t>
            </a:r>
            <a:r>
              <a:rPr lang="en-US" err="1">
                <a:ea typeface="+mn-lt"/>
                <a:cs typeface="+mn-lt"/>
              </a:rPr>
              <a:t>phí</a:t>
            </a:r>
            <a:r>
              <a:rPr lang="en-US">
                <a:ea typeface="+mn-lt"/>
                <a:cs typeface="+mn-lt"/>
              </a:rPr>
              <a:t> </a:t>
            </a:r>
            <a:r>
              <a:rPr lang="en-US" err="1">
                <a:ea typeface="+mn-lt"/>
                <a:cs typeface="+mn-lt"/>
              </a:rPr>
              <a:t>tính</a:t>
            </a:r>
            <a:r>
              <a:rPr lang="en-US">
                <a:ea typeface="+mn-lt"/>
                <a:cs typeface="+mn-lt"/>
              </a:rPr>
              <a:t> </a:t>
            </a:r>
            <a:r>
              <a:rPr lang="en-US" err="1">
                <a:ea typeface="+mn-lt"/>
                <a:cs typeface="+mn-lt"/>
              </a:rPr>
              <a:t>toán</a:t>
            </a:r>
            <a:r>
              <a:rPr lang="en-US">
                <a:ea typeface="+mn-lt"/>
                <a:cs typeface="+mn-lt"/>
              </a:rPr>
              <a:t> </a:t>
            </a:r>
            <a:r>
              <a:rPr lang="en-US" err="1">
                <a:ea typeface="+mn-lt"/>
                <a:cs typeface="+mn-lt"/>
              </a:rPr>
              <a:t>thấp</a:t>
            </a:r>
            <a:endParaRPr lang="en-US" err="1"/>
          </a:p>
        </p:txBody>
      </p:sp>
      <p:sp>
        <p:nvSpPr>
          <p:cNvPr id="8" name="TextBox 7">
            <a:extLst>
              <a:ext uri="{FF2B5EF4-FFF2-40B4-BE49-F238E27FC236}">
                <a16:creationId xmlns:a16="http://schemas.microsoft.com/office/drawing/2014/main" id="{F993D22B-252F-C09D-BADF-84E398416E0D}"/>
              </a:ext>
            </a:extLst>
          </p:cNvPr>
          <p:cNvSpPr txBox="1"/>
          <p:nvPr/>
        </p:nvSpPr>
        <p:spPr>
          <a:xfrm>
            <a:off x="7675969" y="5384775"/>
            <a:ext cx="40233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Đánh </a:t>
            </a:r>
            <a:r>
              <a:rPr lang="en-US" err="1"/>
              <a:t>đổi</a:t>
            </a:r>
            <a:r>
              <a:rPr lang="en-US"/>
              <a:t> : </a:t>
            </a:r>
          </a:p>
          <a:p>
            <a:r>
              <a:rPr lang="en-US" err="1">
                <a:ea typeface="+mn-lt"/>
                <a:cs typeface="+mn-lt"/>
              </a:rPr>
              <a:t>Không</a:t>
            </a:r>
            <a:r>
              <a:rPr lang="en-US">
                <a:ea typeface="+mn-lt"/>
                <a:cs typeface="+mn-lt"/>
              </a:rPr>
              <a:t> </a:t>
            </a:r>
            <a:r>
              <a:rPr lang="en-US" err="1">
                <a:ea typeface="+mn-lt"/>
                <a:cs typeface="+mn-lt"/>
              </a:rPr>
              <a:t>dùng</a:t>
            </a:r>
            <a:r>
              <a:rPr lang="en-US">
                <a:ea typeface="+mn-lt"/>
                <a:cs typeface="+mn-lt"/>
              </a:rPr>
              <a:t> </a:t>
            </a:r>
            <a:r>
              <a:rPr lang="en-US" err="1">
                <a:ea typeface="+mn-lt"/>
                <a:cs typeface="+mn-lt"/>
              </a:rPr>
              <a:t>costmap</a:t>
            </a:r>
            <a:r>
              <a:rPr lang="en-US">
                <a:ea typeface="+mn-lt"/>
                <a:cs typeface="+mn-lt"/>
              </a:rPr>
              <a:t>/footprint </a:t>
            </a:r>
            <a:r>
              <a:rPr lang="en-US" err="1">
                <a:ea typeface="+mn-lt"/>
                <a:cs typeface="+mn-lt"/>
              </a:rPr>
              <a:t>trong</a:t>
            </a:r>
            <a:r>
              <a:rPr lang="en-US">
                <a:ea typeface="+mn-lt"/>
                <a:cs typeface="+mn-lt"/>
              </a:rPr>
              <a:t> </a:t>
            </a:r>
            <a:r>
              <a:rPr lang="en-US" err="1">
                <a:ea typeface="+mn-lt"/>
                <a:cs typeface="+mn-lt"/>
              </a:rPr>
              <a:t>phép</a:t>
            </a:r>
            <a:r>
              <a:rPr lang="en-US">
                <a:ea typeface="+mn-lt"/>
                <a:cs typeface="+mn-lt"/>
              </a:rPr>
              <a:t> </a:t>
            </a:r>
            <a:r>
              <a:rPr lang="en-US" err="1">
                <a:ea typeface="+mn-lt"/>
                <a:cs typeface="+mn-lt"/>
              </a:rPr>
              <a:t>làm</a:t>
            </a:r>
            <a:r>
              <a:rPr lang="en-US">
                <a:ea typeface="+mn-lt"/>
                <a:cs typeface="+mn-lt"/>
              </a:rPr>
              <a:t> </a:t>
            </a:r>
            <a:r>
              <a:rPr lang="en-US" err="1">
                <a:ea typeface="+mn-lt"/>
                <a:cs typeface="+mn-lt"/>
              </a:rPr>
              <a:t>mượt</a:t>
            </a:r>
            <a:r>
              <a:rPr lang="en-US">
                <a:ea typeface="+mn-lt"/>
                <a:cs typeface="+mn-lt"/>
              </a:rPr>
              <a:t>; </a:t>
            </a:r>
            <a:r>
              <a:rPr lang="en-US" err="1">
                <a:ea typeface="+mn-lt"/>
                <a:cs typeface="+mn-lt"/>
              </a:rPr>
              <a:t>có</a:t>
            </a:r>
            <a:r>
              <a:rPr lang="en-US">
                <a:ea typeface="+mn-lt"/>
                <a:cs typeface="+mn-lt"/>
              </a:rPr>
              <a:t> </a:t>
            </a:r>
            <a:r>
              <a:rPr lang="en-US" err="1">
                <a:ea typeface="+mn-lt"/>
                <a:cs typeface="+mn-lt"/>
              </a:rPr>
              <a:t>thể</a:t>
            </a:r>
            <a:r>
              <a:rPr lang="en-US">
                <a:ea typeface="+mn-lt"/>
                <a:cs typeface="+mn-lt"/>
              </a:rPr>
              <a:t> </a:t>
            </a:r>
            <a:r>
              <a:rPr lang="en-US" err="1">
                <a:ea typeface="+mn-lt"/>
                <a:cs typeface="+mn-lt"/>
              </a:rPr>
              <a:t>làm</a:t>
            </a:r>
            <a:r>
              <a:rPr lang="en-US">
                <a:ea typeface="+mn-lt"/>
                <a:cs typeface="+mn-lt"/>
              </a:rPr>
              <a:t> </a:t>
            </a:r>
            <a:r>
              <a:rPr lang="en-US" err="1">
                <a:ea typeface="+mn-lt"/>
                <a:cs typeface="+mn-lt"/>
              </a:rPr>
              <a:t>mất</a:t>
            </a:r>
            <a:r>
              <a:rPr lang="en-US">
                <a:ea typeface="+mn-lt"/>
                <a:cs typeface="+mn-lt"/>
              </a:rPr>
              <a:t> </a:t>
            </a:r>
            <a:r>
              <a:rPr lang="en-US" err="1">
                <a:ea typeface="+mn-lt"/>
                <a:cs typeface="+mn-lt"/>
              </a:rPr>
              <a:t>ràng</a:t>
            </a:r>
            <a:r>
              <a:rPr lang="en-US">
                <a:ea typeface="+mn-lt"/>
                <a:cs typeface="+mn-lt"/>
              </a:rPr>
              <a:t> </a:t>
            </a:r>
            <a:r>
              <a:rPr lang="en-US" err="1">
                <a:ea typeface="+mn-lt"/>
                <a:cs typeface="+mn-lt"/>
              </a:rPr>
              <a:t>buộc</a:t>
            </a:r>
            <a:r>
              <a:rPr lang="en-US">
                <a:ea typeface="+mn-lt"/>
                <a:cs typeface="+mn-lt"/>
              </a:rPr>
              <a:t> </a:t>
            </a:r>
            <a:r>
              <a:rPr lang="en-US" err="1">
                <a:ea typeface="+mn-lt"/>
                <a:cs typeface="+mn-lt"/>
              </a:rPr>
              <a:t>động</a:t>
            </a:r>
            <a:r>
              <a:rPr lang="en-US">
                <a:ea typeface="+mn-lt"/>
                <a:cs typeface="+mn-lt"/>
              </a:rPr>
              <a:t> </a:t>
            </a:r>
            <a:r>
              <a:rPr lang="en-US" err="1">
                <a:ea typeface="+mn-lt"/>
                <a:cs typeface="+mn-lt"/>
              </a:rPr>
              <a:t>học</a:t>
            </a:r>
            <a:r>
              <a:rPr lang="en-US">
                <a:ea typeface="+mn-lt"/>
                <a:cs typeface="+mn-lt"/>
              </a:rPr>
              <a:t> </a:t>
            </a:r>
            <a:r>
              <a:rPr lang="en-US" err="1">
                <a:ea typeface="+mn-lt"/>
                <a:cs typeface="+mn-lt"/>
              </a:rPr>
              <a:t>của</a:t>
            </a:r>
            <a:r>
              <a:rPr lang="en-US">
                <a:ea typeface="+mn-lt"/>
                <a:cs typeface="+mn-lt"/>
              </a:rPr>
              <a:t> </a:t>
            </a:r>
            <a:r>
              <a:rPr lang="en-US" err="1">
                <a:ea typeface="+mn-lt"/>
                <a:cs typeface="+mn-lt"/>
              </a:rPr>
              <a:t>đường</a:t>
            </a:r>
            <a:r>
              <a:rPr lang="en-US">
                <a:ea typeface="+mn-lt"/>
                <a:cs typeface="+mn-lt"/>
              </a:rPr>
              <a:t> </a:t>
            </a:r>
            <a:r>
              <a:rPr lang="en-US" err="1">
                <a:ea typeface="+mn-lt"/>
                <a:cs typeface="+mn-lt"/>
              </a:rPr>
              <a:t>đầu</a:t>
            </a:r>
            <a:r>
              <a:rPr lang="en-US">
                <a:ea typeface="+mn-lt"/>
                <a:cs typeface="+mn-lt"/>
              </a:rPr>
              <a:t> </a:t>
            </a:r>
            <a:r>
              <a:rPr lang="en-US" err="1">
                <a:ea typeface="+mn-lt"/>
                <a:cs typeface="+mn-lt"/>
              </a:rPr>
              <a:t>vào</a:t>
            </a:r>
            <a:endParaRPr lang="en-US" err="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502920"/>
            <a:ext cx="10698480" cy="475488"/>
          </a:xfrm>
          <a:prstGeom prst="rect">
            <a:avLst/>
          </a:prstGeom>
          <a:noFill/>
        </p:spPr>
        <p:txBody>
          <a:bodyPr wrap="square" lIns="27432" tIns="27432" rIns="27432" bIns="27432" anchor="t">
            <a:spAutoFit/>
          </a:bodyPr>
          <a:lstStyle/>
          <a:p>
            <a:pPr algn="l">
              <a:spcBef>
                <a:spcPts val="0"/>
              </a:spcBef>
              <a:spcAft>
                <a:spcPts val="0"/>
              </a:spcAft>
              <a:defRPr sz="2700" b="1" i="0">
                <a:solidFill>
                  <a:srgbClr val="102A43"/>
                </a:solidFill>
                <a:latin typeface="Arial"/>
              </a:defRPr>
            </a:pPr>
            <a:r>
              <a:t>Savitzky–Golay Smoother: lọc đa thức cửa sổ</a:t>
            </a:r>
          </a:p>
        </p:txBody>
      </p:sp>
      <p:sp>
        <p:nvSpPr>
          <p:cNvPr id="5" name="TextBox 4"/>
          <p:cNvSpPr txBox="1"/>
          <p:nvPr/>
        </p:nvSpPr>
        <p:spPr>
          <a:xfrm>
            <a:off x="612648" y="960120"/>
            <a:ext cx="10515600" cy="329184"/>
          </a:xfrm>
          <a:prstGeom prst="rect">
            <a:avLst/>
          </a:prstGeom>
          <a:noFill/>
        </p:spPr>
        <p:txBody>
          <a:bodyPr wrap="square" lIns="27432" tIns="27432" rIns="27432" bIns="27432" anchor="t">
            <a:spAutoFit/>
          </a:bodyPr>
          <a:lstStyle/>
          <a:p>
            <a:pPr algn="l">
              <a:spcBef>
                <a:spcPts val="0"/>
              </a:spcBef>
              <a:spcAft>
                <a:spcPts val="0"/>
              </a:spcAft>
              <a:defRPr sz="1350" b="0" i="0">
                <a:solidFill>
                  <a:srgbClr val="526777"/>
                </a:solidFill>
                <a:latin typeface="Arial"/>
              </a:defRPr>
            </a:pPr>
            <a:r>
              <a:t>Thay mỗi điểm bằng tổ hợp tuyến tính của bảy điểm lân cận để giảm nhiễu cao tần.</a:t>
            </a:r>
          </a:p>
        </p:txBody>
      </p:sp>
      <p:sp>
        <p:nvSpPr>
          <p:cNvPr id="7" name="TextBox 6"/>
          <p:cNvSpPr txBox="1"/>
          <p:nvPr/>
        </p:nvSpPr>
        <p:spPr>
          <a:xfrm>
            <a:off x="11228832" y="256032"/>
            <a:ext cx="347472" cy="201168"/>
          </a:xfrm>
          <a:prstGeom prst="rect">
            <a:avLst/>
          </a:prstGeom>
          <a:noFill/>
        </p:spPr>
        <p:txBody>
          <a:bodyPr wrap="square" lIns="27432" tIns="27432" rIns="27432" bIns="27432" anchor="t">
            <a:spAutoFit/>
          </a:bodyPr>
          <a:lstStyle/>
          <a:p>
            <a:pPr algn="r">
              <a:spcBef>
                <a:spcPts val="0"/>
              </a:spcBef>
              <a:spcAft>
                <a:spcPts val="0"/>
              </a:spcAft>
              <a:defRPr sz="950" b="1" i="0">
                <a:solidFill>
                  <a:srgbClr val="526777"/>
                </a:solidFill>
                <a:latin typeface="Arial"/>
              </a:defRPr>
            </a:pPr>
            <a:r>
              <a:t>14</a:t>
            </a:r>
          </a:p>
        </p:txBody>
      </p:sp>
      <p:pic>
        <p:nvPicPr>
          <p:cNvPr id="9" name="Picture 8" descr="savitzky_golay.png"/>
          <p:cNvPicPr>
            <a:picLocks noChangeAspect="1"/>
          </p:cNvPicPr>
          <p:nvPr/>
        </p:nvPicPr>
        <p:blipFill>
          <a:blip r:embed="rId2"/>
          <a:stretch>
            <a:fillRect/>
          </a:stretch>
        </p:blipFill>
        <p:spPr>
          <a:xfrm>
            <a:off x="749808" y="2048827"/>
            <a:ext cx="6492240" cy="3327272"/>
          </a:xfrm>
          <a:prstGeom prst="rect">
            <a:avLst/>
          </a:prstGeom>
        </p:spPr>
      </p:pic>
      <p:sp>
        <p:nvSpPr>
          <p:cNvPr id="11" name="TextBox 10"/>
          <p:cNvSpPr txBox="1"/>
          <p:nvPr/>
        </p:nvSpPr>
        <p:spPr>
          <a:xfrm>
            <a:off x="7882127" y="1645920"/>
            <a:ext cx="3419856" cy="363176"/>
          </a:xfrm>
          <a:prstGeom prst="rect">
            <a:avLst/>
          </a:prstGeom>
          <a:noFill/>
        </p:spPr>
        <p:txBody>
          <a:bodyPr wrap="square" lIns="27432" tIns="27432" rIns="27432" bIns="27432" anchor="t">
            <a:spAutoFit/>
          </a:bodyPr>
          <a:lstStyle/>
          <a:p>
            <a:pPr algn="ctr">
              <a:spcBef>
                <a:spcPts val="0"/>
              </a:spcBef>
              <a:spcAft>
                <a:spcPts val="0"/>
              </a:spcAft>
              <a:defRPr sz="1300" b="1" i="0">
                <a:solidFill>
                  <a:srgbClr val="E07A2F"/>
                </a:solidFill>
                <a:latin typeface="Arial"/>
              </a:defRPr>
            </a:pPr>
            <a:r>
              <a:rPr sz="2000" err="1"/>
              <a:t>Bộ</a:t>
            </a:r>
            <a:r>
              <a:rPr sz="2000"/>
              <a:t> </a:t>
            </a:r>
            <a:r>
              <a:rPr sz="2000" err="1"/>
              <a:t>lọc</a:t>
            </a:r>
            <a:r>
              <a:rPr sz="2000"/>
              <a:t> </a:t>
            </a:r>
            <a:r>
              <a:rPr sz="2000" err="1"/>
              <a:t>cố</a:t>
            </a:r>
            <a:r>
              <a:rPr sz="2000"/>
              <a:t> </a:t>
            </a:r>
            <a:r>
              <a:rPr sz="2000" err="1"/>
              <a:t>định</a:t>
            </a:r>
            <a:r>
              <a:rPr sz="2000"/>
              <a:t> 7 </a:t>
            </a:r>
            <a:r>
              <a:rPr sz="2000" err="1"/>
              <a:t>điểm</a:t>
            </a:r>
            <a:endParaRPr sz="2000"/>
          </a:p>
        </p:txBody>
      </p:sp>
      <p:sp>
        <p:nvSpPr>
          <p:cNvPr id="12" name="TextBox 11"/>
          <p:cNvSpPr txBox="1"/>
          <p:nvPr/>
        </p:nvSpPr>
        <p:spPr>
          <a:xfrm>
            <a:off x="7882127" y="2048256"/>
            <a:ext cx="3419856" cy="363176"/>
          </a:xfrm>
          <a:prstGeom prst="rect">
            <a:avLst/>
          </a:prstGeom>
          <a:noFill/>
        </p:spPr>
        <p:txBody>
          <a:bodyPr wrap="square" lIns="27432" tIns="27432" rIns="27432" bIns="27432" anchor="t">
            <a:spAutoFit/>
          </a:bodyPr>
          <a:lstStyle/>
          <a:p>
            <a:pPr algn="ctr">
              <a:spcBef>
                <a:spcPts val="0"/>
              </a:spcBef>
              <a:spcAft>
                <a:spcPts val="0"/>
              </a:spcAft>
              <a:defRPr sz="1600" b="1" i="0">
                <a:solidFill>
                  <a:srgbClr val="102A43"/>
                </a:solidFill>
                <a:latin typeface="Arial"/>
              </a:defRPr>
            </a:pPr>
            <a:r>
              <a:rPr sz="2000"/>
              <a:t>[−2, 3, 6, 7, 6, 3, −2] / 21</a:t>
            </a:r>
          </a:p>
        </p:txBody>
      </p:sp>
      <p:sp>
        <p:nvSpPr>
          <p:cNvPr id="15" name="Rounded Rectangle 14"/>
          <p:cNvSpPr/>
          <p:nvPr/>
        </p:nvSpPr>
        <p:spPr>
          <a:xfrm>
            <a:off x="7782560" y="3866896"/>
            <a:ext cx="3696208" cy="1034288"/>
          </a:xfrm>
          <a:prstGeom prst="roundRect">
            <a:avLst/>
          </a:prstGeom>
          <a:solidFill>
            <a:srgbClr val="E8F5EC"/>
          </a:solidFill>
          <a:ln w="12700">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790688" y="5106416"/>
            <a:ext cx="3675888" cy="942848"/>
          </a:xfrm>
          <a:prstGeom prst="roundRect">
            <a:avLst/>
          </a:prstGeom>
          <a:solidFill>
            <a:srgbClr val="FBEAEA"/>
          </a:solidFill>
          <a:ln w="12700">
            <a:solidFill>
              <a:srgbClr val="FBEA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41D52F3-5678-A895-73E6-163EE651F7F7}"/>
              </a:ext>
            </a:extLst>
          </p:cNvPr>
          <p:cNvSpPr txBox="1"/>
          <p:nvPr/>
        </p:nvSpPr>
        <p:spPr>
          <a:xfrm>
            <a:off x="7787103" y="3872555"/>
            <a:ext cx="36880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Phù</a:t>
            </a:r>
            <a:r>
              <a:rPr lang="en-US"/>
              <a:t> </a:t>
            </a:r>
            <a:r>
              <a:rPr lang="en-US" err="1"/>
              <a:t>hợp</a:t>
            </a:r>
            <a:r>
              <a:rPr lang="en-US"/>
              <a:t> : </a:t>
            </a:r>
          </a:p>
          <a:p>
            <a:r>
              <a:rPr lang="en-US" err="1">
                <a:ea typeface="+mn-lt"/>
                <a:cs typeface="+mn-lt"/>
              </a:rPr>
              <a:t>Lọc</a:t>
            </a:r>
            <a:r>
              <a:rPr lang="en-US">
                <a:ea typeface="+mn-lt"/>
                <a:cs typeface="+mn-lt"/>
              </a:rPr>
              <a:t> dao </a:t>
            </a:r>
            <a:r>
              <a:rPr lang="en-US" err="1">
                <a:ea typeface="+mn-lt"/>
                <a:cs typeface="+mn-lt"/>
              </a:rPr>
              <a:t>động</a:t>
            </a:r>
            <a:r>
              <a:rPr lang="en-US">
                <a:ea typeface="+mn-lt"/>
                <a:cs typeface="+mn-lt"/>
              </a:rPr>
              <a:t> </a:t>
            </a:r>
            <a:r>
              <a:rPr lang="en-US" err="1">
                <a:ea typeface="+mn-lt"/>
                <a:cs typeface="+mn-lt"/>
              </a:rPr>
              <a:t>nhỏ</a:t>
            </a:r>
            <a:r>
              <a:rPr lang="en-US">
                <a:ea typeface="+mn-lt"/>
                <a:cs typeface="+mn-lt"/>
              </a:rPr>
              <a:t>, </a:t>
            </a:r>
            <a:r>
              <a:rPr lang="en-US" err="1">
                <a:ea typeface="+mn-lt"/>
                <a:cs typeface="+mn-lt"/>
              </a:rPr>
              <a:t>giữ</a:t>
            </a:r>
            <a:r>
              <a:rPr lang="en-US">
                <a:ea typeface="+mn-lt"/>
                <a:cs typeface="+mn-lt"/>
              </a:rPr>
              <a:t> </a:t>
            </a:r>
            <a:r>
              <a:rPr lang="en-US" err="1">
                <a:ea typeface="+mn-lt"/>
                <a:cs typeface="+mn-lt"/>
              </a:rPr>
              <a:t>gần</a:t>
            </a:r>
            <a:r>
              <a:rPr lang="en-US">
                <a:ea typeface="+mn-lt"/>
                <a:cs typeface="+mn-lt"/>
              </a:rPr>
              <a:t> </a:t>
            </a:r>
            <a:r>
              <a:rPr lang="en-US" err="1">
                <a:ea typeface="+mn-lt"/>
                <a:cs typeface="+mn-lt"/>
              </a:rPr>
              <a:t>đường</a:t>
            </a:r>
            <a:r>
              <a:rPr lang="en-US">
                <a:ea typeface="+mn-lt"/>
                <a:cs typeface="+mn-lt"/>
              </a:rPr>
              <a:t> </a:t>
            </a:r>
            <a:r>
              <a:rPr lang="en-US" err="1">
                <a:ea typeface="+mn-lt"/>
                <a:cs typeface="+mn-lt"/>
              </a:rPr>
              <a:t>gốc</a:t>
            </a:r>
            <a:r>
              <a:rPr lang="en-US">
                <a:ea typeface="+mn-lt"/>
                <a:cs typeface="+mn-lt"/>
              </a:rPr>
              <a:t>, runtime </a:t>
            </a:r>
            <a:r>
              <a:rPr lang="en-US" err="1">
                <a:ea typeface="+mn-lt"/>
                <a:cs typeface="+mn-lt"/>
              </a:rPr>
              <a:t>rất</a:t>
            </a:r>
            <a:r>
              <a:rPr lang="en-US">
                <a:ea typeface="+mn-lt"/>
                <a:cs typeface="+mn-lt"/>
              </a:rPr>
              <a:t> </a:t>
            </a:r>
            <a:r>
              <a:rPr lang="en-US" err="1">
                <a:ea typeface="+mn-lt"/>
                <a:cs typeface="+mn-lt"/>
              </a:rPr>
              <a:t>thấp</a:t>
            </a:r>
            <a:endParaRPr lang="en-US" err="1"/>
          </a:p>
        </p:txBody>
      </p:sp>
      <p:sp>
        <p:nvSpPr>
          <p:cNvPr id="3" name="TextBox 2">
            <a:extLst>
              <a:ext uri="{FF2B5EF4-FFF2-40B4-BE49-F238E27FC236}">
                <a16:creationId xmlns:a16="http://schemas.microsoft.com/office/drawing/2014/main" id="{2F046782-82A6-1E4A-625B-6201A741B6EC}"/>
              </a:ext>
            </a:extLst>
          </p:cNvPr>
          <p:cNvSpPr txBox="1"/>
          <p:nvPr/>
        </p:nvSpPr>
        <p:spPr>
          <a:xfrm>
            <a:off x="7787729" y="5108476"/>
            <a:ext cx="35661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Đánh </a:t>
            </a:r>
            <a:r>
              <a:rPr lang="en-US" err="1"/>
              <a:t>đổi</a:t>
            </a:r>
            <a:r>
              <a:rPr lang="en-US"/>
              <a:t> : </a:t>
            </a:r>
          </a:p>
          <a:p>
            <a:r>
              <a:rPr lang="en-US" err="1">
                <a:ea typeface="+mn-lt"/>
                <a:cs typeface="+mn-lt"/>
              </a:rPr>
              <a:t>Khó</a:t>
            </a:r>
            <a:r>
              <a:rPr lang="en-US">
                <a:ea typeface="+mn-lt"/>
                <a:cs typeface="+mn-lt"/>
              </a:rPr>
              <a:t> </a:t>
            </a:r>
            <a:r>
              <a:rPr lang="en-US" err="1">
                <a:ea typeface="+mn-lt"/>
                <a:cs typeface="+mn-lt"/>
              </a:rPr>
              <a:t>xử</a:t>
            </a:r>
            <a:r>
              <a:rPr lang="en-US">
                <a:ea typeface="+mn-lt"/>
                <a:cs typeface="+mn-lt"/>
              </a:rPr>
              <a:t> </a:t>
            </a:r>
            <a:r>
              <a:rPr lang="en-US" err="1">
                <a:ea typeface="+mn-lt"/>
                <a:cs typeface="+mn-lt"/>
              </a:rPr>
              <a:t>lý</a:t>
            </a:r>
            <a:r>
              <a:rPr lang="en-US">
                <a:ea typeface="+mn-lt"/>
                <a:cs typeface="+mn-lt"/>
              </a:rPr>
              <a:t> </a:t>
            </a:r>
            <a:r>
              <a:rPr lang="en-US" err="1">
                <a:ea typeface="+mn-lt"/>
                <a:cs typeface="+mn-lt"/>
              </a:rPr>
              <a:t>góc</a:t>
            </a:r>
            <a:r>
              <a:rPr lang="en-US">
                <a:ea typeface="+mn-lt"/>
                <a:cs typeface="+mn-lt"/>
              </a:rPr>
              <a:t> </a:t>
            </a:r>
            <a:r>
              <a:rPr lang="en-US" err="1">
                <a:ea typeface="+mn-lt"/>
                <a:cs typeface="+mn-lt"/>
              </a:rPr>
              <a:t>gãy</a:t>
            </a:r>
            <a:r>
              <a:rPr lang="en-US">
                <a:ea typeface="+mn-lt"/>
                <a:cs typeface="+mn-lt"/>
              </a:rPr>
              <a:t> </a:t>
            </a:r>
            <a:r>
              <a:rPr lang="en-US" err="1">
                <a:ea typeface="+mn-lt"/>
                <a:cs typeface="+mn-lt"/>
              </a:rPr>
              <a:t>lớn</a:t>
            </a:r>
            <a:r>
              <a:rPr lang="en-US">
                <a:ea typeface="+mn-lt"/>
                <a:cs typeface="+mn-lt"/>
              </a:rPr>
              <a:t>; </a:t>
            </a:r>
            <a:r>
              <a:rPr lang="en-US" err="1">
                <a:ea typeface="+mn-lt"/>
                <a:cs typeface="+mn-lt"/>
              </a:rPr>
              <a:t>không</a:t>
            </a:r>
            <a:r>
              <a:rPr lang="en-US">
                <a:ea typeface="+mn-lt"/>
                <a:cs typeface="+mn-lt"/>
              </a:rPr>
              <a:t> </a:t>
            </a:r>
            <a:r>
              <a:rPr lang="en-US" err="1">
                <a:ea typeface="+mn-lt"/>
                <a:cs typeface="+mn-lt"/>
              </a:rPr>
              <a:t>dùng</a:t>
            </a:r>
            <a:r>
              <a:rPr lang="en-US">
                <a:ea typeface="+mn-lt"/>
                <a:cs typeface="+mn-lt"/>
              </a:rPr>
              <a:t> </a:t>
            </a:r>
            <a:r>
              <a:rPr lang="en-US" err="1">
                <a:ea typeface="+mn-lt"/>
                <a:cs typeface="+mn-lt"/>
              </a:rPr>
              <a:t>costmap</a:t>
            </a:r>
            <a:r>
              <a:rPr lang="en-US">
                <a:ea typeface="+mn-lt"/>
                <a:cs typeface="+mn-lt"/>
              </a:rPr>
              <a:t>/footprint </a:t>
            </a:r>
            <a:r>
              <a:rPr lang="en-US" err="1">
                <a:ea typeface="+mn-lt"/>
                <a:cs typeface="+mn-lt"/>
              </a:rPr>
              <a:t>trong</a:t>
            </a:r>
            <a:r>
              <a:rPr lang="en-US">
                <a:ea typeface="+mn-lt"/>
                <a:cs typeface="+mn-lt"/>
              </a:rPr>
              <a:t> </a:t>
            </a:r>
            <a:r>
              <a:rPr lang="en-US" err="1">
                <a:ea typeface="+mn-lt"/>
                <a:cs typeface="+mn-lt"/>
              </a:rPr>
              <a:t>phép</a:t>
            </a:r>
            <a:r>
              <a:rPr lang="en-US">
                <a:ea typeface="+mn-lt"/>
                <a:cs typeface="+mn-lt"/>
              </a:rPr>
              <a:t> </a:t>
            </a:r>
            <a:r>
              <a:rPr lang="en-US" err="1">
                <a:ea typeface="+mn-lt"/>
                <a:cs typeface="+mn-lt"/>
              </a:rPr>
              <a:t>lọc</a:t>
            </a:r>
            <a:endParaRPr lang="en-US" err="1"/>
          </a:p>
        </p:txBody>
      </p:sp>
      <p:pic>
        <p:nvPicPr>
          <p:cNvPr id="6" name="Picture 5">
            <a:extLst>
              <a:ext uri="{FF2B5EF4-FFF2-40B4-BE49-F238E27FC236}">
                <a16:creationId xmlns:a16="http://schemas.microsoft.com/office/drawing/2014/main" id="{279026A8-B4C7-A318-08EC-42C98A763DCF}"/>
              </a:ext>
            </a:extLst>
          </p:cNvPr>
          <p:cNvPicPr>
            <a:picLocks noChangeAspect="1"/>
          </p:cNvPicPr>
          <p:nvPr/>
        </p:nvPicPr>
        <p:blipFill>
          <a:blip r:embed="rId3"/>
          <a:stretch>
            <a:fillRect/>
          </a:stretch>
        </p:blipFill>
        <p:spPr>
          <a:xfrm>
            <a:off x="7385088" y="2052522"/>
            <a:ext cx="4362450" cy="17430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360" y="502920"/>
            <a:ext cx="10698480" cy="475488"/>
          </a:xfrm>
          <a:prstGeom prst="rect">
            <a:avLst/>
          </a:prstGeom>
          <a:noFill/>
        </p:spPr>
        <p:txBody>
          <a:bodyPr wrap="square" lIns="27432" tIns="27432" rIns="27432" bIns="27432" anchor="t">
            <a:spAutoFit/>
          </a:bodyPr>
          <a:lstStyle/>
          <a:p>
            <a:pPr algn="l">
              <a:spcBef>
                <a:spcPts val="0"/>
              </a:spcBef>
              <a:spcAft>
                <a:spcPts val="0"/>
              </a:spcAft>
              <a:defRPr sz="2700" b="1" i="0">
                <a:solidFill>
                  <a:srgbClr val="102A43"/>
                </a:solidFill>
                <a:latin typeface="Arial"/>
              </a:defRPr>
            </a:pPr>
            <a:r>
              <a:t>Constrained Smoother: </a:t>
            </a:r>
            <a:r>
              <a:rPr err="1"/>
              <a:t>tối</a:t>
            </a:r>
            <a:r>
              <a:t> </a:t>
            </a:r>
            <a:r>
              <a:rPr err="1"/>
              <a:t>ưu</a:t>
            </a:r>
            <a:r>
              <a:t> </a:t>
            </a:r>
            <a:r>
              <a:rPr err="1"/>
              <a:t>nhiều</a:t>
            </a:r>
            <a:r>
              <a:t> </a:t>
            </a:r>
            <a:r>
              <a:rPr err="1"/>
              <a:t>thành</a:t>
            </a:r>
            <a:r>
              <a:t> </a:t>
            </a:r>
            <a:r>
              <a:rPr err="1"/>
              <a:t>phần</a:t>
            </a:r>
            <a:endParaRPr/>
          </a:p>
        </p:txBody>
      </p:sp>
      <p:sp>
        <p:nvSpPr>
          <p:cNvPr id="5" name="TextBox 4"/>
          <p:cNvSpPr txBox="1"/>
          <p:nvPr/>
        </p:nvSpPr>
        <p:spPr>
          <a:xfrm>
            <a:off x="612648" y="960120"/>
            <a:ext cx="10515600" cy="329184"/>
          </a:xfrm>
          <a:prstGeom prst="rect">
            <a:avLst/>
          </a:prstGeom>
          <a:noFill/>
        </p:spPr>
        <p:txBody>
          <a:bodyPr wrap="square" lIns="27432" tIns="27432" rIns="27432" bIns="27432" anchor="t">
            <a:spAutoFit/>
          </a:bodyPr>
          <a:lstStyle/>
          <a:p>
            <a:pPr algn="l">
              <a:spcBef>
                <a:spcPts val="0"/>
              </a:spcBef>
              <a:spcAft>
                <a:spcPts val="0"/>
              </a:spcAft>
              <a:defRPr sz="1350" b="0" i="0">
                <a:solidFill>
                  <a:srgbClr val="526777"/>
                </a:solidFill>
                <a:latin typeface="Arial"/>
              </a:defRPr>
            </a:pPr>
            <a:r>
              <a:t>Ceres </a:t>
            </a:r>
            <a:r>
              <a:rPr err="1"/>
              <a:t>điều</a:t>
            </a:r>
            <a:r>
              <a:t> </a:t>
            </a:r>
            <a:r>
              <a:rPr err="1"/>
              <a:t>chỉnh</a:t>
            </a:r>
            <a:r>
              <a:t> waypoint </a:t>
            </a:r>
            <a:r>
              <a:rPr err="1"/>
              <a:t>để</a:t>
            </a:r>
            <a:r>
              <a:t> </a:t>
            </a:r>
            <a:r>
              <a:rPr err="1"/>
              <a:t>cân</a:t>
            </a:r>
            <a:r>
              <a:t> </a:t>
            </a:r>
            <a:r>
              <a:rPr err="1"/>
              <a:t>bằng</a:t>
            </a:r>
            <a:r>
              <a:t> </a:t>
            </a:r>
            <a:r>
              <a:rPr err="1"/>
              <a:t>độ</a:t>
            </a:r>
            <a:r>
              <a:t> </a:t>
            </a:r>
            <a:r>
              <a:rPr err="1"/>
              <a:t>mượt</a:t>
            </a:r>
            <a:r>
              <a:t>, curvature, </a:t>
            </a:r>
            <a:r>
              <a:rPr err="1"/>
              <a:t>bám</a:t>
            </a:r>
            <a:r>
              <a:t> </a:t>
            </a:r>
            <a:r>
              <a:rPr err="1"/>
              <a:t>đường</a:t>
            </a:r>
            <a:r>
              <a:t> </a:t>
            </a:r>
            <a:r>
              <a:rPr err="1"/>
              <a:t>gốc</a:t>
            </a:r>
            <a:r>
              <a:t> </a:t>
            </a:r>
            <a:r>
              <a:rPr err="1"/>
              <a:t>và</a:t>
            </a:r>
            <a:r>
              <a:t> </a:t>
            </a:r>
            <a:r>
              <a:rPr err="1"/>
              <a:t>costmap</a:t>
            </a:r>
            <a:r>
              <a:t>.</a:t>
            </a:r>
          </a:p>
        </p:txBody>
      </p:sp>
      <p:pic>
        <p:nvPicPr>
          <p:cNvPr id="9" name="Picture 8" descr="constrained_smoother.png"/>
          <p:cNvPicPr>
            <a:picLocks noChangeAspect="1"/>
          </p:cNvPicPr>
          <p:nvPr/>
        </p:nvPicPr>
        <p:blipFill>
          <a:blip r:embed="rId2"/>
          <a:stretch>
            <a:fillRect/>
          </a:stretch>
        </p:blipFill>
        <p:spPr>
          <a:xfrm>
            <a:off x="749808" y="1891836"/>
            <a:ext cx="7104888" cy="3641255"/>
          </a:xfrm>
          <a:prstGeom prst="rect">
            <a:avLst/>
          </a:prstGeom>
        </p:spPr>
      </p:pic>
      <p:sp>
        <p:nvSpPr>
          <p:cNvPr id="3" name="Rounded Rectangle 14">
            <a:extLst>
              <a:ext uri="{FF2B5EF4-FFF2-40B4-BE49-F238E27FC236}">
                <a16:creationId xmlns:a16="http://schemas.microsoft.com/office/drawing/2014/main" id="{58363705-E3D1-B157-0111-37064CD64B5E}"/>
              </a:ext>
            </a:extLst>
          </p:cNvPr>
          <p:cNvSpPr/>
          <p:nvPr/>
        </p:nvSpPr>
        <p:spPr>
          <a:xfrm>
            <a:off x="8087360" y="3490976"/>
            <a:ext cx="3665728" cy="1034288"/>
          </a:xfrm>
          <a:prstGeom prst="roundRect">
            <a:avLst/>
          </a:prstGeom>
          <a:solidFill>
            <a:srgbClr val="E8F5EC"/>
          </a:solidFill>
          <a:ln w="12700">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16">
            <a:extLst>
              <a:ext uri="{FF2B5EF4-FFF2-40B4-BE49-F238E27FC236}">
                <a16:creationId xmlns:a16="http://schemas.microsoft.com/office/drawing/2014/main" id="{4997A66D-4D86-79C1-306F-57C5663AB524}"/>
              </a:ext>
            </a:extLst>
          </p:cNvPr>
          <p:cNvSpPr/>
          <p:nvPr/>
        </p:nvSpPr>
        <p:spPr>
          <a:xfrm>
            <a:off x="8095488" y="4730496"/>
            <a:ext cx="3645408" cy="942848"/>
          </a:xfrm>
          <a:prstGeom prst="roundRect">
            <a:avLst/>
          </a:prstGeom>
          <a:solidFill>
            <a:srgbClr val="FBEAEA"/>
          </a:solidFill>
          <a:ln w="12700">
            <a:solidFill>
              <a:srgbClr val="FBEA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E520EBC6-63BF-7B01-4B63-D0CC33A165CD}"/>
              </a:ext>
            </a:extLst>
          </p:cNvPr>
          <p:cNvSpPr txBox="1"/>
          <p:nvPr/>
        </p:nvSpPr>
        <p:spPr>
          <a:xfrm>
            <a:off x="8091903" y="3496635"/>
            <a:ext cx="36576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Phù</a:t>
            </a:r>
            <a:r>
              <a:rPr lang="en-US"/>
              <a:t> </a:t>
            </a:r>
            <a:r>
              <a:rPr lang="en-US" err="1"/>
              <a:t>hợp</a:t>
            </a:r>
            <a:r>
              <a:rPr lang="en-US"/>
              <a:t> : </a:t>
            </a:r>
          </a:p>
          <a:p>
            <a:r>
              <a:rPr lang="en-US" err="1">
                <a:ea typeface="+mn-lt"/>
                <a:cs typeface="+mn-lt"/>
              </a:rPr>
              <a:t>Cần</a:t>
            </a:r>
            <a:r>
              <a:rPr lang="en-US">
                <a:ea typeface="+mn-lt"/>
                <a:cs typeface="+mn-lt"/>
              </a:rPr>
              <a:t> </a:t>
            </a:r>
            <a:r>
              <a:rPr lang="en-US" err="1">
                <a:ea typeface="+mn-lt"/>
                <a:cs typeface="+mn-lt"/>
              </a:rPr>
              <a:t>tối</a:t>
            </a:r>
            <a:r>
              <a:rPr lang="en-US">
                <a:ea typeface="+mn-lt"/>
                <a:cs typeface="+mn-lt"/>
              </a:rPr>
              <a:t> </a:t>
            </a:r>
            <a:r>
              <a:rPr lang="en-US" err="1">
                <a:ea typeface="+mn-lt"/>
                <a:cs typeface="+mn-lt"/>
              </a:rPr>
              <a:t>ưu</a:t>
            </a:r>
            <a:r>
              <a:rPr lang="en-US">
                <a:ea typeface="+mn-lt"/>
                <a:cs typeface="+mn-lt"/>
              </a:rPr>
              <a:t> </a:t>
            </a:r>
            <a:r>
              <a:rPr lang="en-US" err="1">
                <a:ea typeface="+mn-lt"/>
                <a:cs typeface="+mn-lt"/>
              </a:rPr>
              <a:t>đa</a:t>
            </a:r>
            <a:r>
              <a:rPr lang="en-US">
                <a:ea typeface="+mn-lt"/>
                <a:cs typeface="+mn-lt"/>
              </a:rPr>
              <a:t> </a:t>
            </a:r>
            <a:r>
              <a:rPr lang="en-US" err="1">
                <a:ea typeface="+mn-lt"/>
                <a:cs typeface="+mn-lt"/>
              </a:rPr>
              <a:t>mục</a:t>
            </a:r>
            <a:r>
              <a:rPr lang="en-US">
                <a:ea typeface="+mn-lt"/>
                <a:cs typeface="+mn-lt"/>
              </a:rPr>
              <a:t> </a:t>
            </a:r>
            <a:r>
              <a:rPr lang="en-US" err="1">
                <a:ea typeface="+mn-lt"/>
                <a:cs typeface="+mn-lt"/>
              </a:rPr>
              <a:t>tiêu</a:t>
            </a:r>
            <a:r>
              <a:rPr lang="en-US">
                <a:ea typeface="+mn-lt"/>
                <a:cs typeface="+mn-lt"/>
              </a:rPr>
              <a:t> </a:t>
            </a:r>
            <a:r>
              <a:rPr lang="en-US" err="1">
                <a:ea typeface="+mn-lt"/>
                <a:cs typeface="+mn-lt"/>
              </a:rPr>
              <a:t>và</a:t>
            </a:r>
            <a:r>
              <a:rPr lang="en-US">
                <a:ea typeface="+mn-lt"/>
                <a:cs typeface="+mn-lt"/>
              </a:rPr>
              <a:t> </a:t>
            </a:r>
            <a:r>
              <a:rPr lang="en-US" err="1">
                <a:ea typeface="+mn-lt"/>
                <a:cs typeface="+mn-lt"/>
              </a:rPr>
              <a:t>đẩy</a:t>
            </a:r>
            <a:r>
              <a:rPr lang="en-US">
                <a:ea typeface="+mn-lt"/>
                <a:cs typeface="+mn-lt"/>
              </a:rPr>
              <a:t> </a:t>
            </a:r>
            <a:r>
              <a:rPr lang="en-US" err="1">
                <a:ea typeface="+mn-lt"/>
                <a:cs typeface="+mn-lt"/>
              </a:rPr>
              <a:t>đường</a:t>
            </a:r>
            <a:r>
              <a:rPr lang="en-US">
                <a:ea typeface="+mn-lt"/>
                <a:cs typeface="+mn-lt"/>
              </a:rPr>
              <a:t> </a:t>
            </a:r>
            <a:r>
              <a:rPr lang="en-US" err="1">
                <a:ea typeface="+mn-lt"/>
                <a:cs typeface="+mn-lt"/>
              </a:rPr>
              <a:t>khỏi</a:t>
            </a:r>
            <a:r>
              <a:rPr lang="en-US">
                <a:ea typeface="+mn-lt"/>
                <a:cs typeface="+mn-lt"/>
              </a:rPr>
              <a:t> </a:t>
            </a:r>
            <a:r>
              <a:rPr lang="en-US" err="1">
                <a:ea typeface="+mn-lt"/>
                <a:cs typeface="+mn-lt"/>
              </a:rPr>
              <a:t>vùng</a:t>
            </a:r>
            <a:r>
              <a:rPr lang="en-US">
                <a:ea typeface="+mn-lt"/>
                <a:cs typeface="+mn-lt"/>
              </a:rPr>
              <a:t> cost </a:t>
            </a:r>
            <a:r>
              <a:rPr lang="en-US" err="1">
                <a:ea typeface="+mn-lt"/>
                <a:cs typeface="+mn-lt"/>
              </a:rPr>
              <a:t>cao</a:t>
            </a:r>
            <a:endParaRPr lang="en-US" err="1"/>
          </a:p>
        </p:txBody>
      </p:sp>
      <p:sp>
        <p:nvSpPr>
          <p:cNvPr id="13" name="TextBox 12">
            <a:extLst>
              <a:ext uri="{FF2B5EF4-FFF2-40B4-BE49-F238E27FC236}">
                <a16:creationId xmlns:a16="http://schemas.microsoft.com/office/drawing/2014/main" id="{74D00F77-3018-9CEE-EE50-2BD2B02659EB}"/>
              </a:ext>
            </a:extLst>
          </p:cNvPr>
          <p:cNvSpPr txBox="1"/>
          <p:nvPr/>
        </p:nvSpPr>
        <p:spPr>
          <a:xfrm>
            <a:off x="8092529" y="4732556"/>
            <a:ext cx="3657600" cy="9334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Đánh </a:t>
            </a:r>
            <a:r>
              <a:rPr lang="en-US" err="1"/>
              <a:t>đổi</a:t>
            </a:r>
            <a:r>
              <a:rPr lang="en-US"/>
              <a:t> : </a:t>
            </a:r>
          </a:p>
          <a:p>
            <a:r>
              <a:rPr lang="en-US" err="1">
                <a:ea typeface="+mn-lt"/>
                <a:cs typeface="+mn-lt"/>
              </a:rPr>
              <a:t>Tối</a:t>
            </a:r>
            <a:r>
              <a:rPr lang="en-US">
                <a:ea typeface="+mn-lt"/>
                <a:cs typeface="+mn-lt"/>
              </a:rPr>
              <a:t> </a:t>
            </a:r>
            <a:r>
              <a:rPr lang="en-US" err="1">
                <a:ea typeface="+mn-lt"/>
                <a:cs typeface="+mn-lt"/>
              </a:rPr>
              <a:t>ưu</a:t>
            </a:r>
            <a:r>
              <a:rPr lang="en-US">
                <a:ea typeface="+mn-lt"/>
                <a:cs typeface="+mn-lt"/>
              </a:rPr>
              <a:t> </a:t>
            </a:r>
            <a:r>
              <a:rPr lang="en-US" err="1">
                <a:ea typeface="+mn-lt"/>
                <a:cs typeface="+mn-lt"/>
              </a:rPr>
              <a:t>nặng</a:t>
            </a:r>
            <a:r>
              <a:rPr lang="en-US">
                <a:ea typeface="+mn-lt"/>
                <a:cs typeface="+mn-lt"/>
              </a:rPr>
              <a:t> </a:t>
            </a:r>
            <a:r>
              <a:rPr lang="en-US" err="1">
                <a:ea typeface="+mn-lt"/>
                <a:cs typeface="+mn-lt"/>
              </a:rPr>
              <a:t>hơn</a:t>
            </a:r>
            <a:r>
              <a:rPr lang="en-US">
                <a:ea typeface="+mn-lt"/>
                <a:cs typeface="+mn-lt"/>
              </a:rPr>
              <a:t>; </a:t>
            </a:r>
            <a:r>
              <a:rPr lang="en-US" err="1">
                <a:ea typeface="+mn-lt"/>
                <a:cs typeface="+mn-lt"/>
              </a:rPr>
              <a:t>kết</a:t>
            </a:r>
            <a:r>
              <a:rPr lang="en-US">
                <a:ea typeface="+mn-lt"/>
                <a:cs typeface="+mn-lt"/>
              </a:rPr>
              <a:t> </a:t>
            </a:r>
            <a:r>
              <a:rPr lang="en-US" err="1">
                <a:ea typeface="+mn-lt"/>
                <a:cs typeface="+mn-lt"/>
              </a:rPr>
              <a:t>quả</a:t>
            </a:r>
            <a:r>
              <a:rPr lang="en-US">
                <a:ea typeface="+mn-lt"/>
                <a:cs typeface="+mn-lt"/>
              </a:rPr>
              <a:t> </a:t>
            </a:r>
            <a:r>
              <a:rPr lang="en-US" err="1">
                <a:ea typeface="+mn-lt"/>
                <a:cs typeface="+mn-lt"/>
              </a:rPr>
              <a:t>phụ</a:t>
            </a:r>
            <a:r>
              <a:rPr lang="en-US">
                <a:ea typeface="+mn-lt"/>
                <a:cs typeface="+mn-lt"/>
              </a:rPr>
              <a:t> </a:t>
            </a:r>
            <a:r>
              <a:rPr lang="en-US" err="1">
                <a:ea typeface="+mn-lt"/>
                <a:cs typeface="+mn-lt"/>
              </a:rPr>
              <a:t>thuộc</a:t>
            </a:r>
            <a:r>
              <a:rPr lang="en-US">
                <a:ea typeface="+mn-lt"/>
                <a:cs typeface="+mn-lt"/>
              </a:rPr>
              <a:t> </a:t>
            </a:r>
            <a:r>
              <a:rPr lang="en-US" err="1">
                <a:ea typeface="+mn-lt"/>
                <a:cs typeface="+mn-lt"/>
              </a:rPr>
              <a:t>mạnh</a:t>
            </a:r>
            <a:r>
              <a:rPr lang="en-US">
                <a:ea typeface="+mn-lt"/>
                <a:cs typeface="+mn-lt"/>
              </a:rPr>
              <a:t> </a:t>
            </a:r>
            <a:r>
              <a:rPr lang="en-US" err="1">
                <a:ea typeface="+mn-lt"/>
                <a:cs typeface="+mn-lt"/>
              </a:rPr>
              <a:t>vào</a:t>
            </a:r>
            <a:r>
              <a:rPr lang="en-US">
                <a:ea typeface="+mn-lt"/>
                <a:cs typeface="+mn-lt"/>
              </a:rPr>
              <a:t> </a:t>
            </a:r>
            <a:r>
              <a:rPr lang="en-US" err="1">
                <a:ea typeface="+mn-lt"/>
                <a:cs typeface="+mn-lt"/>
              </a:rPr>
              <a:t>trọng</a:t>
            </a:r>
            <a:r>
              <a:rPr lang="en-US">
                <a:ea typeface="+mn-lt"/>
                <a:cs typeface="+mn-lt"/>
              </a:rPr>
              <a:t> </a:t>
            </a:r>
            <a:r>
              <a:rPr lang="en-US" err="1">
                <a:ea typeface="+mn-lt"/>
                <a:cs typeface="+mn-lt"/>
              </a:rPr>
              <a:t>số</a:t>
            </a:r>
            <a:endParaRPr lang="en-US" err="1"/>
          </a:p>
        </p:txBody>
      </p:sp>
      <p:sp>
        <p:nvSpPr>
          <p:cNvPr id="14" name="TextBox 13">
            <a:extLst>
              <a:ext uri="{FF2B5EF4-FFF2-40B4-BE49-F238E27FC236}">
                <a16:creationId xmlns:a16="http://schemas.microsoft.com/office/drawing/2014/main" id="{09E08D5F-DE86-3FF2-5F7F-2D874AA4A951}"/>
              </a:ext>
            </a:extLst>
          </p:cNvPr>
          <p:cNvSpPr txBox="1"/>
          <p:nvPr/>
        </p:nvSpPr>
        <p:spPr>
          <a:xfrm>
            <a:off x="7851783" y="1892849"/>
            <a:ext cx="41554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6E5AE6"/>
                </a:solidFill>
                <a:latin typeface="Arial"/>
                <a:cs typeface="Arial"/>
              </a:rPr>
              <a:t>J = </a:t>
            </a:r>
            <a:r>
              <a:rPr lang="en-US" b="1" err="1">
                <a:solidFill>
                  <a:srgbClr val="6E5AE6"/>
                </a:solidFill>
                <a:latin typeface="Arial"/>
                <a:cs typeface="Arial"/>
              </a:rPr>
              <a:t>w</a:t>
            </a:r>
            <a:r>
              <a:rPr lang="en-US" b="1" baseline="-25000" err="1">
                <a:solidFill>
                  <a:srgbClr val="6E5AE6"/>
                </a:solidFill>
                <a:latin typeface="Arial"/>
                <a:cs typeface="Arial"/>
              </a:rPr>
              <a:t>s</a:t>
            </a:r>
            <a:r>
              <a:rPr lang="en-US" b="1" err="1">
                <a:solidFill>
                  <a:srgbClr val="6E5AE6"/>
                </a:solidFill>
                <a:latin typeface="Arial"/>
                <a:cs typeface="Arial"/>
              </a:rPr>
              <a:t>J</a:t>
            </a:r>
            <a:r>
              <a:rPr lang="en-US" b="1" baseline="-25000" err="1">
                <a:solidFill>
                  <a:srgbClr val="6E5AE6"/>
                </a:solidFill>
                <a:latin typeface="Arial"/>
                <a:cs typeface="Arial"/>
              </a:rPr>
              <a:t>s</a:t>
            </a:r>
            <a:r>
              <a:rPr lang="en-US" b="1">
                <a:solidFill>
                  <a:srgbClr val="6E5AE6"/>
                </a:solidFill>
                <a:latin typeface="Arial"/>
                <a:cs typeface="Arial"/>
              </a:rPr>
              <a:t> + </a:t>
            </a:r>
            <a:r>
              <a:rPr lang="en-US" b="1" err="1">
                <a:solidFill>
                  <a:srgbClr val="6E5AE6"/>
                </a:solidFill>
                <a:latin typeface="Arial"/>
                <a:cs typeface="Arial"/>
              </a:rPr>
              <a:t>w</a:t>
            </a:r>
            <a:r>
              <a:rPr lang="en-US" b="1" baseline="-25000" err="1">
                <a:solidFill>
                  <a:srgbClr val="6E5AE6"/>
                </a:solidFill>
                <a:latin typeface="Arial"/>
                <a:cs typeface="Arial"/>
              </a:rPr>
              <a:t>k</a:t>
            </a:r>
            <a:r>
              <a:rPr lang="en-US" b="1" err="1">
                <a:solidFill>
                  <a:srgbClr val="6E5AE6"/>
                </a:solidFill>
                <a:latin typeface="Arial"/>
                <a:cs typeface="Arial"/>
              </a:rPr>
              <a:t>J</a:t>
            </a:r>
            <a:r>
              <a:rPr lang="en-US" b="1" baseline="-25000" err="1">
                <a:solidFill>
                  <a:srgbClr val="6E5AE6"/>
                </a:solidFill>
                <a:latin typeface="Arial"/>
                <a:cs typeface="Arial"/>
              </a:rPr>
              <a:t>κ</a:t>
            </a:r>
            <a:r>
              <a:rPr lang="en-US" b="1">
                <a:solidFill>
                  <a:srgbClr val="6E5AE6"/>
                </a:solidFill>
                <a:latin typeface="Arial"/>
                <a:cs typeface="Arial"/>
              </a:rPr>
              <a:t> + </a:t>
            </a:r>
            <a:r>
              <a:rPr lang="en-US" b="1" err="1">
                <a:solidFill>
                  <a:srgbClr val="6E5AE6"/>
                </a:solidFill>
                <a:latin typeface="Arial"/>
                <a:cs typeface="Arial"/>
              </a:rPr>
              <a:t>w</a:t>
            </a:r>
            <a:r>
              <a:rPr lang="en-US" b="1" baseline="-25000" err="1">
                <a:solidFill>
                  <a:srgbClr val="6E5AE6"/>
                </a:solidFill>
                <a:latin typeface="Arial"/>
                <a:cs typeface="Arial"/>
              </a:rPr>
              <a:t>d</a:t>
            </a:r>
            <a:r>
              <a:rPr lang="en-US" b="1" err="1">
                <a:solidFill>
                  <a:srgbClr val="6E5AE6"/>
                </a:solidFill>
                <a:latin typeface="Arial"/>
                <a:cs typeface="Arial"/>
              </a:rPr>
              <a:t>J</a:t>
            </a:r>
            <a:r>
              <a:rPr lang="en-US" b="1" baseline="-25000" err="1">
                <a:solidFill>
                  <a:srgbClr val="6E5AE6"/>
                </a:solidFill>
                <a:latin typeface="Arial"/>
                <a:cs typeface="Arial"/>
              </a:rPr>
              <a:t>d</a:t>
            </a:r>
            <a:r>
              <a:rPr lang="en-US" b="1">
                <a:solidFill>
                  <a:srgbClr val="6E5AE6"/>
                </a:solidFill>
                <a:latin typeface="Arial"/>
                <a:cs typeface="Arial"/>
              </a:rPr>
              <a:t> + </a:t>
            </a:r>
            <a:r>
              <a:rPr lang="en-US" b="1" err="1">
                <a:solidFill>
                  <a:srgbClr val="6E5AE6"/>
                </a:solidFill>
                <a:latin typeface="Arial"/>
                <a:cs typeface="Arial"/>
              </a:rPr>
              <a:t>w</a:t>
            </a:r>
            <a:r>
              <a:rPr lang="en-US" b="1" baseline="-25000" err="1">
                <a:solidFill>
                  <a:srgbClr val="6E5AE6"/>
                </a:solidFill>
                <a:latin typeface="Arial"/>
                <a:cs typeface="Arial"/>
              </a:rPr>
              <a:t>c</a:t>
            </a:r>
            <a:r>
              <a:rPr lang="en-US" b="1" err="1">
                <a:solidFill>
                  <a:srgbClr val="6E5AE6"/>
                </a:solidFill>
                <a:latin typeface="Arial"/>
                <a:cs typeface="Arial"/>
              </a:rPr>
              <a:t>J</a:t>
            </a:r>
            <a:r>
              <a:rPr lang="en-US" b="1" baseline="-25000" err="1">
                <a:solidFill>
                  <a:srgbClr val="6E5AE6"/>
                </a:solidFill>
                <a:latin typeface="Arial"/>
                <a:cs typeface="Arial"/>
              </a:rPr>
              <a:t>cost</a:t>
            </a:r>
            <a:endParaRPr lang="en-US" baseline="-25000" err="1">
              <a:latin typeface="Arial"/>
              <a:cs typeface="Arial"/>
            </a:endParaRPr>
          </a:p>
          <a:p>
            <a:pPr algn="l"/>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8A43398-124E-CEAB-54D3-0E8B8C0C5D4D}"/>
              </a:ext>
            </a:extLst>
          </p:cNvPr>
          <p:cNvGraphicFramePr>
            <a:graphicFrameLocks noGrp="1"/>
          </p:cNvGraphicFramePr>
          <p:nvPr>
            <p:extLst>
              <p:ext uri="{D42A27DB-BD31-4B8C-83A1-F6EECF244321}">
                <p14:modId xmlns:p14="http://schemas.microsoft.com/office/powerpoint/2010/main" val="388208932"/>
              </p:ext>
            </p:extLst>
          </p:nvPr>
        </p:nvGraphicFramePr>
        <p:xfrm>
          <a:off x="88604" y="717697"/>
          <a:ext cx="11985399" cy="2675049"/>
        </p:xfrm>
        <a:graphic>
          <a:graphicData uri="http://schemas.openxmlformats.org/drawingml/2006/table">
            <a:tbl>
              <a:tblPr bandRow="1">
                <a:tableStyleId>{5940675A-B579-460E-94D1-54222C63F5DA}</a:tableStyleId>
              </a:tblPr>
              <a:tblGrid>
                <a:gridCol w="3139225">
                  <a:extLst>
                    <a:ext uri="{9D8B030D-6E8A-4147-A177-3AD203B41FA5}">
                      <a16:colId xmlns:a16="http://schemas.microsoft.com/office/drawing/2014/main" val="789233669"/>
                    </a:ext>
                  </a:extLst>
                </a:gridCol>
                <a:gridCol w="3047999">
                  <a:extLst>
                    <a:ext uri="{9D8B030D-6E8A-4147-A177-3AD203B41FA5}">
                      <a16:colId xmlns:a16="http://schemas.microsoft.com/office/drawing/2014/main" val="1624972953"/>
                    </a:ext>
                  </a:extLst>
                </a:gridCol>
                <a:gridCol w="3047999">
                  <a:extLst>
                    <a:ext uri="{9D8B030D-6E8A-4147-A177-3AD203B41FA5}">
                      <a16:colId xmlns:a16="http://schemas.microsoft.com/office/drawing/2014/main" val="950411509"/>
                    </a:ext>
                  </a:extLst>
                </a:gridCol>
                <a:gridCol w="2750176">
                  <a:extLst>
                    <a:ext uri="{9D8B030D-6E8A-4147-A177-3AD203B41FA5}">
                      <a16:colId xmlns:a16="http://schemas.microsoft.com/office/drawing/2014/main" val="3637110560"/>
                    </a:ext>
                  </a:extLst>
                </a:gridCol>
              </a:tblGrid>
              <a:tr h="389049">
                <a:tc>
                  <a:txBody>
                    <a:bodyPr/>
                    <a:lstStyle/>
                    <a:p>
                      <a:pPr algn="l" fontAlgn="t">
                        <a:buNone/>
                      </a:pPr>
                      <a:r>
                        <a:rPr lang="en-US" sz="1800" b="1">
                          <a:solidFill>
                            <a:srgbClr val="000000"/>
                          </a:solidFill>
                          <a:effectLst/>
                        </a:rPr>
                        <a:t>Tiêu </a:t>
                      </a:r>
                      <a:r>
                        <a:rPr lang="en-US" sz="1800" b="1" err="1">
                          <a:solidFill>
                            <a:srgbClr val="000000"/>
                          </a:solidFill>
                          <a:effectLst/>
                        </a:rPr>
                        <a:t>chí</a:t>
                      </a:r>
                      <a:r>
                        <a:rPr lang="en-US" sz="1800" b="1">
                          <a:solidFill>
                            <a:srgbClr val="000000"/>
                          </a:solidFill>
                          <a:effectLst/>
                        </a:rPr>
                        <a:t> so </a:t>
                      </a:r>
                      <a:r>
                        <a:rPr lang="en-US" sz="1800" b="1" err="1">
                          <a:solidFill>
                            <a:srgbClr val="000000"/>
                          </a:solidFill>
                          <a:effectLst/>
                        </a:rPr>
                        <a:t>sánh</a:t>
                      </a:r>
                    </a:p>
                  </a:txBody>
                  <a:tcPr/>
                </a:tc>
                <a:tc>
                  <a:txBody>
                    <a:bodyPr/>
                    <a:lstStyle/>
                    <a:p>
                      <a:pPr algn="l" fontAlgn="t">
                        <a:buNone/>
                      </a:pPr>
                      <a:r>
                        <a:rPr lang="en-US" sz="1800" b="1">
                          <a:solidFill>
                            <a:srgbClr val="000000"/>
                          </a:solidFill>
                          <a:effectLst/>
                        </a:rPr>
                        <a:t>Simple Smoother</a:t>
                      </a:r>
                    </a:p>
                  </a:txBody>
                  <a:tcPr/>
                </a:tc>
                <a:tc>
                  <a:txBody>
                    <a:bodyPr/>
                    <a:lstStyle/>
                    <a:p>
                      <a:pPr algn="l" fontAlgn="t">
                        <a:buNone/>
                      </a:pPr>
                      <a:r>
                        <a:rPr lang="en-US" sz="1800" b="1">
                          <a:solidFill>
                            <a:srgbClr val="000000"/>
                          </a:solidFill>
                          <a:effectLst/>
                        </a:rPr>
                        <a:t>Savitzky–Golay</a:t>
                      </a:r>
                    </a:p>
                  </a:txBody>
                  <a:tcPr/>
                </a:tc>
                <a:tc>
                  <a:txBody>
                    <a:bodyPr/>
                    <a:lstStyle/>
                    <a:p>
                      <a:pPr algn="l" fontAlgn="t">
                        <a:buNone/>
                      </a:pPr>
                      <a:r>
                        <a:rPr lang="en-US" sz="1800" b="1">
                          <a:solidFill>
                            <a:srgbClr val="000000"/>
                          </a:solidFill>
                          <a:effectLst/>
                        </a:rPr>
                        <a:t>Constrained Smoother</a:t>
                      </a:r>
                    </a:p>
                  </a:txBody>
                  <a:tcPr/>
                </a:tc>
                <a:extLst>
                  <a:ext uri="{0D108BD9-81ED-4DB2-BD59-A6C34878D82A}">
                    <a16:rowId xmlns:a16="http://schemas.microsoft.com/office/drawing/2014/main" val="1456650971"/>
                  </a:ext>
                </a:extLst>
              </a:tr>
              <a:tr h="0">
                <a:tc>
                  <a:txBody>
                    <a:bodyPr/>
                    <a:lstStyle/>
                    <a:p>
                      <a:pPr algn="l" fontAlgn="t">
                        <a:buNone/>
                      </a:pPr>
                      <a:r>
                        <a:rPr lang="en-US" sz="1800" b="1" err="1">
                          <a:solidFill>
                            <a:srgbClr val="000000"/>
                          </a:solidFill>
                          <a:effectLst/>
                        </a:rPr>
                        <a:t>Thời</a:t>
                      </a:r>
                      <a:r>
                        <a:rPr lang="en-US" sz="1800" b="1">
                          <a:solidFill>
                            <a:srgbClr val="000000"/>
                          </a:solidFill>
                          <a:effectLst/>
                        </a:rPr>
                        <a:t> </a:t>
                      </a:r>
                      <a:r>
                        <a:rPr lang="en-US" sz="1800" b="1" err="1">
                          <a:solidFill>
                            <a:srgbClr val="000000"/>
                          </a:solidFill>
                          <a:effectLst/>
                        </a:rPr>
                        <a:t>gian</a:t>
                      </a:r>
                      <a:r>
                        <a:rPr lang="en-US" sz="1800" b="1">
                          <a:solidFill>
                            <a:srgbClr val="000000"/>
                          </a:solidFill>
                          <a:effectLst/>
                        </a:rPr>
                        <a:t> </a:t>
                      </a:r>
                      <a:r>
                        <a:rPr lang="en-US" sz="1800" b="1" err="1">
                          <a:solidFill>
                            <a:srgbClr val="000000"/>
                          </a:solidFill>
                          <a:effectLst/>
                        </a:rPr>
                        <a:t>tính</a:t>
                      </a:r>
                      <a:r>
                        <a:rPr lang="en-US" sz="1800" b="1">
                          <a:solidFill>
                            <a:srgbClr val="000000"/>
                          </a:solidFill>
                          <a:effectLst/>
                        </a:rPr>
                        <a:t> </a:t>
                      </a:r>
                      <a:r>
                        <a:rPr lang="en-US" sz="1800" b="1" err="1">
                          <a:solidFill>
                            <a:srgbClr val="000000"/>
                          </a:solidFill>
                          <a:effectLst/>
                        </a:rPr>
                        <a:t>toán</a:t>
                      </a:r>
                      <a:r>
                        <a:rPr lang="en-US" sz="1800" b="1">
                          <a:solidFill>
                            <a:srgbClr val="000000"/>
                          </a:solidFill>
                          <a:effectLst/>
                        </a:rPr>
                        <a:t> (</a:t>
                      </a:r>
                      <a:r>
                        <a:rPr lang="en-US" sz="1800" b="1" err="1">
                          <a:solidFill>
                            <a:srgbClr val="000000"/>
                          </a:solidFill>
                          <a:effectLst/>
                        </a:rPr>
                        <a:t>ms</a:t>
                      </a:r>
                      <a:r>
                        <a:rPr lang="en-US" sz="1800" b="1">
                          <a:solidFill>
                            <a:srgbClr val="000000"/>
                          </a:solidFill>
                          <a:effectLst/>
                        </a:rPr>
                        <a:t>)</a:t>
                      </a:r>
                    </a:p>
                  </a:txBody>
                  <a:tcPr/>
                </a:tc>
                <a:tc>
                  <a:txBody>
                    <a:bodyPr/>
                    <a:lstStyle/>
                    <a:p>
                      <a:pPr algn="l" fontAlgn="t">
                        <a:buNone/>
                      </a:pPr>
                      <a:r>
                        <a:rPr lang="en-US" sz="1800">
                          <a:solidFill>
                            <a:srgbClr val="000000"/>
                          </a:solidFill>
                          <a:effectLst/>
                        </a:rPr>
                        <a:t>0.79 </a:t>
                      </a:r>
                      <a:r>
                        <a:rPr lang="en-US" sz="1800" err="1">
                          <a:solidFill>
                            <a:srgbClr val="000000"/>
                          </a:solidFill>
                          <a:effectLst/>
                        </a:rPr>
                        <a:t>ms</a:t>
                      </a:r>
                    </a:p>
                  </a:txBody>
                  <a:tcPr/>
                </a:tc>
                <a:tc>
                  <a:txBody>
                    <a:bodyPr/>
                    <a:lstStyle/>
                    <a:p>
                      <a:pPr algn="l" fontAlgn="t">
                        <a:buNone/>
                      </a:pPr>
                      <a:r>
                        <a:rPr lang="en-US" sz="1800">
                          <a:solidFill>
                            <a:srgbClr val="000000"/>
                          </a:solidFill>
                          <a:effectLst/>
                        </a:rPr>
                        <a:t>0.09 </a:t>
                      </a:r>
                      <a:r>
                        <a:rPr lang="en-US" sz="1800" err="1">
                          <a:solidFill>
                            <a:srgbClr val="000000"/>
                          </a:solidFill>
                          <a:effectLst/>
                        </a:rPr>
                        <a:t>ms</a:t>
                      </a:r>
                    </a:p>
                  </a:txBody>
                  <a:tcPr/>
                </a:tc>
                <a:tc>
                  <a:txBody>
                    <a:bodyPr/>
                    <a:lstStyle/>
                    <a:p>
                      <a:pPr algn="l" fontAlgn="t">
                        <a:buNone/>
                      </a:pPr>
                      <a:r>
                        <a:rPr lang="en-US" sz="1800">
                          <a:solidFill>
                            <a:srgbClr val="000000"/>
                          </a:solidFill>
                          <a:effectLst/>
                        </a:rPr>
                        <a:t>22.59 </a:t>
                      </a:r>
                      <a:r>
                        <a:rPr lang="en-US" sz="1800" err="1">
                          <a:solidFill>
                            <a:srgbClr val="000000"/>
                          </a:solidFill>
                          <a:effectLst/>
                        </a:rPr>
                        <a:t>ms</a:t>
                      </a:r>
                    </a:p>
                  </a:txBody>
                  <a:tcPr/>
                </a:tc>
                <a:extLst>
                  <a:ext uri="{0D108BD9-81ED-4DB2-BD59-A6C34878D82A}">
                    <a16:rowId xmlns:a16="http://schemas.microsoft.com/office/drawing/2014/main" val="2044060950"/>
                  </a:ext>
                </a:extLst>
              </a:tr>
              <a:tr h="0">
                <a:tc>
                  <a:txBody>
                    <a:bodyPr/>
                    <a:lstStyle/>
                    <a:p>
                      <a:pPr algn="l" fontAlgn="t">
                        <a:buNone/>
                      </a:pPr>
                      <a:r>
                        <a:rPr lang="en-US" sz="1800" b="1" err="1">
                          <a:solidFill>
                            <a:srgbClr val="000000"/>
                          </a:solidFill>
                          <a:effectLst/>
                        </a:rPr>
                        <a:t>Xử</a:t>
                      </a:r>
                      <a:r>
                        <a:rPr lang="en-US" sz="1800" b="1">
                          <a:solidFill>
                            <a:srgbClr val="000000"/>
                          </a:solidFill>
                          <a:effectLst/>
                        </a:rPr>
                        <a:t> </a:t>
                      </a:r>
                      <a:r>
                        <a:rPr lang="en-US" sz="1800" b="1" err="1">
                          <a:solidFill>
                            <a:srgbClr val="000000"/>
                          </a:solidFill>
                          <a:effectLst/>
                        </a:rPr>
                        <a:t>lý</a:t>
                      </a:r>
                      <a:r>
                        <a:rPr lang="en-US" sz="1800" b="1">
                          <a:solidFill>
                            <a:srgbClr val="000000"/>
                          </a:solidFill>
                          <a:effectLst/>
                        </a:rPr>
                        <a:t> </a:t>
                      </a:r>
                      <a:r>
                        <a:rPr lang="en-US" sz="1800" b="1" err="1">
                          <a:solidFill>
                            <a:srgbClr val="000000"/>
                          </a:solidFill>
                          <a:effectLst/>
                        </a:rPr>
                        <a:t>góc</a:t>
                      </a:r>
                      <a:r>
                        <a:rPr lang="en-US" sz="1800" b="1">
                          <a:solidFill>
                            <a:srgbClr val="000000"/>
                          </a:solidFill>
                          <a:effectLst/>
                        </a:rPr>
                        <a:t> </a:t>
                      </a:r>
                      <a:r>
                        <a:rPr lang="en-US" sz="1800" b="1" err="1">
                          <a:solidFill>
                            <a:srgbClr val="000000"/>
                          </a:solidFill>
                          <a:effectLst/>
                        </a:rPr>
                        <a:t>cua</a:t>
                      </a:r>
                      <a:r>
                        <a:rPr lang="en-US" sz="1800" b="1">
                          <a:solidFill>
                            <a:srgbClr val="000000"/>
                          </a:solidFill>
                          <a:effectLst/>
                        </a:rPr>
                        <a:t> </a:t>
                      </a:r>
                      <a:r>
                        <a:rPr lang="en-US" sz="1800" b="1" err="1">
                          <a:solidFill>
                            <a:srgbClr val="000000"/>
                          </a:solidFill>
                          <a:effectLst/>
                        </a:rPr>
                        <a:t>lớn</a:t>
                      </a:r>
                      <a:endParaRPr lang="en-US" sz="1800" b="1">
                        <a:solidFill>
                          <a:srgbClr val="000000"/>
                        </a:solidFill>
                        <a:effectLst/>
                      </a:endParaRPr>
                    </a:p>
                  </a:txBody>
                  <a:tcPr/>
                </a:tc>
                <a:tc>
                  <a:txBody>
                    <a:bodyPr/>
                    <a:lstStyle/>
                    <a:p>
                      <a:pPr algn="l" fontAlgn="t">
                        <a:buNone/>
                      </a:pPr>
                      <a:r>
                        <a:rPr lang="en-US" sz="1800" err="1">
                          <a:solidFill>
                            <a:srgbClr val="000000"/>
                          </a:solidFill>
                          <a:effectLst/>
                        </a:rPr>
                        <a:t>dễ</a:t>
                      </a:r>
                      <a:r>
                        <a:rPr lang="en-US" sz="1800">
                          <a:solidFill>
                            <a:srgbClr val="000000"/>
                          </a:solidFill>
                          <a:effectLst/>
                        </a:rPr>
                        <a:t> </a:t>
                      </a:r>
                      <a:r>
                        <a:rPr lang="en-US" sz="1800" err="1">
                          <a:solidFill>
                            <a:srgbClr val="000000"/>
                          </a:solidFill>
                          <a:effectLst/>
                        </a:rPr>
                        <a:t>cắt</a:t>
                      </a:r>
                      <a:r>
                        <a:rPr lang="en-US" sz="1800">
                          <a:solidFill>
                            <a:srgbClr val="000000"/>
                          </a:solidFill>
                          <a:effectLst/>
                        </a:rPr>
                        <a:t> </a:t>
                      </a:r>
                      <a:r>
                        <a:rPr lang="en-US" sz="1800" err="1">
                          <a:solidFill>
                            <a:srgbClr val="000000"/>
                          </a:solidFill>
                          <a:effectLst/>
                        </a:rPr>
                        <a:t>góc</a:t>
                      </a:r>
                      <a:r>
                        <a:rPr lang="en-US" sz="1800">
                          <a:solidFill>
                            <a:srgbClr val="000000"/>
                          </a:solidFill>
                          <a:effectLst/>
                        </a:rPr>
                        <a:t> </a:t>
                      </a:r>
                      <a:r>
                        <a:rPr lang="en-US" sz="1800" err="1">
                          <a:solidFill>
                            <a:srgbClr val="000000"/>
                          </a:solidFill>
                          <a:effectLst/>
                        </a:rPr>
                        <a:t>gây</a:t>
                      </a:r>
                      <a:r>
                        <a:rPr lang="en-US" sz="1800">
                          <a:solidFill>
                            <a:srgbClr val="000000"/>
                          </a:solidFill>
                          <a:effectLst/>
                        </a:rPr>
                        <a:t> </a:t>
                      </a:r>
                      <a:r>
                        <a:rPr lang="en-US" sz="1800" err="1">
                          <a:solidFill>
                            <a:srgbClr val="000000"/>
                          </a:solidFill>
                          <a:effectLst/>
                        </a:rPr>
                        <a:t>va</a:t>
                      </a:r>
                      <a:r>
                        <a:rPr lang="en-US" sz="1800">
                          <a:solidFill>
                            <a:srgbClr val="000000"/>
                          </a:solidFill>
                          <a:effectLst/>
                        </a:rPr>
                        <a:t> </a:t>
                      </a:r>
                      <a:r>
                        <a:rPr lang="en-US" sz="1800" err="1">
                          <a:solidFill>
                            <a:srgbClr val="000000"/>
                          </a:solidFill>
                          <a:effectLst/>
                        </a:rPr>
                        <a:t>chạm</a:t>
                      </a:r>
                    </a:p>
                  </a:txBody>
                  <a:tcPr/>
                </a:tc>
                <a:tc>
                  <a:txBody>
                    <a:bodyPr/>
                    <a:lstStyle/>
                    <a:p>
                      <a:pPr algn="l" fontAlgn="t">
                        <a:buNone/>
                      </a:pPr>
                      <a:r>
                        <a:rPr lang="en-US" sz="1800" err="1">
                          <a:solidFill>
                            <a:srgbClr val="000000"/>
                          </a:solidFill>
                          <a:effectLst/>
                        </a:rPr>
                        <a:t>hầu</a:t>
                      </a:r>
                      <a:r>
                        <a:rPr lang="en-US" sz="1800">
                          <a:solidFill>
                            <a:srgbClr val="000000"/>
                          </a:solidFill>
                          <a:effectLst/>
                        </a:rPr>
                        <a:t> </a:t>
                      </a:r>
                      <a:r>
                        <a:rPr lang="en-US" sz="1800" err="1">
                          <a:solidFill>
                            <a:srgbClr val="000000"/>
                          </a:solidFill>
                          <a:effectLst/>
                        </a:rPr>
                        <a:t>như</a:t>
                      </a:r>
                      <a:r>
                        <a:rPr lang="en-US" sz="1800">
                          <a:solidFill>
                            <a:srgbClr val="000000"/>
                          </a:solidFill>
                          <a:effectLst/>
                        </a:rPr>
                        <a:t> </a:t>
                      </a:r>
                      <a:r>
                        <a:rPr lang="en-US" sz="1800" err="1">
                          <a:solidFill>
                            <a:srgbClr val="000000"/>
                          </a:solidFill>
                          <a:effectLst/>
                        </a:rPr>
                        <a:t>không</a:t>
                      </a:r>
                      <a:r>
                        <a:rPr lang="en-US" sz="1800">
                          <a:solidFill>
                            <a:srgbClr val="000000"/>
                          </a:solidFill>
                          <a:effectLst/>
                        </a:rPr>
                        <a:t> </a:t>
                      </a:r>
                      <a:r>
                        <a:rPr lang="en-US" sz="1800" err="1">
                          <a:solidFill>
                            <a:srgbClr val="000000"/>
                          </a:solidFill>
                          <a:effectLst/>
                        </a:rPr>
                        <a:t>giảm</a:t>
                      </a:r>
                      <a:r>
                        <a:rPr lang="en-US" sz="1800">
                          <a:solidFill>
                            <a:srgbClr val="000000"/>
                          </a:solidFill>
                          <a:effectLst/>
                        </a:rPr>
                        <a:t> </a:t>
                      </a:r>
                      <a:r>
                        <a:rPr lang="en-US" sz="1800" err="1">
                          <a:solidFill>
                            <a:srgbClr val="000000"/>
                          </a:solidFill>
                          <a:effectLst/>
                        </a:rPr>
                        <a:t>được</a:t>
                      </a:r>
                      <a:r>
                        <a:rPr lang="en-US" sz="1800">
                          <a:solidFill>
                            <a:srgbClr val="000000"/>
                          </a:solidFill>
                          <a:effectLst/>
                        </a:rPr>
                        <a:t> </a:t>
                      </a:r>
                      <a:r>
                        <a:rPr lang="en-US" sz="1800" err="1">
                          <a:solidFill>
                            <a:srgbClr val="000000"/>
                          </a:solidFill>
                          <a:effectLst/>
                        </a:rPr>
                        <a:t>góc</a:t>
                      </a:r>
                      <a:r>
                        <a:rPr lang="en-US" sz="1800">
                          <a:solidFill>
                            <a:srgbClr val="000000"/>
                          </a:solidFill>
                          <a:effectLst/>
                        </a:rPr>
                        <a:t> </a:t>
                      </a:r>
                      <a:r>
                        <a:rPr lang="en-US" sz="1800" err="1">
                          <a:solidFill>
                            <a:srgbClr val="000000"/>
                          </a:solidFill>
                          <a:effectLst/>
                        </a:rPr>
                        <a:t>gãy</a:t>
                      </a:r>
                      <a:r>
                        <a:rPr lang="en-US" sz="1800">
                          <a:solidFill>
                            <a:srgbClr val="000000"/>
                          </a:solidFill>
                          <a:effectLst/>
                        </a:rPr>
                        <a:t> </a:t>
                      </a:r>
                      <a:r>
                        <a:rPr lang="en-US" sz="1800" err="1">
                          <a:solidFill>
                            <a:srgbClr val="000000"/>
                          </a:solidFill>
                          <a:effectLst/>
                        </a:rPr>
                        <a:t>lớn</a:t>
                      </a:r>
                    </a:p>
                  </a:txBody>
                  <a:tcPr/>
                </a:tc>
                <a:tc>
                  <a:txBody>
                    <a:bodyPr/>
                    <a:lstStyle/>
                    <a:p>
                      <a:pPr algn="l" fontAlgn="t">
                        <a:buNone/>
                      </a:pPr>
                      <a:r>
                        <a:rPr lang="en-US" sz="1800">
                          <a:solidFill>
                            <a:srgbClr val="000000"/>
                          </a:solidFill>
                          <a:effectLst/>
                        </a:rPr>
                        <a:t> </a:t>
                      </a:r>
                      <a:r>
                        <a:rPr lang="en-US" sz="1800" err="1">
                          <a:solidFill>
                            <a:srgbClr val="000000"/>
                          </a:solidFill>
                          <a:effectLst/>
                        </a:rPr>
                        <a:t>tốn</a:t>
                      </a:r>
                      <a:r>
                        <a:rPr lang="en-US" sz="1800">
                          <a:solidFill>
                            <a:srgbClr val="000000"/>
                          </a:solidFill>
                          <a:effectLst/>
                        </a:rPr>
                        <a:t> </a:t>
                      </a:r>
                      <a:r>
                        <a:rPr lang="en-US" sz="1800" err="1">
                          <a:solidFill>
                            <a:srgbClr val="000000"/>
                          </a:solidFill>
                          <a:effectLst/>
                        </a:rPr>
                        <a:t>tài</a:t>
                      </a:r>
                      <a:r>
                        <a:rPr lang="en-US" sz="1800">
                          <a:solidFill>
                            <a:srgbClr val="000000"/>
                          </a:solidFill>
                          <a:effectLst/>
                        </a:rPr>
                        <a:t> </a:t>
                      </a:r>
                      <a:r>
                        <a:rPr lang="en-US" sz="1800" err="1">
                          <a:solidFill>
                            <a:srgbClr val="000000"/>
                          </a:solidFill>
                          <a:effectLst/>
                        </a:rPr>
                        <a:t>nguyên</a:t>
                      </a:r>
                      <a:r>
                        <a:rPr lang="en-US" sz="1800">
                          <a:solidFill>
                            <a:srgbClr val="000000"/>
                          </a:solidFill>
                          <a:effectLst/>
                        </a:rPr>
                        <a:t> </a:t>
                      </a:r>
                      <a:r>
                        <a:rPr lang="en-US" sz="1800" err="1">
                          <a:solidFill>
                            <a:srgbClr val="000000"/>
                          </a:solidFill>
                          <a:effectLst/>
                        </a:rPr>
                        <a:t>tối</a:t>
                      </a:r>
                      <a:r>
                        <a:rPr lang="en-US" sz="1800">
                          <a:solidFill>
                            <a:srgbClr val="000000"/>
                          </a:solidFill>
                          <a:effectLst/>
                        </a:rPr>
                        <a:t> </a:t>
                      </a:r>
                      <a:r>
                        <a:rPr lang="en-US" sz="1800" err="1">
                          <a:solidFill>
                            <a:srgbClr val="000000"/>
                          </a:solidFill>
                          <a:effectLst/>
                        </a:rPr>
                        <a:t>ưu</a:t>
                      </a:r>
                    </a:p>
                  </a:txBody>
                  <a:tcPr/>
                </a:tc>
                <a:extLst>
                  <a:ext uri="{0D108BD9-81ED-4DB2-BD59-A6C34878D82A}">
                    <a16:rowId xmlns:a16="http://schemas.microsoft.com/office/drawing/2014/main" val="2962182609"/>
                  </a:ext>
                </a:extLst>
              </a:tr>
              <a:tr h="0">
                <a:tc>
                  <a:txBody>
                    <a:bodyPr/>
                    <a:lstStyle/>
                    <a:p>
                      <a:pPr algn="l" fontAlgn="t">
                        <a:buNone/>
                      </a:pPr>
                      <a:r>
                        <a:rPr lang="en-US" sz="1800" b="1" err="1">
                          <a:solidFill>
                            <a:srgbClr val="000000"/>
                          </a:solidFill>
                          <a:effectLst/>
                        </a:rPr>
                        <a:t>Độ</a:t>
                      </a:r>
                      <a:r>
                        <a:rPr lang="en-US" sz="1800" b="1">
                          <a:solidFill>
                            <a:srgbClr val="000000"/>
                          </a:solidFill>
                          <a:effectLst/>
                        </a:rPr>
                        <a:t> an </a:t>
                      </a:r>
                      <a:r>
                        <a:rPr lang="en-US" sz="1800" b="1" err="1">
                          <a:solidFill>
                            <a:srgbClr val="000000"/>
                          </a:solidFill>
                          <a:effectLst/>
                        </a:rPr>
                        <a:t>toàn</a:t>
                      </a:r>
                      <a:r>
                        <a:rPr lang="en-US" sz="1800" b="1">
                          <a:solidFill>
                            <a:srgbClr val="000000"/>
                          </a:solidFill>
                          <a:effectLst/>
                        </a:rPr>
                        <a:t> (</a:t>
                      </a:r>
                      <a:r>
                        <a:rPr lang="en-US" sz="1800" b="1" err="1">
                          <a:solidFill>
                            <a:srgbClr val="000000"/>
                          </a:solidFill>
                          <a:effectLst/>
                        </a:rPr>
                        <a:t>Costmap</a:t>
                      </a:r>
                      <a:r>
                        <a:rPr lang="en-US" sz="1800" b="1">
                          <a:solidFill>
                            <a:srgbClr val="000000"/>
                          </a:solidFill>
                          <a:effectLst/>
                        </a:rPr>
                        <a:t>/Footprint)</a:t>
                      </a:r>
                    </a:p>
                  </a:txBody>
                  <a:tcPr/>
                </a:tc>
                <a:tc>
                  <a:txBody>
                    <a:bodyPr/>
                    <a:lstStyle/>
                    <a:p>
                      <a:pPr algn="l" fontAlgn="t">
                        <a:buNone/>
                      </a:pPr>
                      <a:r>
                        <a:rPr lang="en-US" sz="1800" err="1">
                          <a:solidFill>
                            <a:srgbClr val="000000"/>
                          </a:solidFill>
                          <a:effectLst/>
                        </a:rPr>
                        <a:t>Không</a:t>
                      </a:r>
                      <a:r>
                        <a:rPr lang="en-US" sz="1800">
                          <a:solidFill>
                            <a:srgbClr val="000000"/>
                          </a:solidFill>
                          <a:effectLst/>
                        </a:rPr>
                        <a:t> </a:t>
                      </a:r>
                      <a:r>
                        <a:rPr lang="en-US" sz="1800" err="1">
                          <a:solidFill>
                            <a:srgbClr val="000000"/>
                          </a:solidFill>
                          <a:effectLst/>
                        </a:rPr>
                        <a:t>hỗ</a:t>
                      </a:r>
                      <a:r>
                        <a:rPr lang="en-US" sz="1800">
                          <a:solidFill>
                            <a:srgbClr val="000000"/>
                          </a:solidFill>
                          <a:effectLst/>
                        </a:rPr>
                        <a:t> </a:t>
                      </a:r>
                      <a:r>
                        <a:rPr lang="en-US" sz="1800" err="1">
                          <a:solidFill>
                            <a:srgbClr val="000000"/>
                          </a:solidFill>
                          <a:effectLst/>
                        </a:rPr>
                        <a:t>trợ</a:t>
                      </a:r>
                      <a:r>
                        <a:rPr lang="en-US" sz="1800">
                          <a:solidFill>
                            <a:srgbClr val="000000"/>
                          </a:solidFill>
                          <a:effectLst/>
                        </a:rPr>
                        <a:t> </a:t>
                      </a:r>
                    </a:p>
                  </a:txBody>
                  <a:tcPr/>
                </a:tc>
                <a:tc>
                  <a:txBody>
                    <a:bodyPr/>
                    <a:lstStyle/>
                    <a:p>
                      <a:pPr algn="l" fontAlgn="t">
                        <a:buNone/>
                      </a:pPr>
                      <a:r>
                        <a:rPr lang="en-US" sz="1800" err="1">
                          <a:solidFill>
                            <a:srgbClr val="000000"/>
                          </a:solidFill>
                          <a:effectLst/>
                        </a:rPr>
                        <a:t>Không</a:t>
                      </a:r>
                      <a:r>
                        <a:rPr lang="en-US" sz="1800">
                          <a:solidFill>
                            <a:srgbClr val="000000"/>
                          </a:solidFill>
                          <a:effectLst/>
                        </a:rPr>
                        <a:t> </a:t>
                      </a:r>
                      <a:r>
                        <a:rPr lang="en-US" sz="1800" err="1">
                          <a:solidFill>
                            <a:srgbClr val="000000"/>
                          </a:solidFill>
                          <a:effectLst/>
                        </a:rPr>
                        <a:t>hỗ</a:t>
                      </a:r>
                      <a:r>
                        <a:rPr lang="en-US" sz="1800">
                          <a:solidFill>
                            <a:srgbClr val="000000"/>
                          </a:solidFill>
                          <a:effectLst/>
                        </a:rPr>
                        <a:t> </a:t>
                      </a:r>
                      <a:r>
                        <a:rPr lang="en-US" sz="1800" err="1">
                          <a:solidFill>
                            <a:srgbClr val="000000"/>
                          </a:solidFill>
                          <a:effectLst/>
                        </a:rPr>
                        <a:t>trợ</a:t>
                      </a:r>
                      <a:r>
                        <a:rPr lang="en-US" sz="1800">
                          <a:solidFill>
                            <a:srgbClr val="000000"/>
                          </a:solidFill>
                          <a:effectLst/>
                        </a:rPr>
                        <a:t> </a:t>
                      </a:r>
                    </a:p>
                  </a:txBody>
                  <a:tcPr/>
                </a:tc>
                <a:tc>
                  <a:txBody>
                    <a:bodyPr/>
                    <a:lstStyle/>
                    <a:p>
                      <a:pPr algn="l" fontAlgn="t">
                        <a:buNone/>
                      </a:pPr>
                      <a:r>
                        <a:rPr lang="en-US" sz="1800" err="1">
                          <a:solidFill>
                            <a:srgbClr val="000000"/>
                          </a:solidFill>
                          <a:effectLst/>
                        </a:rPr>
                        <a:t>Tốt</a:t>
                      </a:r>
                      <a:r>
                        <a:rPr lang="en-US" sz="1800">
                          <a:solidFill>
                            <a:srgbClr val="000000"/>
                          </a:solidFill>
                          <a:effectLst/>
                        </a:rPr>
                        <a:t> </a:t>
                      </a:r>
                    </a:p>
                  </a:txBody>
                  <a:tcPr/>
                </a:tc>
                <a:extLst>
                  <a:ext uri="{0D108BD9-81ED-4DB2-BD59-A6C34878D82A}">
                    <a16:rowId xmlns:a16="http://schemas.microsoft.com/office/drawing/2014/main" val="1363096099"/>
                  </a:ext>
                </a:extLst>
              </a:tr>
              <a:tr h="0">
                <a:tc>
                  <a:txBody>
                    <a:bodyPr/>
                    <a:lstStyle/>
                    <a:p>
                      <a:pPr algn="l" fontAlgn="t">
                        <a:buNone/>
                      </a:pPr>
                      <a:r>
                        <a:rPr lang="en-US" sz="1800" b="1" err="1">
                          <a:solidFill>
                            <a:srgbClr val="000000"/>
                          </a:solidFill>
                          <a:effectLst/>
                        </a:rPr>
                        <a:t>Tính</a:t>
                      </a:r>
                      <a:r>
                        <a:rPr lang="en-US" sz="1800" b="1">
                          <a:solidFill>
                            <a:srgbClr val="000000"/>
                          </a:solidFill>
                          <a:effectLst/>
                        </a:rPr>
                        <a:t> </a:t>
                      </a:r>
                      <a:r>
                        <a:rPr lang="en-US" sz="1800" b="1" err="1">
                          <a:solidFill>
                            <a:srgbClr val="000000"/>
                          </a:solidFill>
                          <a:effectLst/>
                        </a:rPr>
                        <a:t>khả</a:t>
                      </a:r>
                      <a:r>
                        <a:rPr lang="en-US" sz="1800" b="1">
                          <a:solidFill>
                            <a:srgbClr val="000000"/>
                          </a:solidFill>
                          <a:effectLst/>
                        </a:rPr>
                        <a:t> </a:t>
                      </a:r>
                      <a:r>
                        <a:rPr lang="en-US" sz="1800" b="1" err="1">
                          <a:solidFill>
                            <a:srgbClr val="000000"/>
                          </a:solidFill>
                          <a:effectLst/>
                        </a:rPr>
                        <a:t>thi</a:t>
                      </a:r>
                      <a:r>
                        <a:rPr lang="en-US" sz="1800" b="1">
                          <a:solidFill>
                            <a:srgbClr val="000000"/>
                          </a:solidFill>
                          <a:effectLst/>
                        </a:rPr>
                        <a:t> </a:t>
                      </a:r>
                      <a:r>
                        <a:rPr lang="en-US" sz="1800" b="1" err="1">
                          <a:solidFill>
                            <a:srgbClr val="000000"/>
                          </a:solidFill>
                          <a:effectLst/>
                        </a:rPr>
                        <a:t>động</a:t>
                      </a:r>
                      <a:r>
                        <a:rPr lang="en-US" sz="1800" b="1">
                          <a:solidFill>
                            <a:srgbClr val="000000"/>
                          </a:solidFill>
                          <a:effectLst/>
                        </a:rPr>
                        <a:t> </a:t>
                      </a:r>
                      <a:r>
                        <a:rPr lang="en-US" sz="1800" b="1" err="1">
                          <a:solidFill>
                            <a:srgbClr val="000000"/>
                          </a:solidFill>
                          <a:effectLst/>
                        </a:rPr>
                        <a:t>lực</a:t>
                      </a:r>
                      <a:r>
                        <a:rPr lang="en-US" sz="1800" b="1">
                          <a:solidFill>
                            <a:srgbClr val="000000"/>
                          </a:solidFill>
                          <a:effectLst/>
                        </a:rPr>
                        <a:t> </a:t>
                      </a:r>
                      <a:r>
                        <a:rPr lang="en-US" sz="1800" b="1" err="1">
                          <a:solidFill>
                            <a:srgbClr val="000000"/>
                          </a:solidFill>
                          <a:effectLst/>
                        </a:rPr>
                        <a:t>học</a:t>
                      </a:r>
                      <a:endParaRPr lang="en-US" sz="1800" b="1">
                        <a:solidFill>
                          <a:srgbClr val="000000"/>
                        </a:solidFill>
                        <a:effectLst/>
                      </a:endParaRPr>
                    </a:p>
                  </a:txBody>
                  <a:tcPr/>
                </a:tc>
                <a:tc>
                  <a:txBody>
                    <a:bodyPr/>
                    <a:lstStyle/>
                    <a:p>
                      <a:pPr algn="l" fontAlgn="t">
                        <a:buNone/>
                      </a:pPr>
                      <a:r>
                        <a:rPr lang="en-US" sz="1800" err="1">
                          <a:solidFill>
                            <a:srgbClr val="000000"/>
                          </a:solidFill>
                          <a:effectLst/>
                        </a:rPr>
                        <a:t>Kém</a:t>
                      </a:r>
                      <a:r>
                        <a:rPr lang="en-US" sz="1800">
                          <a:solidFill>
                            <a:srgbClr val="000000"/>
                          </a:solidFill>
                          <a:effectLst/>
                        </a:rPr>
                        <a:t> (</a:t>
                      </a:r>
                      <a:r>
                        <a:rPr lang="en-US" sz="1800" err="1">
                          <a:solidFill>
                            <a:srgbClr val="000000"/>
                          </a:solidFill>
                          <a:effectLst/>
                        </a:rPr>
                        <a:t>không</a:t>
                      </a:r>
                      <a:r>
                        <a:rPr lang="en-US" sz="1800">
                          <a:solidFill>
                            <a:srgbClr val="000000"/>
                          </a:solidFill>
                          <a:effectLst/>
                        </a:rPr>
                        <a:t> </a:t>
                      </a:r>
                      <a:r>
                        <a:rPr lang="en-US" sz="1800" err="1">
                          <a:solidFill>
                            <a:srgbClr val="000000"/>
                          </a:solidFill>
                          <a:effectLst/>
                        </a:rPr>
                        <a:t>kiểm</a:t>
                      </a:r>
                      <a:r>
                        <a:rPr lang="en-US" sz="1800">
                          <a:solidFill>
                            <a:srgbClr val="000000"/>
                          </a:solidFill>
                          <a:effectLst/>
                        </a:rPr>
                        <a:t> </a:t>
                      </a:r>
                      <a:r>
                        <a:rPr lang="en-US" sz="1800" err="1">
                          <a:solidFill>
                            <a:srgbClr val="000000"/>
                          </a:solidFill>
                          <a:effectLst/>
                        </a:rPr>
                        <a:t>soát</a:t>
                      </a:r>
                      <a:r>
                        <a:rPr lang="en-US" sz="1800">
                          <a:solidFill>
                            <a:srgbClr val="000000"/>
                          </a:solidFill>
                          <a:effectLst/>
                        </a:rPr>
                        <a:t> </a:t>
                      </a:r>
                      <a:r>
                        <a:rPr lang="en-US" sz="1800" err="1">
                          <a:solidFill>
                            <a:srgbClr val="000000"/>
                          </a:solidFill>
                          <a:effectLst/>
                        </a:rPr>
                        <a:t>được</a:t>
                      </a:r>
                      <a:r>
                        <a:rPr lang="en-US" sz="1800">
                          <a:solidFill>
                            <a:srgbClr val="000000"/>
                          </a:solidFill>
                          <a:effectLst/>
                        </a:rPr>
                        <a:t> </a:t>
                      </a:r>
                      <a:r>
                        <a:rPr lang="en-US" sz="1800" err="1">
                          <a:solidFill>
                            <a:srgbClr val="000000"/>
                          </a:solidFill>
                          <a:effectLst/>
                        </a:rPr>
                        <a:t>gia</a:t>
                      </a:r>
                      <a:r>
                        <a:rPr lang="en-US" sz="1800">
                          <a:solidFill>
                            <a:srgbClr val="000000"/>
                          </a:solidFill>
                          <a:effectLst/>
                        </a:rPr>
                        <a:t> </a:t>
                      </a:r>
                      <a:r>
                        <a:rPr lang="en-US" sz="1800" err="1">
                          <a:solidFill>
                            <a:srgbClr val="000000"/>
                          </a:solidFill>
                          <a:effectLst/>
                        </a:rPr>
                        <a:t>tốc</a:t>
                      </a:r>
                      <a:r>
                        <a:rPr lang="en-US" sz="1800">
                          <a:solidFill>
                            <a:srgbClr val="000000"/>
                          </a:solidFill>
                          <a:effectLst/>
                        </a:rPr>
                        <a:t>/</a:t>
                      </a:r>
                      <a:r>
                        <a:rPr lang="en-US" sz="1800" err="1">
                          <a:solidFill>
                            <a:srgbClr val="000000"/>
                          </a:solidFill>
                          <a:effectLst/>
                        </a:rPr>
                        <a:t>độ</a:t>
                      </a:r>
                      <a:r>
                        <a:rPr lang="en-US" sz="1800">
                          <a:solidFill>
                            <a:srgbClr val="000000"/>
                          </a:solidFill>
                          <a:effectLst/>
                        </a:rPr>
                        <a:t> </a:t>
                      </a:r>
                      <a:r>
                        <a:rPr lang="en-US" sz="1800" err="1">
                          <a:solidFill>
                            <a:srgbClr val="000000"/>
                          </a:solidFill>
                          <a:effectLst/>
                        </a:rPr>
                        <a:t>cong</a:t>
                      </a:r>
                      <a:r>
                        <a:rPr lang="en-US" sz="1800">
                          <a:solidFill>
                            <a:srgbClr val="000000"/>
                          </a:solidFill>
                          <a:effectLst/>
                        </a:rPr>
                        <a:t>)</a:t>
                      </a:r>
                    </a:p>
                  </a:txBody>
                  <a:tcPr/>
                </a:tc>
                <a:tc>
                  <a:txBody>
                    <a:bodyPr/>
                    <a:lstStyle/>
                    <a:p>
                      <a:pPr algn="l" fontAlgn="t">
                        <a:buNone/>
                      </a:pPr>
                      <a:r>
                        <a:rPr lang="en-US" sz="1800" err="1">
                          <a:solidFill>
                            <a:srgbClr val="000000"/>
                          </a:solidFill>
                          <a:effectLst/>
                        </a:rPr>
                        <a:t>Kém</a:t>
                      </a:r>
                      <a:r>
                        <a:rPr lang="en-US" sz="1800">
                          <a:solidFill>
                            <a:srgbClr val="000000"/>
                          </a:solidFill>
                          <a:effectLst/>
                        </a:rPr>
                        <a:t> (</a:t>
                      </a:r>
                      <a:r>
                        <a:rPr lang="en-US" sz="1800" err="1">
                          <a:solidFill>
                            <a:srgbClr val="000000"/>
                          </a:solidFill>
                          <a:effectLst/>
                        </a:rPr>
                        <a:t>chỉ</a:t>
                      </a:r>
                      <a:r>
                        <a:rPr lang="en-US" sz="1800">
                          <a:solidFill>
                            <a:srgbClr val="000000"/>
                          </a:solidFill>
                          <a:effectLst/>
                        </a:rPr>
                        <a:t> </a:t>
                      </a:r>
                      <a:r>
                        <a:rPr lang="en-US" sz="1800" err="1">
                          <a:solidFill>
                            <a:srgbClr val="000000"/>
                          </a:solidFill>
                          <a:effectLst/>
                        </a:rPr>
                        <a:t>lọc</a:t>
                      </a:r>
                      <a:r>
                        <a:rPr lang="en-US" sz="1800">
                          <a:solidFill>
                            <a:srgbClr val="000000"/>
                          </a:solidFill>
                          <a:effectLst/>
                        </a:rPr>
                        <a:t> </a:t>
                      </a:r>
                      <a:r>
                        <a:rPr lang="en-US" sz="1800" err="1">
                          <a:solidFill>
                            <a:srgbClr val="000000"/>
                          </a:solidFill>
                          <a:effectLst/>
                        </a:rPr>
                        <a:t>nhiễu</a:t>
                      </a:r>
                      <a:r>
                        <a:rPr lang="en-US" sz="1800">
                          <a:solidFill>
                            <a:srgbClr val="000000"/>
                          </a:solidFill>
                          <a:effectLst/>
                        </a:rPr>
                        <a:t> </a:t>
                      </a:r>
                      <a:r>
                        <a:rPr lang="en-US" sz="1800" err="1">
                          <a:solidFill>
                            <a:srgbClr val="000000"/>
                          </a:solidFill>
                          <a:effectLst/>
                        </a:rPr>
                        <a:t>tần</a:t>
                      </a:r>
                      <a:r>
                        <a:rPr lang="en-US" sz="1800">
                          <a:solidFill>
                            <a:srgbClr val="000000"/>
                          </a:solidFill>
                          <a:effectLst/>
                        </a:rPr>
                        <a:t> </a:t>
                      </a:r>
                      <a:r>
                        <a:rPr lang="en-US" sz="1800" err="1">
                          <a:solidFill>
                            <a:srgbClr val="000000"/>
                          </a:solidFill>
                          <a:effectLst/>
                        </a:rPr>
                        <a:t>số</a:t>
                      </a:r>
                      <a:r>
                        <a:rPr lang="en-US" sz="1800">
                          <a:solidFill>
                            <a:srgbClr val="000000"/>
                          </a:solidFill>
                          <a:effectLst/>
                        </a:rPr>
                        <a:t> </a:t>
                      </a:r>
                      <a:r>
                        <a:rPr lang="en-US" sz="1800" err="1">
                          <a:solidFill>
                            <a:srgbClr val="000000"/>
                          </a:solidFill>
                          <a:effectLst/>
                        </a:rPr>
                        <a:t>cao</a:t>
                      </a:r>
                      <a:r>
                        <a:rPr lang="en-US" sz="1800">
                          <a:solidFill>
                            <a:srgbClr val="000000"/>
                          </a:solidFill>
                          <a:effectLst/>
                        </a:rPr>
                        <a:t>)</a:t>
                      </a:r>
                    </a:p>
                  </a:txBody>
                  <a:tcPr/>
                </a:tc>
                <a:tc>
                  <a:txBody>
                    <a:bodyPr/>
                    <a:lstStyle/>
                    <a:p>
                      <a:pPr algn="l" fontAlgn="t">
                        <a:buNone/>
                      </a:pPr>
                      <a:r>
                        <a:rPr lang="en-US" sz="1800">
                          <a:solidFill>
                            <a:srgbClr val="000000"/>
                          </a:solidFill>
                          <a:effectLst/>
                        </a:rPr>
                        <a:t>Trung </a:t>
                      </a:r>
                      <a:r>
                        <a:rPr lang="en-US" sz="1800" err="1">
                          <a:solidFill>
                            <a:srgbClr val="000000"/>
                          </a:solidFill>
                          <a:effectLst/>
                        </a:rPr>
                        <a:t>bình</a:t>
                      </a:r>
                      <a:r>
                        <a:rPr lang="en-US" sz="1800">
                          <a:solidFill>
                            <a:srgbClr val="000000"/>
                          </a:solidFill>
                          <a:effectLst/>
                        </a:rPr>
                        <a:t> (</a:t>
                      </a:r>
                      <a:r>
                        <a:rPr lang="en-US" sz="1800" err="1">
                          <a:solidFill>
                            <a:srgbClr val="000000"/>
                          </a:solidFill>
                          <a:effectLst/>
                        </a:rPr>
                        <a:t>phụ</a:t>
                      </a:r>
                      <a:r>
                        <a:rPr lang="en-US" sz="1800">
                          <a:solidFill>
                            <a:srgbClr val="000000"/>
                          </a:solidFill>
                          <a:effectLst/>
                        </a:rPr>
                        <a:t> </a:t>
                      </a:r>
                      <a:r>
                        <a:rPr lang="en-US" sz="1800" err="1">
                          <a:solidFill>
                            <a:srgbClr val="000000"/>
                          </a:solidFill>
                          <a:effectLst/>
                        </a:rPr>
                        <a:t>thuộc</a:t>
                      </a:r>
                      <a:r>
                        <a:rPr lang="en-US" sz="1800">
                          <a:solidFill>
                            <a:srgbClr val="000000"/>
                          </a:solidFill>
                          <a:effectLst/>
                        </a:rPr>
                        <a:t> </a:t>
                      </a:r>
                      <a:r>
                        <a:rPr lang="en-US" sz="1800" err="1">
                          <a:solidFill>
                            <a:srgbClr val="000000"/>
                          </a:solidFill>
                          <a:effectLst/>
                        </a:rPr>
                        <a:t>mạnh</a:t>
                      </a:r>
                      <a:r>
                        <a:rPr lang="en-US" sz="1800">
                          <a:solidFill>
                            <a:srgbClr val="000000"/>
                          </a:solidFill>
                          <a:effectLst/>
                        </a:rPr>
                        <a:t> </a:t>
                      </a:r>
                      <a:r>
                        <a:rPr lang="en-US" sz="1800" err="1">
                          <a:solidFill>
                            <a:srgbClr val="000000"/>
                          </a:solidFill>
                          <a:effectLst/>
                        </a:rPr>
                        <a:t>vào</a:t>
                      </a:r>
                      <a:r>
                        <a:rPr lang="en-US" sz="1800">
                          <a:solidFill>
                            <a:srgbClr val="000000"/>
                          </a:solidFill>
                          <a:effectLst/>
                        </a:rPr>
                        <a:t> </a:t>
                      </a:r>
                      <a:r>
                        <a:rPr lang="en-US" sz="1800" err="1">
                          <a:solidFill>
                            <a:srgbClr val="000000"/>
                          </a:solidFill>
                          <a:effectLst/>
                        </a:rPr>
                        <a:t>hàm</a:t>
                      </a:r>
                      <a:r>
                        <a:rPr lang="en-US" sz="1800">
                          <a:solidFill>
                            <a:srgbClr val="000000"/>
                          </a:solidFill>
                          <a:effectLst/>
                        </a:rPr>
                        <a:t> </a:t>
                      </a:r>
                      <a:r>
                        <a:rPr lang="en-US" sz="1800" err="1">
                          <a:solidFill>
                            <a:srgbClr val="000000"/>
                          </a:solidFill>
                          <a:effectLst/>
                        </a:rPr>
                        <a:t>phạt</a:t>
                      </a:r>
                      <a:r>
                        <a:rPr lang="en-US" sz="1800">
                          <a:solidFill>
                            <a:srgbClr val="000000"/>
                          </a:solidFill>
                          <a:effectLst/>
                        </a:rPr>
                        <a:t> κ)</a:t>
                      </a:r>
                    </a:p>
                  </a:txBody>
                  <a:tcPr/>
                </a:tc>
                <a:extLst>
                  <a:ext uri="{0D108BD9-81ED-4DB2-BD59-A6C34878D82A}">
                    <a16:rowId xmlns:a16="http://schemas.microsoft.com/office/drawing/2014/main" val="3189218412"/>
                  </a:ext>
                </a:extLst>
              </a:tr>
            </a:tbl>
          </a:graphicData>
        </a:graphic>
      </p:graphicFrame>
      <p:sp>
        <p:nvSpPr>
          <p:cNvPr id="5" name="TextBox 4">
            <a:extLst>
              <a:ext uri="{FF2B5EF4-FFF2-40B4-BE49-F238E27FC236}">
                <a16:creationId xmlns:a16="http://schemas.microsoft.com/office/drawing/2014/main" id="{3D65B93D-BA16-498B-B57A-366942142AB5}"/>
              </a:ext>
            </a:extLst>
          </p:cNvPr>
          <p:cNvSpPr txBox="1"/>
          <p:nvPr/>
        </p:nvSpPr>
        <p:spPr>
          <a:xfrm>
            <a:off x="88605" y="3429000"/>
            <a:ext cx="1170467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000000"/>
                </a:solidFill>
                <a:latin typeface="Arial"/>
                <a:cs typeface="Arial"/>
              </a:rPr>
              <a:t>Sự</a:t>
            </a:r>
            <a:r>
              <a:rPr lang="en-US">
                <a:solidFill>
                  <a:srgbClr val="000000"/>
                </a:solidFill>
                <a:latin typeface="Arial"/>
                <a:cs typeface="Arial"/>
              </a:rPr>
              <a:t> </a:t>
            </a:r>
            <a:r>
              <a:rPr lang="en-US" err="1">
                <a:solidFill>
                  <a:srgbClr val="000000"/>
                </a:solidFill>
                <a:latin typeface="Arial"/>
                <a:cs typeface="Arial"/>
              </a:rPr>
              <a:t>hạn</a:t>
            </a:r>
            <a:r>
              <a:rPr lang="en-US">
                <a:solidFill>
                  <a:srgbClr val="000000"/>
                </a:solidFill>
                <a:latin typeface="Arial"/>
                <a:cs typeface="Arial"/>
              </a:rPr>
              <a:t> </a:t>
            </a:r>
            <a:r>
              <a:rPr lang="en-US" err="1">
                <a:solidFill>
                  <a:srgbClr val="000000"/>
                </a:solidFill>
                <a:latin typeface="Arial"/>
                <a:cs typeface="Arial"/>
              </a:rPr>
              <a:t>chế</a:t>
            </a:r>
            <a:r>
              <a:rPr lang="en-US">
                <a:solidFill>
                  <a:srgbClr val="000000"/>
                </a:solidFill>
                <a:latin typeface="Arial"/>
                <a:cs typeface="Arial"/>
              </a:rPr>
              <a:t> </a:t>
            </a:r>
            <a:r>
              <a:rPr lang="en-US" err="1">
                <a:solidFill>
                  <a:srgbClr val="000000"/>
                </a:solidFill>
                <a:latin typeface="Arial"/>
                <a:cs typeface="Arial"/>
              </a:rPr>
              <a:t>của</a:t>
            </a:r>
            <a:r>
              <a:rPr lang="en-US">
                <a:solidFill>
                  <a:srgbClr val="000000"/>
                </a:solidFill>
                <a:latin typeface="Arial"/>
                <a:cs typeface="Arial"/>
              </a:rPr>
              <a:t> </a:t>
            </a:r>
            <a:r>
              <a:rPr lang="en-US" err="1">
                <a:solidFill>
                  <a:srgbClr val="000000"/>
                </a:solidFill>
                <a:latin typeface="Arial"/>
                <a:cs typeface="Arial"/>
              </a:rPr>
              <a:t>các</a:t>
            </a:r>
            <a:r>
              <a:rPr lang="en-US">
                <a:solidFill>
                  <a:srgbClr val="000000"/>
                </a:solidFill>
                <a:latin typeface="Arial"/>
                <a:cs typeface="Arial"/>
              </a:rPr>
              <a:t> </a:t>
            </a:r>
            <a:r>
              <a:rPr lang="en-US" err="1">
                <a:solidFill>
                  <a:srgbClr val="000000"/>
                </a:solidFill>
                <a:latin typeface="Arial"/>
                <a:cs typeface="Arial"/>
              </a:rPr>
              <a:t>phương</a:t>
            </a:r>
            <a:r>
              <a:rPr lang="en-US">
                <a:solidFill>
                  <a:srgbClr val="000000"/>
                </a:solidFill>
                <a:latin typeface="Arial"/>
                <a:cs typeface="Arial"/>
              </a:rPr>
              <a:t> </a:t>
            </a:r>
            <a:r>
              <a:rPr lang="en-US" err="1">
                <a:solidFill>
                  <a:srgbClr val="000000"/>
                </a:solidFill>
                <a:latin typeface="Arial"/>
                <a:cs typeface="Arial"/>
              </a:rPr>
              <a:t>pháp</a:t>
            </a:r>
            <a:r>
              <a:rPr lang="en-US">
                <a:solidFill>
                  <a:srgbClr val="000000"/>
                </a:solidFill>
                <a:latin typeface="Arial"/>
                <a:cs typeface="Arial"/>
              </a:rPr>
              <a:t> </a:t>
            </a:r>
            <a:r>
              <a:rPr lang="en-US" err="1">
                <a:solidFill>
                  <a:srgbClr val="000000"/>
                </a:solidFill>
                <a:latin typeface="Arial"/>
                <a:cs typeface="Arial"/>
              </a:rPr>
              <a:t>trên</a:t>
            </a:r>
            <a:r>
              <a:rPr lang="en-US">
                <a:solidFill>
                  <a:srgbClr val="000000"/>
                </a:solidFill>
                <a:latin typeface="Arial"/>
                <a:cs typeface="Arial"/>
              </a:rPr>
              <a:t>: </a:t>
            </a:r>
          </a:p>
          <a:p>
            <a:pPr marL="285750" indent="-285750">
              <a:buFont typeface="Arial"/>
              <a:buChar char="•"/>
            </a:pPr>
            <a:r>
              <a:rPr lang="en-US" b="1" i="0">
                <a:solidFill>
                  <a:srgbClr val="000000"/>
                </a:solidFill>
                <a:latin typeface="Arial"/>
                <a:ea typeface="Google Sans Text"/>
                <a:cs typeface="Arial"/>
              </a:rPr>
              <a:t>Simple </a:t>
            </a:r>
            <a:r>
              <a:rPr lang="en-US" i="0" err="1">
                <a:solidFill>
                  <a:srgbClr val="000000"/>
                </a:solidFill>
                <a:latin typeface="Arial"/>
                <a:ea typeface="Google Sans Text"/>
                <a:cs typeface="Arial"/>
              </a:rPr>
              <a:t>và</a:t>
            </a:r>
            <a:r>
              <a:rPr lang="en-US" b="1" i="0">
                <a:solidFill>
                  <a:srgbClr val="000000"/>
                </a:solidFill>
                <a:latin typeface="Arial"/>
                <a:ea typeface="Google Sans Text"/>
                <a:cs typeface="Arial"/>
              </a:rPr>
              <a:t> Savitzky-Golay</a:t>
            </a:r>
            <a:r>
              <a:rPr lang="en-US" b="1">
                <a:solidFill>
                  <a:srgbClr val="000000"/>
                </a:solidFill>
                <a:latin typeface="Arial"/>
                <a:ea typeface="Google Sans Text"/>
                <a:cs typeface="Arial"/>
              </a:rPr>
              <a: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chỉ</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làm</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mượt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thuần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túy</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về</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mặt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hình</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học</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hình</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ảnh</a:t>
            </a:r>
            <a:r>
              <a:rPr lang="en-US">
                <a:solidFill>
                  <a:srgbClr val="000000"/>
                </a:solidFill>
                <a:latin typeface="Arial"/>
                <a:ea typeface="Google Sans Text"/>
                <a:cs typeface="Arial"/>
              </a:rPr>
              <a:t>;</a:t>
            </a:r>
            <a:r>
              <a:rPr lang="en-US" i="0">
                <a:solidFill>
                  <a:srgbClr val="000000"/>
                </a:solidFill>
                <a:latin typeface="Arial"/>
                <a:ea typeface="Google Sans Text"/>
                <a:cs typeface="Arial"/>
              </a:rPr>
              <a:t> </a:t>
            </a:r>
            <a:r>
              <a:rPr lang="en-US" err="1">
                <a:solidFill>
                  <a:srgbClr val="000000"/>
                </a:solidFill>
                <a:latin typeface="Arial"/>
                <a:ea typeface="Google Sans Text"/>
                <a:cs typeface="Arial"/>
              </a:rPr>
              <a:t>không</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quan</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tâm</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động</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học</a:t>
            </a:r>
            <a:r>
              <a:rPr lang="en-US" i="0">
                <a:solidFill>
                  <a:srgbClr val="000000"/>
                </a:solidFill>
                <a:latin typeface="Arial"/>
                <a:ea typeface="Google Sans Text"/>
                <a:cs typeface="Arial"/>
              </a:rPr>
              <a:t> robot </a:t>
            </a:r>
          </a:p>
          <a:p>
            <a:pPr marL="285750" indent="-285750">
              <a:buFont typeface="Arial"/>
              <a:buChar char="•"/>
            </a:pPr>
            <a:r>
              <a:rPr lang="en-US" b="1">
                <a:solidFill>
                  <a:srgbClr val="000000"/>
                </a:solidFill>
                <a:latin typeface="Arial"/>
                <a:ea typeface="Google Sans Text"/>
                <a:cs typeface="Arial"/>
              </a:rPr>
              <a:t>Constrained</a:t>
            </a:r>
            <a:r>
              <a:rPr lang="en-US" b="1" i="0">
                <a:solidFill>
                  <a:srgbClr val="000000"/>
                </a:solidFill>
                <a:latin typeface="Arial"/>
                <a:ea typeface="Google Sans Text"/>
                <a:cs typeface="Arial"/>
              </a:rPr>
              <a:t> Smoother</a:t>
            </a:r>
            <a:r>
              <a:rPr lang="en-US" b="1">
                <a:solidFill>
                  <a:srgbClr val="000000"/>
                </a:solidFill>
                <a:latin typeface="Arial"/>
                <a:ea typeface="Google Sans Text"/>
                <a:cs typeface="Arial"/>
              </a:rPr>
              <a: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giải</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quyết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bằng</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tối</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ưu</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hóa</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liên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tục</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trên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toàn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bộ</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đường</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đi</a:t>
            </a:r>
            <a:r>
              <a:rPr lang="en-US" i="0">
                <a:solidFill>
                  <a:srgbClr val="000000"/>
                </a:solidFill>
                <a:latin typeface="Arial"/>
                <a:ea typeface="Google Sans Text"/>
                <a:cs typeface="Arial"/>
              </a:rPr>
              <a:t> </a:t>
            </a:r>
            <a:r>
              <a:rPr lang="en-US" err="1">
                <a:solidFill>
                  <a:srgbClr val="000000"/>
                </a:solidFill>
                <a:latin typeface="Arial"/>
                <a:ea typeface="Google Sans Text"/>
                <a:cs typeface="Arial"/>
              </a:rPr>
              <a:t>nhưng</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khiến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thuật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toán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dễ</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rơi</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vào</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các</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cực</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trị</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cục</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bộ</a:t>
            </a:r>
            <a:r>
              <a:rPr lang="en-US" i="0">
                <a:solidFill>
                  <a:srgbClr val="000000"/>
                </a:solidFill>
                <a:latin typeface="Arial"/>
                <a:ea typeface="Google Sans Text"/>
                <a:cs typeface="Arial"/>
              </a:rPr>
              <a:t> </a:t>
            </a:r>
            <a:r>
              <a:rPr lang="en-US" err="1">
                <a:solidFill>
                  <a:srgbClr val="000000"/>
                </a:solidFill>
                <a:latin typeface="Arial"/>
                <a:ea typeface="Google Sans Text"/>
                <a:cs typeface="Arial"/>
              </a:rPr>
              <a:t>kém</a:t>
            </a:r>
            <a:r>
              <a:rPr lang="en-US">
                <a:solidFill>
                  <a:srgbClr val="000000"/>
                </a:solidFill>
                <a:latin typeface="Arial"/>
                <a:ea typeface="Google Sans Text"/>
                <a:cs typeface="Arial"/>
              </a:rPr>
              <a:t> </a:t>
            </a:r>
            <a:r>
              <a:rPr lang="en-US" i="0" err="1">
                <a:solidFill>
                  <a:srgbClr val="000000"/>
                </a:solidFill>
                <a:latin typeface="Arial"/>
                <a:ea typeface="Google Sans Text"/>
                <a:cs typeface="Arial"/>
              </a:rPr>
              <a:t>và</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tiêu</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tốn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quá</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nhiều</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tài</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nguyên</a:t>
            </a:r>
            <a:r>
              <a:rPr lang="en-US" i="0">
                <a:solidFill>
                  <a:srgbClr val="000000"/>
                </a:solidFill>
                <a:latin typeface="Arial"/>
                <a:ea typeface="Google Sans Text"/>
                <a:cs typeface="Arial"/>
              </a:rPr>
              <a:t> CPU</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bài</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toán</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tối</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ưu</a:t>
            </a:r>
            <a:r>
              <a:rPr lang="en-US">
                <a:solidFill>
                  <a:srgbClr val="000000"/>
                </a:solidFill>
                <a:latin typeface="Arial"/>
                <a:ea typeface="Google Sans Text"/>
                <a:cs typeface="Arial"/>
              </a:rPr>
              <a:t> phi </a:t>
            </a:r>
            <a:r>
              <a:rPr lang="en-US" err="1">
                <a:solidFill>
                  <a:srgbClr val="000000"/>
                </a:solidFill>
                <a:latin typeface="Arial"/>
                <a:ea typeface="Google Sans Text"/>
                <a:cs typeface="Arial"/>
              </a:rPr>
              <a:t>tuyến</a:t>
            </a:r>
            <a:r>
              <a:rPr lang="en-US">
                <a:solidFill>
                  <a:srgbClr val="000000"/>
                </a:solidFill>
                <a:latin typeface="Arial"/>
                <a:ea typeface="Google Sans Text"/>
                <a:cs typeface="Arial"/>
              </a:rPr>
              <a:t>, phi </a:t>
            </a:r>
            <a:r>
              <a:rPr lang="en-US" err="1">
                <a:solidFill>
                  <a:srgbClr val="000000"/>
                </a:solidFill>
                <a:latin typeface="Arial"/>
                <a:ea typeface="Google Sans Text"/>
                <a:cs typeface="Arial"/>
              </a:rPr>
              <a:t>lồi</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với</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số</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lượng</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biến</a:t>
            </a:r>
            <a:r>
              <a:rPr lang="en-US">
                <a:solidFill>
                  <a:srgbClr val="000000"/>
                </a:solidFill>
                <a:latin typeface="Arial"/>
                <a:ea typeface="Google Sans Text"/>
                <a:cs typeface="Arial"/>
              </a:rPr>
              <a:t> waypoint </a:t>
            </a:r>
            <a:r>
              <a:rPr lang="en-US" err="1">
                <a:solidFill>
                  <a:srgbClr val="000000"/>
                </a:solidFill>
                <a:latin typeface="Arial"/>
                <a:ea typeface="Google Sans Text"/>
                <a:cs typeface="Arial"/>
              </a:rPr>
              <a:t>lớn</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kết</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hợp</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với</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bản</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đồ</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costmap</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phức</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tạp</a:t>
            </a:r>
            <a:r>
              <a:rPr lang="en-US">
                <a:solidFill>
                  <a:srgbClr val="000000"/>
                </a:solidFill>
                <a:latin typeface="Arial"/>
                <a:ea typeface="Google Sans Text"/>
                <a:cs typeface="Arial"/>
              </a:rPr>
              <a:t>).</a:t>
            </a:r>
            <a:endParaRPr lang="en-US" i="0">
              <a:solidFill>
                <a:srgbClr val="000000"/>
              </a:solidFill>
              <a:latin typeface="Arial"/>
              <a:ea typeface="Google Sans Text"/>
              <a:cs typeface="Arial"/>
            </a:endParaRPr>
          </a:p>
        </p:txBody>
      </p:sp>
      <p:sp>
        <p:nvSpPr>
          <p:cNvPr id="6" name="TextBox 5">
            <a:extLst>
              <a:ext uri="{FF2B5EF4-FFF2-40B4-BE49-F238E27FC236}">
                <a16:creationId xmlns:a16="http://schemas.microsoft.com/office/drawing/2014/main" id="{427FFD51-3514-3CFB-7088-86C0151C0A9E}"/>
              </a:ext>
            </a:extLst>
          </p:cNvPr>
          <p:cNvSpPr txBox="1"/>
          <p:nvPr/>
        </p:nvSpPr>
        <p:spPr>
          <a:xfrm>
            <a:off x="86372" y="125284"/>
            <a:ext cx="387230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0000"/>
                </a:solidFill>
              </a:rPr>
              <a:t>Phân </a:t>
            </a:r>
            <a:r>
              <a:rPr lang="en-US" sz="2000" b="1" err="1">
                <a:solidFill>
                  <a:srgbClr val="000000"/>
                </a:solidFill>
              </a:rPr>
              <a:t>tích</a:t>
            </a:r>
            <a:r>
              <a:rPr lang="en-US" sz="2000" b="1">
                <a:solidFill>
                  <a:srgbClr val="000000"/>
                </a:solidFill>
              </a:rPr>
              <a:t> </a:t>
            </a:r>
            <a:r>
              <a:rPr lang="en-US" sz="2000" b="1" err="1">
                <a:solidFill>
                  <a:srgbClr val="000000"/>
                </a:solidFill>
              </a:rPr>
              <a:t>và</a:t>
            </a:r>
            <a:r>
              <a:rPr lang="en-US" sz="2000" b="1">
                <a:solidFill>
                  <a:srgbClr val="000000"/>
                </a:solidFill>
              </a:rPr>
              <a:t> so </a:t>
            </a:r>
            <a:r>
              <a:rPr lang="en-US" sz="2000" b="1" err="1">
                <a:solidFill>
                  <a:srgbClr val="000000"/>
                </a:solidFill>
              </a:rPr>
              <a:t>sánh</a:t>
            </a:r>
            <a:r>
              <a:rPr lang="en-US" sz="2000" b="1">
                <a:solidFill>
                  <a:srgbClr val="000000"/>
                </a:solidFill>
              </a:rPr>
              <a:t>:</a:t>
            </a:r>
          </a:p>
        </p:txBody>
      </p:sp>
      <p:sp>
        <p:nvSpPr>
          <p:cNvPr id="7" name="TextBox 6">
            <a:extLst>
              <a:ext uri="{FF2B5EF4-FFF2-40B4-BE49-F238E27FC236}">
                <a16:creationId xmlns:a16="http://schemas.microsoft.com/office/drawing/2014/main" id="{26F868A9-632A-0AEA-47B9-221E5202FD5F}"/>
              </a:ext>
            </a:extLst>
          </p:cNvPr>
          <p:cNvSpPr txBox="1"/>
          <p:nvPr/>
        </p:nvSpPr>
        <p:spPr>
          <a:xfrm>
            <a:off x="193041" y="4982376"/>
            <a:ext cx="118757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0" err="1">
                <a:solidFill>
                  <a:srgbClr val="000000"/>
                </a:solidFill>
                <a:latin typeface="Arial"/>
                <a:ea typeface="Google Sans Text"/>
                <a:cs typeface="Arial"/>
              </a:rPr>
              <a:t>Để</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giải</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quyết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triệt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để</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các</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hạn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chế</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trên</a:t>
            </a:r>
            <a:r>
              <a:rPr lang="en-US" i="0">
                <a:solidFill>
                  <a:srgbClr val="000000"/>
                </a:solidFill>
                <a:latin typeface="Arial"/>
                <a:ea typeface="Google Sans Text"/>
                <a:cs typeface="Arial"/>
              </a:rPr>
              <a:t>, </a:t>
            </a:r>
            <a:r>
              <a:rPr lang="en-US" err="1">
                <a:solidFill>
                  <a:srgbClr val="000000"/>
                </a:solidFill>
                <a:latin typeface="Arial"/>
                <a:ea typeface="Google Sans Text"/>
                <a:cs typeface="Arial"/>
              </a:rPr>
              <a:t>xuất</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hiện</a:t>
            </a:r>
            <a:r>
              <a:rPr lang="en-US">
                <a:solidFill>
                  <a:srgbClr val="000000"/>
                </a:solidFill>
                <a:latin typeface="Arial"/>
                <a:ea typeface="Google Sans Text"/>
                <a:cs typeface="Arial"/>
              </a:rPr>
              <a:t> ý </a:t>
            </a:r>
            <a:r>
              <a:rPr lang="en-US" err="1">
                <a:solidFill>
                  <a:srgbClr val="000000"/>
                </a:solidFill>
                <a:latin typeface="Arial"/>
                <a:ea typeface="Google Sans Text"/>
                <a:cs typeface="Arial"/>
              </a:rPr>
              <a:t>tưởng</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thuật</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toán</a:t>
            </a:r>
            <a:r>
              <a:rPr lang="en-US" i="0">
                <a:solidFill>
                  <a:srgbClr val="000000"/>
                </a:solidFill>
                <a:latin typeface="Arial"/>
                <a:ea typeface="Google Sans Text"/>
                <a:cs typeface="Arial"/>
              </a:rPr>
              <a:t> PSTMO </a:t>
            </a:r>
            <a:r>
              <a:rPr lang="en-US" i="0" err="1">
                <a:solidFill>
                  <a:srgbClr val="000000"/>
                </a:solidFill>
                <a:latin typeface="Arial"/>
                <a:ea typeface="Google Sans Text"/>
                <a:cs typeface="Arial"/>
              </a:rPr>
              <a:t>ra</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đời</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dựa</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trên</a:t>
            </a:r>
            <a:r>
              <a:rPr lang="en-US" i="0">
                <a:solidFill>
                  <a:srgbClr val="000000"/>
                </a:solidFill>
                <a:latin typeface="Arial"/>
                <a:ea typeface="Google Sans Text"/>
                <a:cs typeface="Arial"/>
              </a:rPr>
              <a:t> </a:t>
            </a:r>
            <a:r>
              <a:rPr lang="en-US" i="0" err="1">
                <a:solidFill>
                  <a:srgbClr val="000000"/>
                </a:solidFill>
                <a:latin typeface="Arial"/>
                <a:ea typeface="Google Sans Text"/>
                <a:cs typeface="Arial"/>
              </a:rPr>
              <a:t>một</a:t>
            </a:r>
            <a:r>
              <a:rPr lang="en-US" i="0">
                <a:solidFill>
                  <a:srgbClr val="000000"/>
                </a:solidFill>
                <a:latin typeface="Arial"/>
                <a:ea typeface="Google Sans Text"/>
                <a:cs typeface="Arial"/>
              </a:rPr>
              <a:t> </a:t>
            </a:r>
            <a:r>
              <a:rPr lang="en-US" err="1">
                <a:solidFill>
                  <a:srgbClr val="000000"/>
                </a:solidFill>
                <a:latin typeface="Arial"/>
                <a:ea typeface="Google Sans Text"/>
                <a:cs typeface="Arial"/>
              </a:rPr>
              <a:t>cách</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xử</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lý</a:t>
            </a:r>
            <a:r>
              <a:rPr lang="en-US">
                <a:solidFill>
                  <a:srgbClr val="000000"/>
                </a:solidFill>
                <a:latin typeface="Arial"/>
                <a:ea typeface="Google Sans Text"/>
                <a:cs typeface="Arial"/>
              </a:rPr>
              <a:t> </a:t>
            </a:r>
            <a:r>
              <a:rPr lang="en-US" err="1">
                <a:solidFill>
                  <a:srgbClr val="000000"/>
                </a:solidFill>
                <a:latin typeface="Arial"/>
                <a:ea typeface="Google Sans Text"/>
                <a:cs typeface="Arial"/>
              </a:rPr>
              <a:t>khác</a:t>
            </a:r>
            <a:endParaRPr lang="en-US" err="1">
              <a:solidFill>
                <a:srgbClr val="000000"/>
              </a:solidFill>
              <a:latin typeface="Arial"/>
              <a:cs typeface="Arial"/>
            </a:endParaRPr>
          </a:p>
        </p:txBody>
      </p:sp>
    </p:spTree>
    <p:extLst>
      <p:ext uri="{BB962C8B-B14F-4D97-AF65-F5344CB8AC3E}">
        <p14:creationId xmlns:p14="http://schemas.microsoft.com/office/powerpoint/2010/main" val="1958589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BB42D-41D0-F029-A167-D6D5C84CBF35}"/>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B1708567-3368-CD28-AB5B-734B02A22244}"/>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 ( </a:t>
            </a:r>
            <a:r>
              <a:rPr lang="en-US">
                <a:solidFill>
                  <a:srgbClr val="000000"/>
                </a:solidFill>
                <a:latin typeface="Aptos"/>
              </a:rPr>
              <a:t>Path Smoothing via Footprint-Aware Corner-</a:t>
            </a:r>
            <a:r>
              <a:rPr lang="en-US" err="1">
                <a:solidFill>
                  <a:srgbClr val="000000"/>
                </a:solidFill>
                <a:latin typeface="Aptos"/>
              </a:rPr>
              <a:t>TransitionOptimization</a:t>
            </a:r>
            <a:r>
              <a:rPr lang="en-US">
                <a:solidFill>
                  <a:srgbClr val="000000"/>
                </a:solidFill>
                <a:latin typeface="Aptos"/>
              </a:rPr>
              <a:t> for Differential-Drive Mobile Robots</a:t>
            </a:r>
            <a:r>
              <a:rPr lang="vi-VN">
                <a:cs typeface="Arial"/>
              </a:rPr>
              <a:t>)</a:t>
            </a:r>
          </a:p>
        </p:txBody>
      </p:sp>
      <p:sp>
        <p:nvSpPr>
          <p:cNvPr id="2" name="Hộp Văn bản 1">
            <a:extLst>
              <a:ext uri="{FF2B5EF4-FFF2-40B4-BE49-F238E27FC236}">
                <a16:creationId xmlns:a16="http://schemas.microsoft.com/office/drawing/2014/main" id="{0ED0DDE2-014A-3909-3D0D-EDBE403FFF30}"/>
              </a:ext>
            </a:extLst>
          </p:cNvPr>
          <p:cNvSpPr txBox="1"/>
          <p:nvPr/>
        </p:nvSpPr>
        <p:spPr>
          <a:xfrm>
            <a:off x="620941" y="1710548"/>
            <a:ext cx="5321808" cy="2862322"/>
          </a:xfrm>
          <a:prstGeom prst="rect">
            <a:avLst/>
          </a:prstGeom>
          <a:noFill/>
        </p:spPr>
        <p:txBody>
          <a:bodyPr wrap="square" lIns="91440" tIns="45720" rIns="91440" bIns="45720" rtlCol="0" anchor="t">
            <a:spAutoFit/>
          </a:bodyPr>
          <a:lstStyle/>
          <a:p>
            <a:pPr marL="342900" indent="-342900">
              <a:buAutoNum type="arabicPeriod"/>
            </a:pPr>
            <a:r>
              <a:rPr lang="vi-VN"/>
              <a:t>Ý tưởng và mục tiêu của PSTMO</a:t>
            </a:r>
          </a:p>
          <a:p>
            <a:pPr marL="342900" indent="-342900">
              <a:buAutoNum type="arabicPeriod"/>
            </a:pPr>
            <a:r>
              <a:rPr lang="vi-VN"/>
              <a:t>Quy trình tổng thể của PSTMO</a:t>
            </a:r>
          </a:p>
          <a:p>
            <a:pPr marL="342900" indent="-342900">
              <a:buFontTx/>
              <a:buAutoNum type="arabicPeriod"/>
            </a:pPr>
            <a:r>
              <a:rPr lang="vi-VN"/>
              <a:t>Tiền xử lý đường đi và xác định góc chuyển hướng</a:t>
            </a:r>
          </a:p>
          <a:p>
            <a:pPr marL="342900" indent="-342900">
              <a:buFontTx/>
              <a:buAutoNum type="arabicPeriod"/>
            </a:pPr>
            <a:r>
              <a:rPr lang="vi-VN">
                <a:latin typeface="Arial"/>
                <a:cs typeface="Arial"/>
              </a:rPr>
              <a:t>Mô hình chuyển tiếp Bézier bậc năm G²</a:t>
            </a:r>
            <a:endParaRPr lang="vi-VN">
              <a:effectLst/>
              <a:latin typeface="Arial"/>
              <a:cs typeface="Arial"/>
            </a:endParaRPr>
          </a:p>
          <a:p>
            <a:pPr marL="342900" indent="-342900">
              <a:buFontTx/>
              <a:buAutoNum type="arabicPeriod"/>
            </a:pPr>
            <a:r>
              <a:rPr lang="vi-VN"/>
              <a:t>Sinh và tìm kiếm ứng viên chuyển tiếp</a:t>
            </a:r>
            <a:endParaRPr lang="vi-VN">
              <a:effectLst/>
            </a:endParaRPr>
          </a:p>
          <a:p>
            <a:pPr marL="342900" indent="-342900">
              <a:buFontTx/>
              <a:buAutoNum type="arabicPeriod"/>
            </a:pPr>
            <a:r>
              <a:rPr lang="vi-VN"/>
              <a:t>Đánh giá tính khả thi của ứng viên</a:t>
            </a:r>
            <a:endParaRPr lang="vi-VN">
              <a:effectLst/>
            </a:endParaRPr>
          </a:p>
          <a:p>
            <a:pPr marL="342900" indent="-342900">
              <a:buFontTx/>
              <a:buAutoNum type="arabicPeriod"/>
            </a:pPr>
            <a:r>
              <a:rPr lang="vi-VN"/>
              <a:t>Lựa chọn chuỗi chuyển tiếp bằng quy hoạch động</a:t>
            </a:r>
            <a:endParaRPr lang="vi-VN">
              <a:effectLst/>
            </a:endParaRPr>
          </a:p>
          <a:p>
            <a:pPr marL="342900" indent="-342900">
              <a:buFontTx/>
              <a:buAutoNum type="arabicPeriod"/>
            </a:pPr>
            <a:r>
              <a:rPr lang="vi-VN"/>
              <a:t>Tạo đường đi làm mượt cuối cùng</a:t>
            </a:r>
            <a:endParaRPr lang="vi-VN">
              <a:effectLst/>
            </a:endParaRPr>
          </a:p>
        </p:txBody>
      </p:sp>
    </p:spTree>
    <p:extLst>
      <p:ext uri="{BB962C8B-B14F-4D97-AF65-F5344CB8AC3E}">
        <p14:creationId xmlns:p14="http://schemas.microsoft.com/office/powerpoint/2010/main" val="2567845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E731-EBD6-8F3D-209B-4929285741BF}"/>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43BED451-022C-E889-926A-A1E72E3E6E41}"/>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5906DD29-69A7-69A5-A7D9-513FA28279F9}"/>
              </a:ext>
            </a:extLst>
          </p:cNvPr>
          <p:cNvSpPr txBox="1"/>
          <p:nvPr/>
        </p:nvSpPr>
        <p:spPr>
          <a:xfrm>
            <a:off x="594360" y="1232083"/>
            <a:ext cx="5321808" cy="923330"/>
          </a:xfrm>
          <a:prstGeom prst="rect">
            <a:avLst/>
          </a:prstGeom>
          <a:noFill/>
        </p:spPr>
        <p:txBody>
          <a:bodyPr wrap="square" rtlCol="0">
            <a:spAutoFit/>
          </a:bodyPr>
          <a:lstStyle/>
          <a:p>
            <a:pPr marL="342900" indent="-342900">
              <a:buAutoNum type="arabicPeriod"/>
            </a:pPr>
            <a:r>
              <a:rPr lang="vi-VN"/>
              <a:t>Ý tưởng và mục tiêu của PSTMO</a:t>
            </a:r>
          </a:p>
          <a:p>
            <a:pPr marL="342900" indent="-342900">
              <a:buFontTx/>
              <a:buAutoNum type="arabicPeriod"/>
            </a:pPr>
            <a:endParaRPr lang="vi-VN" b="1">
              <a:effectLst/>
            </a:endParaRPr>
          </a:p>
          <a:p>
            <a:pPr marL="342900" indent="-342900">
              <a:buAutoNum type="arabicPeriod"/>
            </a:pPr>
            <a:endParaRPr lang="vi-VN"/>
          </a:p>
        </p:txBody>
      </p:sp>
      <p:sp>
        <p:nvSpPr>
          <p:cNvPr id="6" name="Hộp Văn bản 5">
            <a:extLst>
              <a:ext uri="{FF2B5EF4-FFF2-40B4-BE49-F238E27FC236}">
                <a16:creationId xmlns:a16="http://schemas.microsoft.com/office/drawing/2014/main" id="{0BFB5E5B-1D47-1605-7E60-54D9694A1371}"/>
              </a:ext>
            </a:extLst>
          </p:cNvPr>
          <p:cNvSpPr txBox="1"/>
          <p:nvPr/>
        </p:nvSpPr>
        <p:spPr>
          <a:xfrm>
            <a:off x="594360" y="1786819"/>
            <a:ext cx="5321808" cy="2031325"/>
          </a:xfrm>
          <a:prstGeom prst="rect">
            <a:avLst/>
          </a:prstGeom>
          <a:noFill/>
        </p:spPr>
        <p:txBody>
          <a:bodyPr wrap="square" rtlCol="0">
            <a:spAutoFit/>
          </a:bodyPr>
          <a:lstStyle/>
          <a:p>
            <a:pPr lvl="0" fontAlgn="base"/>
            <a:r>
              <a:rPr lang="vi-VN"/>
              <a:t>Mục tiêu:</a:t>
            </a:r>
          </a:p>
          <a:p>
            <a:pPr lvl="1" fontAlgn="base"/>
            <a:r>
              <a:rPr lang="vi-VN"/>
              <a:t>giảm chuyển hướng gắt;</a:t>
            </a:r>
          </a:p>
          <a:p>
            <a:pPr lvl="1" fontAlgn="base"/>
            <a:r>
              <a:rPr lang="vi-VN"/>
              <a:t>hạn chế quay tại chỗ;</a:t>
            </a:r>
          </a:p>
          <a:p>
            <a:pPr lvl="1" fontAlgn="base"/>
            <a:r>
              <a:rPr lang="vi-VN"/>
              <a:t>duy trì an toàn;</a:t>
            </a:r>
          </a:p>
          <a:p>
            <a:pPr lvl="1" fontAlgn="base"/>
            <a:r>
              <a:rPr lang="vi-VN"/>
              <a:t>đảm bảo khả thi với </a:t>
            </a:r>
            <a:r>
              <a:rPr lang="vi-VN" err="1"/>
              <a:t>robot</a:t>
            </a:r>
            <a:r>
              <a:rPr lang="vi-VN"/>
              <a:t> </a:t>
            </a:r>
            <a:r>
              <a:rPr lang="vi-VN" err="1"/>
              <a:t>differential-drive</a:t>
            </a:r>
            <a:r>
              <a:rPr lang="vi-VN"/>
              <a:t>.</a:t>
            </a:r>
          </a:p>
          <a:p>
            <a:endParaRPr lang="vi-VN" b="1">
              <a:effectLst/>
            </a:endParaRPr>
          </a:p>
          <a:p>
            <a:pPr marL="342900" indent="-342900">
              <a:buAutoNum type="arabicPeriod"/>
            </a:pPr>
            <a:endParaRPr lang="vi-VN"/>
          </a:p>
        </p:txBody>
      </p:sp>
      <p:pic>
        <p:nvPicPr>
          <p:cNvPr id="9" name="Picture 8" descr="image5.png">
            <a:extLst>
              <a:ext uri="{FF2B5EF4-FFF2-40B4-BE49-F238E27FC236}">
                <a16:creationId xmlns:a16="http://schemas.microsoft.com/office/drawing/2014/main" id="{8F760D00-520C-5E95-A041-5EEDEAD388DF}"/>
              </a:ext>
            </a:extLst>
          </p:cNvPr>
          <p:cNvPicPr>
            <a:picLocks noChangeAspect="1"/>
          </p:cNvPicPr>
          <p:nvPr/>
        </p:nvPicPr>
        <p:blipFill>
          <a:blip r:embed="rId2"/>
          <a:stretch>
            <a:fillRect/>
          </a:stretch>
        </p:blipFill>
        <p:spPr>
          <a:xfrm>
            <a:off x="6275834" y="1502615"/>
            <a:ext cx="5010912" cy="2215992"/>
          </a:xfrm>
          <a:prstGeom prst="rect">
            <a:avLst/>
          </a:prstGeom>
        </p:spPr>
      </p:pic>
      <p:pic>
        <p:nvPicPr>
          <p:cNvPr id="3" name="Picture 2">
            <a:extLst>
              <a:ext uri="{FF2B5EF4-FFF2-40B4-BE49-F238E27FC236}">
                <a16:creationId xmlns:a16="http://schemas.microsoft.com/office/drawing/2014/main" id="{009D6623-9891-2272-6520-4590D3884030}"/>
              </a:ext>
            </a:extLst>
          </p:cNvPr>
          <p:cNvPicPr>
            <a:picLocks noChangeAspect="1"/>
          </p:cNvPicPr>
          <p:nvPr/>
        </p:nvPicPr>
        <p:blipFill>
          <a:blip r:embed="rId3"/>
          <a:stretch>
            <a:fillRect/>
          </a:stretch>
        </p:blipFill>
        <p:spPr>
          <a:xfrm>
            <a:off x="345023" y="3317568"/>
            <a:ext cx="5819087" cy="782887"/>
          </a:xfrm>
          <a:prstGeom prst="rect">
            <a:avLst/>
          </a:prstGeom>
        </p:spPr>
      </p:pic>
      <p:pic>
        <p:nvPicPr>
          <p:cNvPr id="4" name="Picture 3">
            <a:extLst>
              <a:ext uri="{FF2B5EF4-FFF2-40B4-BE49-F238E27FC236}">
                <a16:creationId xmlns:a16="http://schemas.microsoft.com/office/drawing/2014/main" id="{371C78CD-8596-C40B-6B06-E796F411D2A2}"/>
              </a:ext>
            </a:extLst>
          </p:cNvPr>
          <p:cNvPicPr>
            <a:picLocks noChangeAspect="1"/>
          </p:cNvPicPr>
          <p:nvPr/>
        </p:nvPicPr>
        <p:blipFill>
          <a:blip r:embed="rId4"/>
          <a:stretch>
            <a:fillRect/>
          </a:stretch>
        </p:blipFill>
        <p:spPr>
          <a:xfrm>
            <a:off x="888177" y="4213091"/>
            <a:ext cx="5026561" cy="1057505"/>
          </a:xfrm>
          <a:prstGeom prst="rect">
            <a:avLst/>
          </a:prstGeom>
        </p:spPr>
      </p:pic>
    </p:spTree>
    <p:extLst>
      <p:ext uri="{BB962C8B-B14F-4D97-AF65-F5344CB8AC3E}">
        <p14:creationId xmlns:p14="http://schemas.microsoft.com/office/powerpoint/2010/main" val="4174725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B6AD6-2135-1062-4B0E-786D4B22DF95}"/>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98DFCF3A-8195-8EA9-67C1-78B4CAEE4D46}"/>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3C8D6F9F-4A8B-6D79-A3EE-3AEB06CCC32F}"/>
              </a:ext>
            </a:extLst>
          </p:cNvPr>
          <p:cNvSpPr txBox="1"/>
          <p:nvPr/>
        </p:nvSpPr>
        <p:spPr>
          <a:xfrm>
            <a:off x="594360" y="1232083"/>
            <a:ext cx="5321808" cy="1200329"/>
          </a:xfrm>
          <a:prstGeom prst="rect">
            <a:avLst/>
          </a:prstGeom>
          <a:noFill/>
        </p:spPr>
        <p:txBody>
          <a:bodyPr wrap="square" rtlCol="0">
            <a:spAutoFit/>
          </a:bodyPr>
          <a:lstStyle/>
          <a:p>
            <a:r>
              <a:rPr lang="vi-VN"/>
              <a:t>2. Quy trình tổng thể của PSTMO</a:t>
            </a:r>
          </a:p>
          <a:p>
            <a:endParaRPr lang="vi-VN"/>
          </a:p>
          <a:p>
            <a:pPr marL="342900" indent="-342900">
              <a:buFontTx/>
              <a:buAutoNum type="arabicPeriod"/>
            </a:pPr>
            <a:endParaRPr lang="vi-VN" b="1">
              <a:effectLst/>
            </a:endParaRPr>
          </a:p>
          <a:p>
            <a:pPr marL="342900" indent="-342900">
              <a:buAutoNum type="arabicPeriod"/>
            </a:pPr>
            <a:endParaRPr lang="vi-VN"/>
          </a:p>
        </p:txBody>
      </p:sp>
      <p:sp>
        <p:nvSpPr>
          <p:cNvPr id="37" name="TextBox 8">
            <a:extLst>
              <a:ext uri="{FF2B5EF4-FFF2-40B4-BE49-F238E27FC236}">
                <a16:creationId xmlns:a16="http://schemas.microsoft.com/office/drawing/2014/main" id="{AD947CFE-EE6D-5F1D-279C-D0C0B1D0E09D}"/>
              </a:ext>
            </a:extLst>
          </p:cNvPr>
          <p:cNvSpPr txBox="1"/>
          <p:nvPr/>
        </p:nvSpPr>
        <p:spPr>
          <a:xfrm>
            <a:off x="478538" y="2517827"/>
            <a:ext cx="930402" cy="615553"/>
          </a:xfrm>
          <a:prstGeom prst="rect">
            <a:avLst/>
          </a:prstGeom>
          <a:noFill/>
        </p:spPr>
        <p:txBody>
          <a:bodyPr wrap="square" lIns="0" tIns="0" rIns="0" bIns="0" anchor="ctr">
            <a:spAutoFit/>
          </a:bodyPr>
          <a:lstStyle/>
          <a:p>
            <a:pPr algn="ctr">
              <a:spcBef>
                <a:spcPts val="0"/>
              </a:spcBef>
              <a:spcAft>
                <a:spcPts val="0"/>
              </a:spcAft>
              <a:defRPr sz="1100" b="0" i="0">
                <a:solidFill>
                  <a:srgbClr val="172B3A"/>
                </a:solidFill>
                <a:latin typeface="Arial"/>
              </a:defRPr>
            </a:pPr>
            <a:r>
              <a:rPr lang="vi-VN" sz="2000" b="1"/>
              <a:t>Đường đi thô</a:t>
            </a:r>
            <a:endParaRPr sz="2000"/>
          </a:p>
        </p:txBody>
      </p:sp>
      <p:sp>
        <p:nvSpPr>
          <p:cNvPr id="43" name="TextBox 11">
            <a:extLst>
              <a:ext uri="{FF2B5EF4-FFF2-40B4-BE49-F238E27FC236}">
                <a16:creationId xmlns:a16="http://schemas.microsoft.com/office/drawing/2014/main" id="{2293DF61-F343-807A-4541-C85BB98EA36D}"/>
              </a:ext>
            </a:extLst>
          </p:cNvPr>
          <p:cNvSpPr txBox="1"/>
          <p:nvPr/>
        </p:nvSpPr>
        <p:spPr>
          <a:xfrm>
            <a:off x="1939292" y="2517827"/>
            <a:ext cx="930402" cy="615553"/>
          </a:xfrm>
          <a:prstGeom prst="rect">
            <a:avLst/>
          </a:prstGeom>
          <a:noFill/>
        </p:spPr>
        <p:txBody>
          <a:bodyPr wrap="square" lIns="0" tIns="0" rIns="0" bIns="0" anchor="ctr">
            <a:spAutoFit/>
          </a:bodyPr>
          <a:lstStyle/>
          <a:p>
            <a:pPr algn="ctr">
              <a:spcBef>
                <a:spcPts val="0"/>
              </a:spcBef>
              <a:spcAft>
                <a:spcPts val="0"/>
              </a:spcAft>
              <a:defRPr sz="1100" b="0" i="0">
                <a:solidFill>
                  <a:srgbClr val="172B3A"/>
                </a:solidFill>
                <a:latin typeface="Arial"/>
              </a:defRPr>
            </a:pPr>
            <a:r>
              <a:rPr lang="vi-VN" sz="2000" b="1"/>
              <a:t>Tiền xử lý</a:t>
            </a:r>
            <a:endParaRPr sz="2000"/>
          </a:p>
        </p:txBody>
      </p:sp>
      <p:sp>
        <p:nvSpPr>
          <p:cNvPr id="45" name="Right Arrow 12">
            <a:extLst>
              <a:ext uri="{FF2B5EF4-FFF2-40B4-BE49-F238E27FC236}">
                <a16:creationId xmlns:a16="http://schemas.microsoft.com/office/drawing/2014/main" id="{C95A5C6E-6977-4673-2DBD-990096B8AF35}"/>
              </a:ext>
            </a:extLst>
          </p:cNvPr>
          <p:cNvSpPr/>
          <p:nvPr/>
        </p:nvSpPr>
        <p:spPr>
          <a:xfrm>
            <a:off x="3006854" y="2734164"/>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9" name="TextBox 14">
            <a:extLst>
              <a:ext uri="{FF2B5EF4-FFF2-40B4-BE49-F238E27FC236}">
                <a16:creationId xmlns:a16="http://schemas.microsoft.com/office/drawing/2014/main" id="{C082466F-C0FB-2A15-1F98-AD93002A6DEB}"/>
              </a:ext>
            </a:extLst>
          </p:cNvPr>
          <p:cNvSpPr txBox="1"/>
          <p:nvPr/>
        </p:nvSpPr>
        <p:spPr>
          <a:xfrm>
            <a:off x="3400046" y="2363939"/>
            <a:ext cx="930402" cy="923330"/>
          </a:xfrm>
          <a:prstGeom prst="rect">
            <a:avLst/>
          </a:prstGeom>
          <a:noFill/>
        </p:spPr>
        <p:txBody>
          <a:bodyPr wrap="square" lIns="0" tIns="0" rIns="0" bIns="0" anchor="ctr">
            <a:spAutoFit/>
          </a:bodyPr>
          <a:lstStyle/>
          <a:p>
            <a:pPr algn="ctr">
              <a:spcBef>
                <a:spcPts val="0"/>
              </a:spcBef>
              <a:spcAft>
                <a:spcPts val="0"/>
              </a:spcAft>
              <a:defRPr sz="1100" b="0" i="0">
                <a:solidFill>
                  <a:srgbClr val="172B3A"/>
                </a:solidFill>
                <a:latin typeface="Arial"/>
              </a:defRPr>
            </a:pPr>
            <a:r>
              <a:rPr lang="vi-VN" sz="2000" b="1"/>
              <a:t>Phát hiện góc</a:t>
            </a:r>
            <a:endParaRPr sz="2000"/>
          </a:p>
        </p:txBody>
      </p:sp>
      <p:sp>
        <p:nvSpPr>
          <p:cNvPr id="51" name="Right Arrow 15">
            <a:extLst>
              <a:ext uri="{FF2B5EF4-FFF2-40B4-BE49-F238E27FC236}">
                <a16:creationId xmlns:a16="http://schemas.microsoft.com/office/drawing/2014/main" id="{937AC449-17CC-D058-B94B-8E2B37C65751}"/>
              </a:ext>
            </a:extLst>
          </p:cNvPr>
          <p:cNvSpPr/>
          <p:nvPr/>
        </p:nvSpPr>
        <p:spPr>
          <a:xfrm>
            <a:off x="4467608" y="2734164"/>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17">
            <a:extLst>
              <a:ext uri="{FF2B5EF4-FFF2-40B4-BE49-F238E27FC236}">
                <a16:creationId xmlns:a16="http://schemas.microsoft.com/office/drawing/2014/main" id="{33F6F6C7-3320-A0C3-F2EC-5E20C2131226}"/>
              </a:ext>
            </a:extLst>
          </p:cNvPr>
          <p:cNvSpPr txBox="1"/>
          <p:nvPr/>
        </p:nvSpPr>
        <p:spPr>
          <a:xfrm>
            <a:off x="4868800" y="2147602"/>
            <a:ext cx="930402" cy="1538883"/>
          </a:xfrm>
          <a:prstGeom prst="rect">
            <a:avLst/>
          </a:prstGeom>
          <a:noFill/>
        </p:spPr>
        <p:txBody>
          <a:bodyPr wrap="square" lIns="0" tIns="0" rIns="0" bIns="0" anchor="ctr">
            <a:spAutoFit/>
          </a:bodyPr>
          <a:lstStyle/>
          <a:p>
            <a:pPr algn="ctr">
              <a:spcBef>
                <a:spcPts val="0"/>
              </a:spcBef>
              <a:spcAft>
                <a:spcPts val="0"/>
              </a:spcAft>
              <a:defRPr sz="1100" b="0" i="0">
                <a:solidFill>
                  <a:srgbClr val="172B3A"/>
                </a:solidFill>
                <a:latin typeface="Arial"/>
              </a:defRPr>
            </a:pPr>
            <a:r>
              <a:rPr lang="vi-VN" sz="2000" b="1"/>
              <a:t>Sinh chuyển tiếp </a:t>
            </a:r>
            <a:r>
              <a:rPr lang="vi-VN" sz="2000" b="1" err="1"/>
              <a:t>Bézier</a:t>
            </a:r>
            <a:r>
              <a:rPr lang="vi-VN" sz="2000" b="1"/>
              <a:t> G²</a:t>
            </a:r>
            <a:endParaRPr sz="2000"/>
          </a:p>
        </p:txBody>
      </p:sp>
      <p:sp>
        <p:nvSpPr>
          <p:cNvPr id="57" name="Right Arrow 18">
            <a:extLst>
              <a:ext uri="{FF2B5EF4-FFF2-40B4-BE49-F238E27FC236}">
                <a16:creationId xmlns:a16="http://schemas.microsoft.com/office/drawing/2014/main" id="{B6AE28EB-DDD3-881C-613D-A6B9D90B2E49}"/>
              </a:ext>
            </a:extLst>
          </p:cNvPr>
          <p:cNvSpPr/>
          <p:nvPr/>
        </p:nvSpPr>
        <p:spPr>
          <a:xfrm>
            <a:off x="5928361" y="2734164"/>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TextBox 20">
            <a:extLst>
              <a:ext uri="{FF2B5EF4-FFF2-40B4-BE49-F238E27FC236}">
                <a16:creationId xmlns:a16="http://schemas.microsoft.com/office/drawing/2014/main" id="{12E62797-28AA-2B98-F235-10B8FD933C7C}"/>
              </a:ext>
            </a:extLst>
          </p:cNvPr>
          <p:cNvSpPr txBox="1"/>
          <p:nvPr/>
        </p:nvSpPr>
        <p:spPr>
          <a:xfrm>
            <a:off x="6279262" y="2118610"/>
            <a:ext cx="930402" cy="1231106"/>
          </a:xfrm>
          <a:prstGeom prst="rect">
            <a:avLst/>
          </a:prstGeom>
          <a:noFill/>
        </p:spPr>
        <p:txBody>
          <a:bodyPr wrap="square" lIns="0" tIns="0" rIns="0" bIns="0" anchor="ctr">
            <a:spAutoFit/>
          </a:bodyPr>
          <a:lstStyle/>
          <a:p>
            <a:pPr algn="ctr">
              <a:spcBef>
                <a:spcPts val="0"/>
              </a:spcBef>
              <a:spcAft>
                <a:spcPts val="0"/>
              </a:spcAft>
              <a:defRPr sz="1100" b="0" i="0">
                <a:solidFill>
                  <a:srgbClr val="172B3A"/>
                </a:solidFill>
                <a:latin typeface="Arial"/>
              </a:defRPr>
            </a:pPr>
            <a:r>
              <a:rPr lang="vi-VN" sz="2000" b="1"/>
              <a:t>Tìm kiếm hình học</a:t>
            </a:r>
            <a:endParaRPr sz="2000"/>
          </a:p>
        </p:txBody>
      </p:sp>
      <p:sp>
        <p:nvSpPr>
          <p:cNvPr id="63" name="Right Arrow 21">
            <a:extLst>
              <a:ext uri="{FF2B5EF4-FFF2-40B4-BE49-F238E27FC236}">
                <a16:creationId xmlns:a16="http://schemas.microsoft.com/office/drawing/2014/main" id="{87038F0B-2740-C1AC-0272-FD71DAE4A8E4}"/>
              </a:ext>
            </a:extLst>
          </p:cNvPr>
          <p:cNvSpPr/>
          <p:nvPr/>
        </p:nvSpPr>
        <p:spPr>
          <a:xfrm>
            <a:off x="7389116" y="2734164"/>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7" name="TextBox 23">
            <a:extLst>
              <a:ext uri="{FF2B5EF4-FFF2-40B4-BE49-F238E27FC236}">
                <a16:creationId xmlns:a16="http://schemas.microsoft.com/office/drawing/2014/main" id="{46E46235-F0DE-DE61-F181-376B95878A6C}"/>
              </a:ext>
            </a:extLst>
          </p:cNvPr>
          <p:cNvSpPr txBox="1"/>
          <p:nvPr/>
        </p:nvSpPr>
        <p:spPr>
          <a:xfrm>
            <a:off x="7782308" y="1902274"/>
            <a:ext cx="930402" cy="1846659"/>
          </a:xfrm>
          <a:prstGeom prst="rect">
            <a:avLst/>
          </a:prstGeom>
          <a:noFill/>
        </p:spPr>
        <p:txBody>
          <a:bodyPr wrap="square" lIns="0" tIns="0" rIns="0" bIns="0" anchor="ctr">
            <a:spAutoFit/>
          </a:bodyPr>
          <a:lstStyle/>
          <a:p>
            <a:pPr algn="ctr">
              <a:spcBef>
                <a:spcPts val="0"/>
              </a:spcBef>
              <a:spcAft>
                <a:spcPts val="0"/>
              </a:spcAft>
              <a:defRPr sz="1100" b="0" i="0">
                <a:solidFill>
                  <a:srgbClr val="172B3A"/>
                </a:solidFill>
                <a:latin typeface="Arial"/>
              </a:defRPr>
            </a:pPr>
            <a:r>
              <a:rPr lang="vi-VN" sz="2000" b="1"/>
              <a:t>Đánh giá tính khả thi của ứng viên</a:t>
            </a:r>
            <a:endParaRPr sz="2000"/>
          </a:p>
        </p:txBody>
      </p:sp>
      <p:sp>
        <p:nvSpPr>
          <p:cNvPr id="69" name="Right Arrow 24">
            <a:extLst>
              <a:ext uri="{FF2B5EF4-FFF2-40B4-BE49-F238E27FC236}">
                <a16:creationId xmlns:a16="http://schemas.microsoft.com/office/drawing/2014/main" id="{DBB84866-E213-9D92-DA7C-F2D4A667EDE5}"/>
              </a:ext>
            </a:extLst>
          </p:cNvPr>
          <p:cNvSpPr/>
          <p:nvPr/>
        </p:nvSpPr>
        <p:spPr>
          <a:xfrm>
            <a:off x="8849870" y="2734164"/>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TextBox 26">
            <a:extLst>
              <a:ext uri="{FF2B5EF4-FFF2-40B4-BE49-F238E27FC236}">
                <a16:creationId xmlns:a16="http://schemas.microsoft.com/office/drawing/2014/main" id="{98E2362A-ABE4-E58B-9BBC-FB82181F6DCB}"/>
              </a:ext>
            </a:extLst>
          </p:cNvPr>
          <p:cNvSpPr txBox="1"/>
          <p:nvPr/>
        </p:nvSpPr>
        <p:spPr>
          <a:xfrm>
            <a:off x="9220202" y="2391479"/>
            <a:ext cx="930402" cy="923330"/>
          </a:xfrm>
          <a:prstGeom prst="rect">
            <a:avLst/>
          </a:prstGeom>
          <a:noFill/>
        </p:spPr>
        <p:txBody>
          <a:bodyPr wrap="square" lIns="0" tIns="0" rIns="0" bIns="0" anchor="ctr">
            <a:spAutoFit/>
          </a:bodyPr>
          <a:lstStyle/>
          <a:p>
            <a:pPr algn="ctr">
              <a:spcBef>
                <a:spcPts val="0"/>
              </a:spcBef>
              <a:spcAft>
                <a:spcPts val="0"/>
              </a:spcAft>
              <a:defRPr sz="1100" b="1" i="0">
                <a:solidFill>
                  <a:srgbClr val="075D59"/>
                </a:solidFill>
                <a:latin typeface="Arial"/>
              </a:defRPr>
            </a:pPr>
            <a:r>
              <a:rPr lang="vi-VN" sz="2000" b="1"/>
              <a:t>Quy hoạch động</a:t>
            </a:r>
            <a:endParaRPr sz="2000"/>
          </a:p>
        </p:txBody>
      </p:sp>
      <p:sp>
        <p:nvSpPr>
          <p:cNvPr id="75" name="Right Arrow 27">
            <a:extLst>
              <a:ext uri="{FF2B5EF4-FFF2-40B4-BE49-F238E27FC236}">
                <a16:creationId xmlns:a16="http://schemas.microsoft.com/office/drawing/2014/main" id="{8E39C685-4F0F-528E-217D-8F0CFB8AFD67}"/>
              </a:ext>
            </a:extLst>
          </p:cNvPr>
          <p:cNvSpPr/>
          <p:nvPr/>
        </p:nvSpPr>
        <p:spPr>
          <a:xfrm>
            <a:off x="10310624" y="2734164"/>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9" name="TextBox 29">
            <a:extLst>
              <a:ext uri="{FF2B5EF4-FFF2-40B4-BE49-F238E27FC236}">
                <a16:creationId xmlns:a16="http://schemas.microsoft.com/office/drawing/2014/main" id="{28848BF0-632D-B458-2A02-009EDB105EE9}"/>
              </a:ext>
            </a:extLst>
          </p:cNvPr>
          <p:cNvSpPr txBox="1"/>
          <p:nvPr/>
        </p:nvSpPr>
        <p:spPr>
          <a:xfrm>
            <a:off x="10703816" y="2301491"/>
            <a:ext cx="930402" cy="1231106"/>
          </a:xfrm>
          <a:prstGeom prst="rect">
            <a:avLst/>
          </a:prstGeom>
          <a:noFill/>
        </p:spPr>
        <p:txBody>
          <a:bodyPr wrap="square" lIns="0" tIns="0" rIns="0" bIns="0" anchor="ctr">
            <a:spAutoFit/>
          </a:bodyPr>
          <a:lstStyle/>
          <a:p>
            <a:pPr algn="ctr">
              <a:spcBef>
                <a:spcPts val="0"/>
              </a:spcBef>
              <a:spcAft>
                <a:spcPts val="0"/>
              </a:spcAft>
              <a:defRPr sz="1100" b="0" i="0">
                <a:solidFill>
                  <a:srgbClr val="172B3A"/>
                </a:solidFill>
                <a:latin typeface="Arial"/>
              </a:defRPr>
            </a:pPr>
            <a:r>
              <a:rPr lang="vi-VN" sz="2000" b="1"/>
              <a:t>Đường đi làm mượt </a:t>
            </a:r>
          </a:p>
          <a:p>
            <a:pPr algn="ctr">
              <a:spcBef>
                <a:spcPts val="0"/>
              </a:spcBef>
              <a:spcAft>
                <a:spcPts val="0"/>
              </a:spcAft>
              <a:defRPr sz="1100" b="0" i="0">
                <a:solidFill>
                  <a:srgbClr val="172B3A"/>
                </a:solidFill>
                <a:latin typeface="Arial"/>
              </a:defRPr>
            </a:pPr>
            <a:endParaRPr sz="2000"/>
          </a:p>
        </p:txBody>
      </p:sp>
      <p:sp>
        <p:nvSpPr>
          <p:cNvPr id="3" name="TextBox 2">
            <a:extLst>
              <a:ext uri="{FF2B5EF4-FFF2-40B4-BE49-F238E27FC236}">
                <a16:creationId xmlns:a16="http://schemas.microsoft.com/office/drawing/2014/main" id="{4333A009-654A-2EB5-17DE-18723C902619}"/>
              </a:ext>
            </a:extLst>
          </p:cNvPr>
          <p:cNvSpPr txBox="1"/>
          <p:nvPr/>
        </p:nvSpPr>
        <p:spPr>
          <a:xfrm>
            <a:off x="591706" y="3746044"/>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Chia </a:t>
            </a:r>
            <a:r>
              <a:rPr lang="en-US" err="1"/>
              <a:t>thành</a:t>
            </a:r>
            <a:r>
              <a:rPr lang="en-US"/>
              <a:t> 3 </a:t>
            </a:r>
            <a:r>
              <a:rPr lang="en-US" err="1"/>
              <a:t>tầng</a:t>
            </a:r>
            <a:r>
              <a:rPr lang="en-US"/>
              <a:t> </a:t>
            </a:r>
            <a:r>
              <a:rPr lang="en-US" err="1"/>
              <a:t>xử</a:t>
            </a:r>
            <a:r>
              <a:rPr lang="en-US"/>
              <a:t> </a:t>
            </a:r>
            <a:r>
              <a:rPr lang="en-US" err="1"/>
              <a:t>lí</a:t>
            </a:r>
            <a:r>
              <a:rPr lang="en-US"/>
              <a:t> : </a:t>
            </a:r>
          </a:p>
        </p:txBody>
      </p:sp>
      <p:sp>
        <p:nvSpPr>
          <p:cNvPr id="5" name="Rounded Rectangle 14">
            <a:extLst>
              <a:ext uri="{FF2B5EF4-FFF2-40B4-BE49-F238E27FC236}">
                <a16:creationId xmlns:a16="http://schemas.microsoft.com/office/drawing/2014/main" id="{A8E9A8AA-0944-1D52-3D54-A7CD2D1EBC06}"/>
              </a:ext>
            </a:extLst>
          </p:cNvPr>
          <p:cNvSpPr/>
          <p:nvPr/>
        </p:nvSpPr>
        <p:spPr>
          <a:xfrm>
            <a:off x="590532" y="4378376"/>
            <a:ext cx="3289114" cy="1681466"/>
          </a:xfrm>
          <a:prstGeom prst="roundRect">
            <a:avLst/>
          </a:prstGeom>
          <a:solidFill>
            <a:srgbClr val="E8F5EC"/>
          </a:solidFill>
          <a:ln w="12700">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37A5683-0085-8E87-9C07-8D92BFF17E3E}"/>
              </a:ext>
            </a:extLst>
          </p:cNvPr>
          <p:cNvSpPr txBox="1"/>
          <p:nvPr/>
        </p:nvSpPr>
        <p:spPr>
          <a:xfrm>
            <a:off x="1179624" y="4498857"/>
            <a:ext cx="24459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Xử</a:t>
            </a:r>
            <a:r>
              <a:rPr lang="en-US" b="1"/>
              <a:t> </a:t>
            </a:r>
            <a:r>
              <a:rPr lang="en-US" b="1" err="1"/>
              <a:t>lí</a:t>
            </a:r>
            <a:r>
              <a:rPr lang="en-US" b="1"/>
              <a:t> </a:t>
            </a:r>
            <a:r>
              <a:rPr lang="en-US" b="1" err="1"/>
              <a:t>hình</a:t>
            </a:r>
            <a:r>
              <a:rPr lang="en-US" b="1"/>
              <a:t> </a:t>
            </a:r>
            <a:r>
              <a:rPr lang="en-US" b="1" err="1"/>
              <a:t>học</a:t>
            </a:r>
            <a:r>
              <a:rPr lang="en-US" b="1"/>
              <a:t> </a:t>
            </a:r>
            <a:r>
              <a:rPr lang="en-US" b="1" err="1"/>
              <a:t>cục</a:t>
            </a:r>
            <a:r>
              <a:rPr lang="en-US" b="1"/>
              <a:t> </a:t>
            </a:r>
            <a:r>
              <a:rPr lang="en-US" b="1" err="1"/>
              <a:t>bộ</a:t>
            </a:r>
            <a:endParaRPr lang="en-US" b="1"/>
          </a:p>
        </p:txBody>
      </p:sp>
      <p:sp>
        <p:nvSpPr>
          <p:cNvPr id="9" name="Right Arrow 12">
            <a:extLst>
              <a:ext uri="{FF2B5EF4-FFF2-40B4-BE49-F238E27FC236}">
                <a16:creationId xmlns:a16="http://schemas.microsoft.com/office/drawing/2014/main" id="{1A8256ED-9E55-EA47-C518-4ADA3DE9F70B}"/>
              </a:ext>
            </a:extLst>
          </p:cNvPr>
          <p:cNvSpPr/>
          <p:nvPr/>
        </p:nvSpPr>
        <p:spPr>
          <a:xfrm>
            <a:off x="1628990" y="2734164"/>
            <a:ext cx="256032" cy="182880"/>
          </a:xfrm>
          <a:prstGeom prst="rightArrow">
            <a:avLst/>
          </a:prstGeom>
          <a:solidFill>
            <a:srgbClr val="AAB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 name="TextBox 17">
            <a:extLst>
              <a:ext uri="{FF2B5EF4-FFF2-40B4-BE49-F238E27FC236}">
                <a16:creationId xmlns:a16="http://schemas.microsoft.com/office/drawing/2014/main" id="{A50FA495-E662-EF0B-6664-E3DACB07A11C}"/>
              </a:ext>
            </a:extLst>
          </p:cNvPr>
          <p:cNvSpPr txBox="1"/>
          <p:nvPr/>
        </p:nvSpPr>
        <p:spPr>
          <a:xfrm>
            <a:off x="712361" y="4822692"/>
            <a:ext cx="337993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→Tiền </a:t>
            </a:r>
            <a:r>
              <a:rPr lang="en-US" err="1">
                <a:ea typeface="+mn-lt"/>
                <a:cs typeface="+mn-lt"/>
              </a:rPr>
              <a:t>xử</a:t>
            </a:r>
            <a:r>
              <a:rPr lang="en-US">
                <a:ea typeface="+mn-lt"/>
                <a:cs typeface="+mn-lt"/>
              </a:rPr>
              <a:t> </a:t>
            </a:r>
            <a:r>
              <a:rPr lang="en-US" err="1">
                <a:ea typeface="+mn-lt"/>
                <a:cs typeface="+mn-lt"/>
              </a:rPr>
              <a:t>lý</a:t>
            </a:r>
            <a:r>
              <a:rPr lang="en-US">
                <a:ea typeface="+mn-lt"/>
                <a:cs typeface="+mn-lt"/>
              </a:rPr>
              <a:t> </a:t>
            </a:r>
            <a:endParaRPr lang="en-US"/>
          </a:p>
          <a:p>
            <a:r>
              <a:rPr lang="en-US">
                <a:ea typeface="+mn-lt"/>
                <a:cs typeface="+mn-lt"/>
              </a:rPr>
              <a:t>→ </a:t>
            </a:r>
            <a:r>
              <a:rPr lang="en-US" err="1">
                <a:ea typeface="+mn-lt"/>
                <a:cs typeface="+mn-lt"/>
              </a:rPr>
              <a:t>Phát</a:t>
            </a:r>
            <a:r>
              <a:rPr lang="en-US">
                <a:ea typeface="+mn-lt"/>
                <a:cs typeface="+mn-lt"/>
              </a:rPr>
              <a:t> </a:t>
            </a:r>
            <a:r>
              <a:rPr lang="en-US" err="1">
                <a:ea typeface="+mn-lt"/>
                <a:cs typeface="+mn-lt"/>
              </a:rPr>
              <a:t>hiện</a:t>
            </a:r>
            <a:r>
              <a:rPr lang="en-US">
                <a:ea typeface="+mn-lt"/>
                <a:cs typeface="+mn-lt"/>
              </a:rPr>
              <a:t> </a:t>
            </a:r>
            <a:r>
              <a:rPr lang="en-US" err="1">
                <a:ea typeface="+mn-lt"/>
                <a:cs typeface="+mn-lt"/>
              </a:rPr>
              <a:t>góc</a:t>
            </a:r>
            <a:r>
              <a:rPr lang="en-US">
                <a:ea typeface="+mn-lt"/>
                <a:cs typeface="+mn-lt"/>
              </a:rPr>
              <a:t> </a:t>
            </a:r>
            <a:endParaRPr lang="en-US" err="1">
              <a:ea typeface="+mn-lt"/>
              <a:cs typeface="+mn-lt"/>
            </a:endParaRPr>
          </a:p>
          <a:p>
            <a:r>
              <a:rPr lang="en-US">
                <a:ea typeface="+mn-lt"/>
                <a:cs typeface="+mn-lt"/>
              </a:rPr>
              <a:t>→ Sinh </a:t>
            </a:r>
            <a:r>
              <a:rPr lang="en-US" err="1">
                <a:ea typeface="+mn-lt"/>
                <a:cs typeface="+mn-lt"/>
              </a:rPr>
              <a:t>chuyển</a:t>
            </a:r>
            <a:r>
              <a:rPr lang="en-US">
                <a:ea typeface="+mn-lt"/>
                <a:cs typeface="+mn-lt"/>
              </a:rPr>
              <a:t> </a:t>
            </a:r>
            <a:r>
              <a:rPr lang="en-US" err="1">
                <a:ea typeface="+mn-lt"/>
                <a:cs typeface="+mn-lt"/>
              </a:rPr>
              <a:t>tiếp</a:t>
            </a:r>
            <a:r>
              <a:rPr lang="en-US">
                <a:ea typeface="+mn-lt"/>
                <a:cs typeface="+mn-lt"/>
              </a:rPr>
              <a:t> </a:t>
            </a:r>
            <a:r>
              <a:rPr lang="en-US" err="1">
                <a:ea typeface="+mn-lt"/>
                <a:cs typeface="+mn-lt"/>
              </a:rPr>
              <a:t>Bézier</a:t>
            </a:r>
            <a:r>
              <a:rPr lang="en-US">
                <a:ea typeface="+mn-lt"/>
                <a:cs typeface="+mn-lt"/>
              </a:rPr>
              <a:t> G² </a:t>
            </a:r>
          </a:p>
          <a:p>
            <a:r>
              <a:rPr lang="en-US">
                <a:ea typeface="+mn-lt"/>
                <a:cs typeface="+mn-lt"/>
              </a:rPr>
              <a:t>→ </a:t>
            </a:r>
            <a:r>
              <a:rPr lang="en-US" err="1">
                <a:ea typeface="+mn-lt"/>
                <a:cs typeface="+mn-lt"/>
              </a:rPr>
              <a:t>Tìm</a:t>
            </a:r>
            <a:r>
              <a:rPr lang="en-US">
                <a:ea typeface="+mn-lt"/>
                <a:cs typeface="+mn-lt"/>
              </a:rPr>
              <a:t> </a:t>
            </a:r>
            <a:r>
              <a:rPr lang="en-US" err="1">
                <a:ea typeface="+mn-lt"/>
                <a:cs typeface="+mn-lt"/>
              </a:rPr>
              <a:t>kiếm</a:t>
            </a:r>
            <a:r>
              <a:rPr lang="en-US">
                <a:ea typeface="+mn-lt"/>
                <a:cs typeface="+mn-lt"/>
              </a:rPr>
              <a:t> </a:t>
            </a:r>
            <a:r>
              <a:rPr lang="en-US" err="1">
                <a:ea typeface="+mn-lt"/>
                <a:cs typeface="+mn-lt"/>
              </a:rPr>
              <a:t>hình</a:t>
            </a:r>
            <a:r>
              <a:rPr lang="en-US">
                <a:ea typeface="+mn-lt"/>
                <a:cs typeface="+mn-lt"/>
              </a:rPr>
              <a:t> </a:t>
            </a:r>
            <a:r>
              <a:rPr lang="en-US" err="1">
                <a:ea typeface="+mn-lt"/>
                <a:cs typeface="+mn-lt"/>
              </a:rPr>
              <a:t>học</a:t>
            </a:r>
            <a:endParaRPr lang="en-US"/>
          </a:p>
        </p:txBody>
      </p:sp>
      <p:sp>
        <p:nvSpPr>
          <p:cNvPr id="19" name="Rounded Rectangle 14">
            <a:extLst>
              <a:ext uri="{FF2B5EF4-FFF2-40B4-BE49-F238E27FC236}">
                <a16:creationId xmlns:a16="http://schemas.microsoft.com/office/drawing/2014/main" id="{D1A3ECBC-666D-B72E-CEC6-E21E58E88278}"/>
              </a:ext>
            </a:extLst>
          </p:cNvPr>
          <p:cNvSpPr/>
          <p:nvPr/>
        </p:nvSpPr>
        <p:spPr>
          <a:xfrm>
            <a:off x="4431847" y="4378375"/>
            <a:ext cx="4218126" cy="2328643"/>
          </a:xfrm>
          <a:prstGeom prst="roundRect">
            <a:avLst/>
          </a:prstGeom>
          <a:solidFill>
            <a:srgbClr val="E8F5EC"/>
          </a:solidFill>
          <a:ln w="12700">
            <a:solidFill>
              <a:srgbClr val="E8F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E47E62E-163E-DA8F-128B-470370632878}"/>
              </a:ext>
            </a:extLst>
          </p:cNvPr>
          <p:cNvSpPr txBox="1"/>
          <p:nvPr/>
        </p:nvSpPr>
        <p:spPr>
          <a:xfrm>
            <a:off x="5219267" y="4498857"/>
            <a:ext cx="25920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Kiểm</a:t>
            </a:r>
            <a:r>
              <a:rPr lang="en-US" b="1"/>
              <a:t> </a:t>
            </a:r>
            <a:r>
              <a:rPr lang="en-US" b="1" err="1"/>
              <a:t>tra</a:t>
            </a:r>
            <a:r>
              <a:rPr lang="en-US" b="1"/>
              <a:t> </a:t>
            </a:r>
            <a:r>
              <a:rPr lang="en-US" b="1" err="1"/>
              <a:t>tính</a:t>
            </a:r>
            <a:r>
              <a:rPr lang="en-US" b="1"/>
              <a:t> </a:t>
            </a:r>
            <a:r>
              <a:rPr lang="en-US" b="1" err="1"/>
              <a:t>khả</a:t>
            </a:r>
            <a:r>
              <a:rPr lang="en-US" b="1"/>
              <a:t> </a:t>
            </a:r>
            <a:r>
              <a:rPr lang="en-US" b="1" err="1"/>
              <a:t>thi</a:t>
            </a:r>
            <a:r>
              <a:rPr lang="en-US" b="1"/>
              <a:t> </a:t>
            </a:r>
          </a:p>
        </p:txBody>
      </p:sp>
      <p:sp>
        <p:nvSpPr>
          <p:cNvPr id="22" name="TextBox 21">
            <a:extLst>
              <a:ext uri="{FF2B5EF4-FFF2-40B4-BE49-F238E27FC236}">
                <a16:creationId xmlns:a16="http://schemas.microsoft.com/office/drawing/2014/main" id="{73C1F619-47F2-AAEA-F44D-B41C968183F1}"/>
              </a:ext>
            </a:extLst>
          </p:cNvPr>
          <p:cNvSpPr txBox="1"/>
          <p:nvPr/>
        </p:nvSpPr>
        <p:spPr>
          <a:xfrm>
            <a:off x="4466042" y="4823759"/>
            <a:ext cx="421500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 </a:t>
            </a:r>
            <a:r>
              <a:rPr lang="en-US" err="1">
                <a:ea typeface="+mn-lt"/>
                <a:cs typeface="+mn-lt"/>
              </a:rPr>
              <a:t>Đánh</a:t>
            </a:r>
            <a:r>
              <a:rPr lang="en-US">
                <a:ea typeface="+mn-lt"/>
                <a:cs typeface="+mn-lt"/>
              </a:rPr>
              <a:t> </a:t>
            </a:r>
            <a:r>
              <a:rPr lang="en-US" err="1">
                <a:ea typeface="+mn-lt"/>
                <a:cs typeface="+mn-lt"/>
              </a:rPr>
              <a:t>giá</a:t>
            </a:r>
            <a:r>
              <a:rPr lang="en-US">
                <a:ea typeface="+mn-lt"/>
                <a:cs typeface="+mn-lt"/>
              </a:rPr>
              <a:t> </a:t>
            </a:r>
            <a:r>
              <a:rPr lang="en-US" err="1">
                <a:ea typeface="+mn-lt"/>
                <a:cs typeface="+mn-lt"/>
              </a:rPr>
              <a:t>tính</a:t>
            </a:r>
            <a:r>
              <a:rPr lang="en-US">
                <a:ea typeface="+mn-lt"/>
                <a:cs typeface="+mn-lt"/>
              </a:rPr>
              <a:t> </a:t>
            </a:r>
            <a:r>
              <a:rPr lang="en-US" err="1">
                <a:ea typeface="+mn-lt"/>
                <a:cs typeface="+mn-lt"/>
              </a:rPr>
              <a:t>khả</a:t>
            </a:r>
            <a:r>
              <a:rPr lang="en-US">
                <a:ea typeface="+mn-lt"/>
                <a:cs typeface="+mn-lt"/>
              </a:rPr>
              <a:t> </a:t>
            </a:r>
            <a:r>
              <a:rPr lang="en-US" err="1">
                <a:ea typeface="+mn-lt"/>
                <a:cs typeface="+mn-lt"/>
              </a:rPr>
              <a:t>thi</a:t>
            </a:r>
            <a:r>
              <a:rPr lang="en-US">
                <a:ea typeface="+mn-lt"/>
                <a:cs typeface="+mn-lt"/>
              </a:rPr>
              <a:t> </a:t>
            </a:r>
            <a:r>
              <a:rPr lang="en-US"/>
              <a:t>, bao </a:t>
            </a:r>
            <a:r>
              <a:rPr lang="en-US" err="1"/>
              <a:t>gồm</a:t>
            </a:r>
            <a:r>
              <a:rPr lang="en-US"/>
              <a:t>:</a:t>
            </a:r>
          </a:p>
          <a:p>
            <a:r>
              <a:rPr lang="en-US"/>
              <a:t>    - </a:t>
            </a:r>
            <a:r>
              <a:rPr lang="en-US" err="1"/>
              <a:t>Hình</a:t>
            </a:r>
            <a:r>
              <a:rPr lang="en-US"/>
              <a:t> </a:t>
            </a:r>
            <a:r>
              <a:rPr lang="en-US" err="1"/>
              <a:t>học</a:t>
            </a:r>
            <a:endParaRPr lang="en-US"/>
          </a:p>
          <a:p>
            <a:r>
              <a:rPr lang="en-US"/>
              <a:t>    - </a:t>
            </a:r>
            <a:r>
              <a:rPr lang="en-US" err="1"/>
              <a:t>Động</a:t>
            </a:r>
            <a:r>
              <a:rPr lang="en-US"/>
              <a:t> </a:t>
            </a:r>
            <a:r>
              <a:rPr lang="en-US" err="1"/>
              <a:t>học</a:t>
            </a:r>
            <a:r>
              <a:rPr lang="en-US"/>
              <a:t> </a:t>
            </a:r>
            <a:r>
              <a:rPr lang="en-US" err="1"/>
              <a:t>robotvi</a:t>
            </a:r>
            <a:r>
              <a:rPr lang="en-US"/>
              <a:t> </a:t>
            </a:r>
            <a:r>
              <a:rPr lang="en-US" err="1"/>
              <a:t>sai</a:t>
            </a:r>
            <a:endParaRPr lang="en-US"/>
          </a:p>
          <a:p>
            <a:r>
              <a:rPr lang="en-US"/>
              <a:t>    - Footprint, </a:t>
            </a:r>
          </a:p>
          <a:p>
            <a:r>
              <a:rPr lang="en-US"/>
              <a:t>    - </a:t>
            </a:r>
            <a:r>
              <a:rPr lang="en-US" err="1"/>
              <a:t>Ràng</a:t>
            </a:r>
            <a:r>
              <a:rPr lang="en-US"/>
              <a:t> </a:t>
            </a:r>
            <a:r>
              <a:rPr lang="en-US" err="1"/>
              <a:t>buộc</a:t>
            </a:r>
            <a:r>
              <a:rPr lang="en-US"/>
              <a:t> </a:t>
            </a:r>
            <a:r>
              <a:rPr lang="en-US" err="1"/>
              <a:t>vận</a:t>
            </a:r>
            <a:r>
              <a:rPr lang="en-US"/>
              <a:t> </a:t>
            </a:r>
            <a:r>
              <a:rPr lang="en-US" err="1"/>
              <a:t>tốc</a:t>
            </a:r>
            <a:r>
              <a:rPr lang="en-US"/>
              <a:t> </a:t>
            </a:r>
            <a:r>
              <a:rPr lang="en-US" err="1"/>
              <a:t>theo</a:t>
            </a:r>
            <a:r>
              <a:rPr lang="en-US"/>
              <a:t> </a:t>
            </a:r>
            <a:r>
              <a:rPr lang="en-US" err="1"/>
              <a:t>độ</a:t>
            </a:r>
            <a:r>
              <a:rPr lang="en-US"/>
              <a:t> </a:t>
            </a:r>
            <a:r>
              <a:rPr lang="en-US" err="1"/>
              <a:t>cong</a:t>
            </a:r>
            <a:endParaRPr lang="en-US"/>
          </a:p>
          <a:p>
            <a:r>
              <a:rPr lang="en-US"/>
              <a:t>    - Time gate</a:t>
            </a:r>
          </a:p>
          <a:p>
            <a:endParaRPr lang="en-US"/>
          </a:p>
        </p:txBody>
      </p:sp>
      <p:sp>
        <p:nvSpPr>
          <p:cNvPr id="24" name="Rounded Rectangle 14">
            <a:extLst>
              <a:ext uri="{FF2B5EF4-FFF2-40B4-BE49-F238E27FC236}">
                <a16:creationId xmlns:a16="http://schemas.microsoft.com/office/drawing/2014/main" id="{A1F384B9-D77A-8E93-271E-3A70D9DD8E4A}"/>
              </a:ext>
            </a:extLst>
          </p:cNvPr>
          <p:cNvSpPr/>
          <p:nvPr/>
        </p:nvSpPr>
        <p:spPr>
          <a:xfrm>
            <a:off x="8972532" y="4378374"/>
            <a:ext cx="2840265" cy="1326562"/>
          </a:xfrm>
          <a:prstGeom prst="roundRect">
            <a:avLst/>
          </a:prstGeom>
          <a:solidFill>
            <a:srgbClr val="E8F5EC"/>
          </a:solidFill>
          <a:ln w="12700">
            <a:solidFill>
              <a:srgbClr val="E8F5EC"/>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a:p>
        </p:txBody>
      </p:sp>
      <p:sp>
        <p:nvSpPr>
          <p:cNvPr id="25" name="TextBox 24">
            <a:extLst>
              <a:ext uri="{FF2B5EF4-FFF2-40B4-BE49-F238E27FC236}">
                <a16:creationId xmlns:a16="http://schemas.microsoft.com/office/drawing/2014/main" id="{F59760D2-E250-13B0-246B-88052E62A1D7}"/>
              </a:ext>
            </a:extLst>
          </p:cNvPr>
          <p:cNvSpPr txBox="1"/>
          <p:nvPr/>
        </p:nvSpPr>
        <p:spPr>
          <a:xfrm>
            <a:off x="9833021" y="4498856"/>
            <a:ext cx="12141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Lựa</a:t>
            </a:r>
            <a:r>
              <a:rPr lang="en-US" b="1"/>
              <a:t> </a:t>
            </a:r>
            <a:r>
              <a:rPr lang="en-US" b="1" err="1"/>
              <a:t>chọn</a:t>
            </a:r>
            <a:r>
              <a:rPr lang="en-US" b="1"/>
              <a:t> </a:t>
            </a:r>
          </a:p>
        </p:txBody>
      </p:sp>
      <p:sp>
        <p:nvSpPr>
          <p:cNvPr id="28" name="TextBox 27">
            <a:extLst>
              <a:ext uri="{FF2B5EF4-FFF2-40B4-BE49-F238E27FC236}">
                <a16:creationId xmlns:a16="http://schemas.microsoft.com/office/drawing/2014/main" id="{4FC3EA23-9AF6-B8A9-02A2-84A6BD080AC5}"/>
              </a:ext>
            </a:extLst>
          </p:cNvPr>
          <p:cNvSpPr txBox="1"/>
          <p:nvPr/>
        </p:nvSpPr>
        <p:spPr>
          <a:xfrm>
            <a:off x="9076207" y="4866373"/>
            <a:ext cx="27431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→Quy </a:t>
            </a:r>
            <a:r>
              <a:rPr lang="en-US" err="1"/>
              <a:t>hoạch</a:t>
            </a:r>
            <a:r>
              <a:rPr lang="en-US"/>
              <a:t> </a:t>
            </a:r>
            <a:r>
              <a:rPr lang="en-US" err="1"/>
              <a:t>đường</a:t>
            </a:r>
            <a:r>
              <a:rPr lang="en-US"/>
              <a:t> </a:t>
            </a:r>
          </a:p>
          <a:p>
            <a:r>
              <a:rPr lang="en-US"/>
              <a:t>→ Đường </a:t>
            </a:r>
            <a:r>
              <a:rPr lang="en-US" err="1"/>
              <a:t>đi</a:t>
            </a:r>
            <a:r>
              <a:rPr lang="en-US"/>
              <a:t> </a:t>
            </a:r>
            <a:r>
              <a:rPr lang="en-US" err="1"/>
              <a:t>làm</a:t>
            </a:r>
            <a:r>
              <a:rPr lang="en-US"/>
              <a:t> </a:t>
            </a:r>
            <a:r>
              <a:rPr lang="en-US" err="1"/>
              <a:t>mượt</a:t>
            </a:r>
            <a:r>
              <a:rPr lang="en-US"/>
              <a:t> </a:t>
            </a:r>
          </a:p>
        </p:txBody>
      </p:sp>
    </p:spTree>
    <p:extLst>
      <p:ext uri="{BB962C8B-B14F-4D97-AF65-F5344CB8AC3E}">
        <p14:creationId xmlns:p14="http://schemas.microsoft.com/office/powerpoint/2010/main" val="213354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D0C08-CEE0-484E-A259-72EC0B367D7C}"/>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175C4FF9-A949-01B5-2170-A9CBC22039CF}"/>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A2DAE51B-0B4D-0DE4-EC12-F30EA371FF40}"/>
              </a:ext>
            </a:extLst>
          </p:cNvPr>
          <p:cNvSpPr txBox="1"/>
          <p:nvPr/>
        </p:nvSpPr>
        <p:spPr>
          <a:xfrm>
            <a:off x="594360" y="1232083"/>
            <a:ext cx="6163552" cy="369332"/>
          </a:xfrm>
          <a:prstGeom prst="rect">
            <a:avLst/>
          </a:prstGeom>
          <a:noFill/>
        </p:spPr>
        <p:txBody>
          <a:bodyPr wrap="square" lIns="91440" tIns="45720" rIns="91440" bIns="45720" rtlCol="0">
            <a:spAutoFit/>
          </a:bodyPr>
          <a:lstStyle/>
          <a:p>
            <a:r>
              <a:rPr lang="vi-VN"/>
              <a:t>3. Tiền xử lý đường đi và xác định góc chuyển hướng</a:t>
            </a:r>
          </a:p>
        </p:txBody>
      </p:sp>
      <p:pic>
        <p:nvPicPr>
          <p:cNvPr id="4" name="Picture 8" descr="figure_03_conditioning_actual.png">
            <a:extLst>
              <a:ext uri="{FF2B5EF4-FFF2-40B4-BE49-F238E27FC236}">
                <a16:creationId xmlns:a16="http://schemas.microsoft.com/office/drawing/2014/main" id="{915BF04D-CF2C-17A0-E3F1-50654F592A1F}"/>
              </a:ext>
            </a:extLst>
          </p:cNvPr>
          <p:cNvPicPr>
            <a:picLocks noChangeAspect="1"/>
          </p:cNvPicPr>
          <p:nvPr/>
        </p:nvPicPr>
        <p:blipFill>
          <a:blip r:embed="rId2"/>
          <a:stretch>
            <a:fillRect/>
          </a:stretch>
        </p:blipFill>
        <p:spPr>
          <a:xfrm>
            <a:off x="0" y="3269414"/>
            <a:ext cx="12068402" cy="3519578"/>
          </a:xfrm>
          <a:prstGeom prst="rect">
            <a:avLst/>
          </a:prstGeom>
        </p:spPr>
      </p:pic>
      <p:sp>
        <p:nvSpPr>
          <p:cNvPr id="6" name="TextBox 9">
            <a:extLst>
              <a:ext uri="{FF2B5EF4-FFF2-40B4-BE49-F238E27FC236}">
                <a16:creationId xmlns:a16="http://schemas.microsoft.com/office/drawing/2014/main" id="{2075D6EB-E2C5-3D9C-400D-85A8ADB0DB85}"/>
              </a:ext>
            </a:extLst>
          </p:cNvPr>
          <p:cNvSpPr txBox="1"/>
          <p:nvPr/>
        </p:nvSpPr>
        <p:spPr>
          <a:xfrm>
            <a:off x="170688" y="1989028"/>
            <a:ext cx="1956816" cy="317010"/>
          </a:xfrm>
          <a:prstGeom prst="rect">
            <a:avLst/>
          </a:prstGeom>
          <a:noFill/>
        </p:spPr>
        <p:txBody>
          <a:bodyPr wrap="square" lIns="27432" tIns="27432" rIns="27432" bIns="27432" anchor="t">
            <a:spAutoFit/>
          </a:bodyPr>
          <a:lstStyle/>
          <a:p>
            <a:pPr algn="ctr">
              <a:spcBef>
                <a:spcPts val="0"/>
              </a:spcBef>
              <a:spcAft>
                <a:spcPts val="0"/>
              </a:spcAft>
              <a:defRPr sz="1700" b="1" i="0">
                <a:solidFill>
                  <a:srgbClr val="102A43"/>
                </a:solidFill>
                <a:latin typeface="Arial"/>
              </a:defRPr>
            </a:pPr>
            <a:r>
              <a:rPr err="1"/>
              <a:t>Mục</a:t>
            </a:r>
            <a:r>
              <a:t> </a:t>
            </a:r>
            <a:r>
              <a:rPr lang="vi-VN"/>
              <a:t>tiêu: </a:t>
            </a:r>
            <a:endParaRPr/>
          </a:p>
        </p:txBody>
      </p:sp>
      <p:sp>
        <p:nvSpPr>
          <p:cNvPr id="9" name="TextBox 10">
            <a:extLst>
              <a:ext uri="{FF2B5EF4-FFF2-40B4-BE49-F238E27FC236}">
                <a16:creationId xmlns:a16="http://schemas.microsoft.com/office/drawing/2014/main" id="{ED8DCB47-7DA5-DA7B-3C02-72CF176FA978}"/>
              </a:ext>
            </a:extLst>
          </p:cNvPr>
          <p:cNvSpPr txBox="1"/>
          <p:nvPr/>
        </p:nvSpPr>
        <p:spPr>
          <a:xfrm>
            <a:off x="2127504" y="1991978"/>
            <a:ext cx="2259192" cy="999761"/>
          </a:xfrm>
          <a:prstGeom prst="rect">
            <a:avLst/>
          </a:prstGeom>
          <a:noFill/>
        </p:spPr>
        <p:txBody>
          <a:bodyPr wrap="square" lIns="18288" tIns="18288" rIns="18288" bIns="18288">
            <a:spAutoFit/>
          </a:bodyPr>
          <a:lstStyle/>
          <a:p>
            <a:pPr algn="l">
              <a:lnSpc>
                <a:spcPct val="105000"/>
              </a:lnSpc>
              <a:spcBef>
                <a:spcPts val="0"/>
              </a:spcBef>
              <a:spcAft>
                <a:spcPts val="800"/>
              </a:spcAft>
            </a:pPr>
            <a:r>
              <a:rPr sz="1600" b="1">
                <a:solidFill>
                  <a:srgbClr val="0B7A75"/>
                </a:solidFill>
                <a:latin typeface="Arial"/>
              </a:rPr>
              <a:t>• </a:t>
            </a:r>
            <a:r>
              <a:rPr sz="1600" b="0" err="1">
                <a:solidFill>
                  <a:srgbClr val="172B3A"/>
                </a:solidFill>
                <a:latin typeface="Arial"/>
              </a:rPr>
              <a:t>bỏ</a:t>
            </a:r>
            <a:r>
              <a:rPr sz="1600" b="0">
                <a:solidFill>
                  <a:srgbClr val="172B3A"/>
                </a:solidFill>
                <a:latin typeface="Arial"/>
              </a:rPr>
              <a:t> </a:t>
            </a:r>
            <a:r>
              <a:rPr sz="1600" b="0" err="1">
                <a:solidFill>
                  <a:srgbClr val="172B3A"/>
                </a:solidFill>
                <a:latin typeface="Arial"/>
              </a:rPr>
              <a:t>điểm</a:t>
            </a:r>
            <a:r>
              <a:rPr sz="1600" b="0">
                <a:solidFill>
                  <a:srgbClr val="172B3A"/>
                </a:solidFill>
                <a:latin typeface="Arial"/>
              </a:rPr>
              <a:t> </a:t>
            </a:r>
            <a:r>
              <a:rPr sz="1600" b="0" err="1">
                <a:solidFill>
                  <a:srgbClr val="172B3A"/>
                </a:solidFill>
                <a:latin typeface="Arial"/>
              </a:rPr>
              <a:t>trùng</a:t>
            </a:r>
            <a:endParaRPr sz="1600" b="0">
              <a:solidFill>
                <a:srgbClr val="172B3A"/>
              </a:solidFill>
              <a:latin typeface="Arial"/>
            </a:endParaRPr>
          </a:p>
          <a:p>
            <a:pPr algn="l">
              <a:lnSpc>
                <a:spcPct val="105000"/>
              </a:lnSpc>
              <a:spcBef>
                <a:spcPts val="0"/>
              </a:spcBef>
              <a:spcAft>
                <a:spcPts val="800"/>
              </a:spcAft>
            </a:pPr>
            <a:r>
              <a:rPr sz="1600" b="1">
                <a:solidFill>
                  <a:srgbClr val="0B7A75"/>
                </a:solidFill>
                <a:latin typeface="Arial"/>
              </a:rPr>
              <a:t>• </a:t>
            </a:r>
            <a:r>
              <a:rPr sz="1600" b="0" err="1">
                <a:solidFill>
                  <a:srgbClr val="172B3A"/>
                </a:solidFill>
                <a:latin typeface="Arial"/>
              </a:rPr>
              <a:t>triệt</a:t>
            </a:r>
            <a:r>
              <a:rPr sz="1600" b="0">
                <a:solidFill>
                  <a:srgbClr val="172B3A"/>
                </a:solidFill>
                <a:latin typeface="Arial"/>
              </a:rPr>
              <a:t> zigzag</a:t>
            </a:r>
          </a:p>
          <a:p>
            <a:pPr algn="l">
              <a:lnSpc>
                <a:spcPct val="105000"/>
              </a:lnSpc>
              <a:spcBef>
                <a:spcPts val="0"/>
              </a:spcBef>
              <a:spcAft>
                <a:spcPts val="800"/>
              </a:spcAft>
            </a:pPr>
            <a:r>
              <a:rPr sz="1600" b="1">
                <a:solidFill>
                  <a:srgbClr val="0B7A75"/>
                </a:solidFill>
                <a:latin typeface="Arial"/>
              </a:rPr>
              <a:t>• </a:t>
            </a:r>
            <a:r>
              <a:rPr sz="1600" b="0" err="1">
                <a:solidFill>
                  <a:srgbClr val="172B3A"/>
                </a:solidFill>
                <a:latin typeface="Arial"/>
              </a:rPr>
              <a:t>giữ</a:t>
            </a:r>
            <a:r>
              <a:rPr sz="1600" b="0">
                <a:solidFill>
                  <a:srgbClr val="172B3A"/>
                </a:solidFill>
                <a:latin typeface="Arial"/>
              </a:rPr>
              <a:t> endpoints</a:t>
            </a:r>
          </a:p>
        </p:txBody>
      </p:sp>
    </p:spTree>
    <p:extLst>
      <p:ext uri="{BB962C8B-B14F-4D97-AF65-F5344CB8AC3E}">
        <p14:creationId xmlns:p14="http://schemas.microsoft.com/office/powerpoint/2010/main" val="3358487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CE20-5BA9-A72B-61F2-1C43A3998372}"/>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E076EC40-35E0-D7F8-8137-92C0DDD6D4F8}"/>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732F6E27-5036-EC5E-8BD2-E877126E5FCE}"/>
              </a:ext>
            </a:extLst>
          </p:cNvPr>
          <p:cNvSpPr txBox="1"/>
          <p:nvPr/>
        </p:nvSpPr>
        <p:spPr>
          <a:xfrm>
            <a:off x="594360" y="1232083"/>
            <a:ext cx="7931396" cy="646331"/>
          </a:xfrm>
          <a:prstGeom prst="rect">
            <a:avLst/>
          </a:prstGeom>
          <a:noFill/>
        </p:spPr>
        <p:txBody>
          <a:bodyPr wrap="square" rtlCol="0">
            <a:spAutoFit/>
          </a:bodyPr>
          <a:lstStyle/>
          <a:p>
            <a:r>
              <a:rPr lang="vi-VN"/>
              <a:t>3. Tiền xử lý đường đi và xác định góc chuyển hướng</a:t>
            </a:r>
          </a:p>
          <a:p>
            <a:endParaRPr lang="vi-VN"/>
          </a:p>
        </p:txBody>
      </p:sp>
      <p:pic>
        <p:nvPicPr>
          <p:cNvPr id="5" name="Picture 8" descr="image13.png">
            <a:extLst>
              <a:ext uri="{FF2B5EF4-FFF2-40B4-BE49-F238E27FC236}">
                <a16:creationId xmlns:a16="http://schemas.microsoft.com/office/drawing/2014/main" id="{E7D06B31-76D0-B0BB-F578-36CC9E008228}"/>
              </a:ext>
            </a:extLst>
          </p:cNvPr>
          <p:cNvPicPr>
            <a:picLocks noChangeAspect="1"/>
          </p:cNvPicPr>
          <p:nvPr/>
        </p:nvPicPr>
        <p:blipFill>
          <a:blip r:embed="rId2"/>
          <a:stretch>
            <a:fillRect/>
          </a:stretch>
        </p:blipFill>
        <p:spPr>
          <a:xfrm>
            <a:off x="883448" y="2386246"/>
            <a:ext cx="10632368" cy="3182112"/>
          </a:xfrm>
          <a:prstGeom prst="rect">
            <a:avLst/>
          </a:prstGeom>
        </p:spPr>
      </p:pic>
      <p:pic>
        <p:nvPicPr>
          <p:cNvPr id="4" name="Picture 3" descr="A black background with blue letters&#10;&#10;AI-generated content may be incorrect.">
            <a:extLst>
              <a:ext uri="{FF2B5EF4-FFF2-40B4-BE49-F238E27FC236}">
                <a16:creationId xmlns:a16="http://schemas.microsoft.com/office/drawing/2014/main" id="{B44DC8E5-71AB-0044-468E-5FA4F68F39A6}"/>
              </a:ext>
            </a:extLst>
          </p:cNvPr>
          <p:cNvPicPr>
            <a:picLocks noChangeAspect="1"/>
          </p:cNvPicPr>
          <p:nvPr/>
        </p:nvPicPr>
        <p:blipFill>
          <a:blip r:embed="rId3"/>
          <a:stretch>
            <a:fillRect/>
          </a:stretch>
        </p:blipFill>
        <p:spPr>
          <a:xfrm>
            <a:off x="-679373" y="5923061"/>
            <a:ext cx="12192000" cy="557035"/>
          </a:xfrm>
          <a:prstGeom prst="rect">
            <a:avLst/>
          </a:prstGeom>
        </p:spPr>
      </p:pic>
      <p:sp>
        <p:nvSpPr>
          <p:cNvPr id="6" name="TextBox 5">
            <a:extLst>
              <a:ext uri="{FF2B5EF4-FFF2-40B4-BE49-F238E27FC236}">
                <a16:creationId xmlns:a16="http://schemas.microsoft.com/office/drawing/2014/main" id="{A0066FC9-3CF8-198A-9A81-1DEF20E60BCD}"/>
              </a:ext>
            </a:extLst>
          </p:cNvPr>
          <p:cNvSpPr txBox="1"/>
          <p:nvPr/>
        </p:nvSpPr>
        <p:spPr>
          <a:xfrm>
            <a:off x="2653229" y="5641554"/>
            <a:ext cx="6096000" cy="5616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US" sz="1250" b="0" i="0" kern="1200">
                <a:solidFill>
                  <a:srgbClr val="5B6876"/>
                </a:solidFill>
                <a:latin typeface="Noto Sans"/>
                <a:ea typeface="+mn-ea"/>
                <a:cs typeface="+mn-cs"/>
              </a:rPr>
              <a:t>Chỉ nhận dây cung khi sai số ≤ ε_RDP và vùng quét hình bao an toàn.</a:t>
            </a:r>
          </a:p>
          <a:p>
            <a:pPr algn="ctr"/>
            <a:endParaRPr lang="en-US"/>
          </a:p>
        </p:txBody>
      </p:sp>
      <p:sp>
        <p:nvSpPr>
          <p:cNvPr id="3" name="TextBox 2">
            <a:extLst>
              <a:ext uri="{FF2B5EF4-FFF2-40B4-BE49-F238E27FC236}">
                <a16:creationId xmlns:a16="http://schemas.microsoft.com/office/drawing/2014/main" id="{39032216-1C15-295F-0848-232B8F96BAA3}"/>
              </a:ext>
            </a:extLst>
          </p:cNvPr>
          <p:cNvSpPr txBox="1"/>
          <p:nvPr/>
        </p:nvSpPr>
        <p:spPr>
          <a:xfrm>
            <a:off x="591030" y="1693291"/>
            <a:ext cx="943418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RDP </a:t>
            </a:r>
            <a:r>
              <a:rPr lang="en-US" err="1">
                <a:ea typeface="+mn-lt"/>
                <a:cs typeface="+mn-lt"/>
              </a:rPr>
              <a:t>dùng</a:t>
            </a:r>
            <a:r>
              <a:rPr lang="en-US">
                <a:ea typeface="+mn-lt"/>
                <a:cs typeface="+mn-lt"/>
              </a:rPr>
              <a:t> </a:t>
            </a:r>
            <a:r>
              <a:rPr lang="en-US" err="1">
                <a:ea typeface="+mn-lt"/>
                <a:cs typeface="+mn-lt"/>
              </a:rPr>
              <a:t>để</a:t>
            </a:r>
            <a:r>
              <a:rPr lang="en-US">
                <a:ea typeface="+mn-lt"/>
                <a:cs typeface="+mn-lt"/>
              </a:rPr>
              <a:t> </a:t>
            </a:r>
            <a:r>
              <a:rPr lang="en-US" err="1">
                <a:ea typeface="+mn-lt"/>
                <a:cs typeface="+mn-lt"/>
              </a:rPr>
              <a:t>giảm</a:t>
            </a:r>
            <a:r>
              <a:rPr lang="en-US">
                <a:ea typeface="+mn-lt"/>
                <a:cs typeface="+mn-lt"/>
              </a:rPr>
              <a:t> </a:t>
            </a:r>
            <a:r>
              <a:rPr lang="en-US" err="1">
                <a:ea typeface="+mn-lt"/>
                <a:cs typeface="+mn-lt"/>
              </a:rPr>
              <a:t>các</a:t>
            </a:r>
            <a:r>
              <a:rPr lang="en-US">
                <a:ea typeface="+mn-lt"/>
                <a:cs typeface="+mn-lt"/>
              </a:rPr>
              <a:t> waypoint </a:t>
            </a:r>
            <a:r>
              <a:rPr lang="en-US" err="1">
                <a:ea typeface="+mn-lt"/>
                <a:cs typeface="+mn-lt"/>
              </a:rPr>
              <a:t>dư</a:t>
            </a:r>
            <a:r>
              <a:rPr lang="en-US">
                <a:ea typeface="+mn-lt"/>
                <a:cs typeface="+mn-lt"/>
              </a:rPr>
              <a:t> </a:t>
            </a:r>
            <a:r>
              <a:rPr lang="en-US" err="1">
                <a:ea typeface="+mn-lt"/>
                <a:cs typeface="+mn-lt"/>
              </a:rPr>
              <a:t>và</a:t>
            </a:r>
            <a:r>
              <a:rPr lang="en-US">
                <a:ea typeface="+mn-lt"/>
                <a:cs typeface="+mn-lt"/>
              </a:rPr>
              <a:t> dao </a:t>
            </a:r>
            <a:r>
              <a:rPr lang="en-US" err="1">
                <a:ea typeface="+mn-lt"/>
                <a:cs typeface="+mn-lt"/>
              </a:rPr>
              <a:t>động</a:t>
            </a:r>
            <a:r>
              <a:rPr lang="en-US">
                <a:ea typeface="+mn-lt"/>
                <a:cs typeface="+mn-lt"/>
              </a:rPr>
              <a:t> </a:t>
            </a:r>
            <a:r>
              <a:rPr lang="en-US" err="1">
                <a:ea typeface="+mn-lt"/>
                <a:cs typeface="+mn-lt"/>
              </a:rPr>
              <a:t>cấp</a:t>
            </a:r>
            <a:r>
              <a:rPr lang="en-US">
                <a:ea typeface="+mn-lt"/>
                <a:cs typeface="+mn-lt"/>
              </a:rPr>
              <a:t> </a:t>
            </a:r>
            <a:r>
              <a:rPr lang="en-US" err="1">
                <a:ea typeface="+mn-lt"/>
                <a:cs typeface="+mn-lt"/>
              </a:rPr>
              <a:t>lưới</a:t>
            </a:r>
            <a:r>
              <a:rPr lang="en-US">
                <a:ea typeface="+mn-lt"/>
                <a:cs typeface="+mn-lt"/>
              </a:rPr>
              <a:t> </a:t>
            </a:r>
            <a:r>
              <a:rPr lang="en-US" err="1">
                <a:ea typeface="+mn-lt"/>
                <a:cs typeface="+mn-lt"/>
              </a:rPr>
              <a:t>trước</a:t>
            </a:r>
            <a:r>
              <a:rPr lang="en-US">
                <a:ea typeface="+mn-lt"/>
                <a:cs typeface="+mn-lt"/>
              </a:rPr>
              <a:t> </a:t>
            </a:r>
            <a:r>
              <a:rPr lang="en-US" err="1">
                <a:ea typeface="+mn-lt"/>
                <a:cs typeface="+mn-lt"/>
              </a:rPr>
              <a:t>khi</a:t>
            </a:r>
            <a:r>
              <a:rPr lang="en-US">
                <a:ea typeface="+mn-lt"/>
                <a:cs typeface="+mn-lt"/>
              </a:rPr>
              <a:t> </a:t>
            </a:r>
            <a:r>
              <a:rPr lang="en-US" err="1">
                <a:ea typeface="+mn-lt"/>
                <a:cs typeface="+mn-lt"/>
              </a:rPr>
              <a:t>phát</a:t>
            </a:r>
            <a:r>
              <a:rPr lang="en-US">
                <a:ea typeface="+mn-lt"/>
                <a:cs typeface="+mn-lt"/>
              </a:rPr>
              <a:t> </a:t>
            </a:r>
            <a:r>
              <a:rPr lang="en-US" err="1">
                <a:ea typeface="+mn-lt"/>
                <a:cs typeface="+mn-lt"/>
              </a:rPr>
              <a:t>hiện</a:t>
            </a:r>
            <a:r>
              <a:rPr lang="en-US">
                <a:ea typeface="+mn-lt"/>
                <a:cs typeface="+mn-lt"/>
              </a:rPr>
              <a:t> </a:t>
            </a:r>
            <a:r>
              <a:rPr lang="en-US" err="1">
                <a:ea typeface="+mn-lt"/>
                <a:cs typeface="+mn-lt"/>
              </a:rPr>
              <a:t>góc</a:t>
            </a:r>
            <a:r>
              <a:rPr lang="en-US">
                <a:ea typeface="+mn-lt"/>
                <a:cs typeface="+mn-lt"/>
              </a:rPr>
              <a:t> </a:t>
            </a:r>
            <a:r>
              <a:rPr lang="en-US" err="1">
                <a:ea typeface="+mn-lt"/>
                <a:cs typeface="+mn-lt"/>
              </a:rPr>
              <a:t>có</a:t>
            </a:r>
            <a:r>
              <a:rPr lang="en-US">
                <a:ea typeface="+mn-lt"/>
                <a:cs typeface="+mn-lt"/>
              </a:rPr>
              <a:t> ý </a:t>
            </a:r>
            <a:r>
              <a:rPr lang="en-US" err="1">
                <a:ea typeface="+mn-lt"/>
                <a:cs typeface="+mn-lt"/>
              </a:rPr>
              <a:t>nghĩa</a:t>
            </a:r>
            <a:r>
              <a:rPr lang="en-US">
                <a:ea typeface="+mn-lt"/>
                <a:cs typeface="+mn-lt"/>
              </a:rPr>
              <a:t>.</a:t>
            </a:r>
            <a:endParaRPr lang="en-US"/>
          </a:p>
        </p:txBody>
      </p:sp>
    </p:spTree>
    <p:extLst>
      <p:ext uri="{BB962C8B-B14F-4D97-AF65-F5344CB8AC3E}">
        <p14:creationId xmlns:p14="http://schemas.microsoft.com/office/powerpoint/2010/main" val="1046256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06118-49C9-9F86-A9D6-C397DE7CE8D1}"/>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CCD8E350-EE39-EB1C-1334-9578BD178D45}"/>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A64BDA44-6B62-E446-830A-382AE0D6AD47}"/>
              </a:ext>
            </a:extLst>
          </p:cNvPr>
          <p:cNvSpPr txBox="1"/>
          <p:nvPr/>
        </p:nvSpPr>
        <p:spPr>
          <a:xfrm>
            <a:off x="594360" y="1232083"/>
            <a:ext cx="7252903" cy="646331"/>
          </a:xfrm>
          <a:prstGeom prst="rect">
            <a:avLst/>
          </a:prstGeom>
          <a:noFill/>
        </p:spPr>
        <p:txBody>
          <a:bodyPr wrap="square" rtlCol="0">
            <a:spAutoFit/>
          </a:bodyPr>
          <a:lstStyle/>
          <a:p>
            <a:r>
              <a:rPr lang="vi-VN"/>
              <a:t>3. Tiền xử lý đường đi và xác định góc chuyển hướng</a:t>
            </a:r>
          </a:p>
          <a:p>
            <a:endParaRPr lang="vi-VN"/>
          </a:p>
        </p:txBody>
      </p:sp>
      <p:pic>
        <p:nvPicPr>
          <p:cNvPr id="4" name="Picture 12" descr="image16.png">
            <a:extLst>
              <a:ext uri="{FF2B5EF4-FFF2-40B4-BE49-F238E27FC236}">
                <a16:creationId xmlns:a16="http://schemas.microsoft.com/office/drawing/2014/main" id="{3CAA591F-01F0-9649-018A-35BF46C51861}"/>
              </a:ext>
            </a:extLst>
          </p:cNvPr>
          <p:cNvPicPr>
            <a:picLocks noChangeAspect="1"/>
          </p:cNvPicPr>
          <p:nvPr/>
        </p:nvPicPr>
        <p:blipFill>
          <a:blip r:embed="rId2"/>
          <a:stretch>
            <a:fillRect/>
          </a:stretch>
        </p:blipFill>
        <p:spPr>
          <a:xfrm>
            <a:off x="1271386" y="2657310"/>
            <a:ext cx="9462382" cy="3560610"/>
          </a:xfrm>
          <a:prstGeom prst="rect">
            <a:avLst/>
          </a:prstGeom>
        </p:spPr>
      </p:pic>
    </p:spTree>
    <p:extLst>
      <p:ext uri="{BB962C8B-B14F-4D97-AF65-F5344CB8AC3E}">
        <p14:creationId xmlns:p14="http://schemas.microsoft.com/office/powerpoint/2010/main" val="2223405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7A932-82F7-71AF-289F-B8E573C7E5BC}"/>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94D413D5-FB9C-47E0-E7D7-5B678FCD41BD}"/>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B6BF9A38-ABE9-AC57-968C-974277B9EA8F}"/>
              </a:ext>
            </a:extLst>
          </p:cNvPr>
          <p:cNvSpPr txBox="1"/>
          <p:nvPr/>
        </p:nvSpPr>
        <p:spPr>
          <a:xfrm>
            <a:off x="594360" y="1232083"/>
            <a:ext cx="5321808" cy="923330"/>
          </a:xfrm>
          <a:prstGeom prst="rect">
            <a:avLst/>
          </a:prstGeom>
          <a:noFill/>
        </p:spPr>
        <p:txBody>
          <a:bodyPr wrap="square" rtlCol="0">
            <a:spAutoFit/>
          </a:bodyPr>
          <a:lstStyle/>
          <a:p>
            <a:r>
              <a:rPr lang="vi-VN"/>
              <a:t>3. Tiền xử lý đường đi và xác định góc chuyển hướng</a:t>
            </a:r>
          </a:p>
          <a:p>
            <a:endParaRPr lang="vi-VN"/>
          </a:p>
        </p:txBody>
      </p:sp>
      <p:sp>
        <p:nvSpPr>
          <p:cNvPr id="8" name="TextBox 9">
            <a:extLst>
              <a:ext uri="{FF2B5EF4-FFF2-40B4-BE49-F238E27FC236}">
                <a16:creationId xmlns:a16="http://schemas.microsoft.com/office/drawing/2014/main" id="{249139D9-3B41-5C7B-6EC9-BBC77B79A644}"/>
              </a:ext>
            </a:extLst>
          </p:cNvPr>
          <p:cNvSpPr txBox="1"/>
          <p:nvPr/>
        </p:nvSpPr>
        <p:spPr>
          <a:xfrm>
            <a:off x="694944" y="2155413"/>
            <a:ext cx="4736592" cy="1471172"/>
          </a:xfrm>
          <a:prstGeom prst="rect">
            <a:avLst/>
          </a:prstGeom>
          <a:noFill/>
        </p:spPr>
        <p:txBody>
          <a:bodyPr wrap="square" lIns="27432" tIns="27432" rIns="27432" bIns="27432" anchor="t">
            <a:spAutoFit/>
          </a:bodyPr>
          <a:lstStyle/>
          <a:p>
            <a:pPr>
              <a:spcBef>
                <a:spcPts val="0"/>
              </a:spcBef>
              <a:spcAft>
                <a:spcPts val="0"/>
              </a:spcAft>
              <a:defRPr sz="2300" b="1" i="0">
                <a:solidFill>
                  <a:srgbClr val="102A43"/>
                </a:solidFill>
                <a:latin typeface="Arial"/>
              </a:defRPr>
            </a:pPr>
            <a:r>
              <a:t>|θ| &lt; 5°</a:t>
            </a:r>
            <a:r>
              <a:rPr lang="vi-VN"/>
              <a:t> -&gt; bỏ qua điểm</a:t>
            </a:r>
          </a:p>
          <a:p>
            <a:pPr>
              <a:defRPr sz="2300" b="1" i="0">
                <a:solidFill>
                  <a:srgbClr val="102A43"/>
                </a:solidFill>
                <a:latin typeface="Arial"/>
              </a:defRPr>
            </a:pPr>
            <a:r>
              <a:rPr lang="el-GR"/>
              <a:t>5° &lt; |θ| </a:t>
            </a:r>
            <a:r>
              <a:rPr lang="vi-VN"/>
              <a:t>&lt; 170</a:t>
            </a:r>
            <a:r>
              <a:rPr lang="el-GR"/>
              <a:t>°</a:t>
            </a:r>
            <a:r>
              <a:rPr lang="vi-VN"/>
              <a:t>  -&gt; </a:t>
            </a:r>
            <a:r>
              <a:rPr lang="vi-VN" sz="2300">
                <a:ea typeface="+mn-lt"/>
                <a:cs typeface="Arial"/>
              </a:rPr>
              <a:t>xét chuyển tiếp hoặc quay tại chỗ</a:t>
            </a:r>
            <a:r>
              <a:rPr lang="vi-VN"/>
              <a:t> </a:t>
            </a:r>
            <a:endParaRPr lang="vi-VN">
              <a:cs typeface="Arial"/>
            </a:endParaRPr>
          </a:p>
          <a:p>
            <a:pPr>
              <a:defRPr sz="2300" b="1" i="0">
                <a:solidFill>
                  <a:srgbClr val="102A43"/>
                </a:solidFill>
                <a:latin typeface="Arial"/>
              </a:defRPr>
            </a:pPr>
            <a:r>
              <a:rPr lang="vi-VN"/>
              <a:t>170° &lt; |θ| &lt; 175° → Quay tại chỗ </a:t>
            </a:r>
            <a:endParaRPr lang="en-US"/>
          </a:p>
        </p:txBody>
      </p:sp>
      <p:pic>
        <p:nvPicPr>
          <p:cNvPr id="3" name="Picture 2">
            <a:extLst>
              <a:ext uri="{FF2B5EF4-FFF2-40B4-BE49-F238E27FC236}">
                <a16:creationId xmlns:a16="http://schemas.microsoft.com/office/drawing/2014/main" id="{44FD54EC-39B8-80E9-91F8-56D61D4FBEA0}"/>
              </a:ext>
            </a:extLst>
          </p:cNvPr>
          <p:cNvPicPr>
            <a:picLocks noChangeAspect="1"/>
          </p:cNvPicPr>
          <p:nvPr/>
        </p:nvPicPr>
        <p:blipFill>
          <a:blip r:embed="rId2"/>
          <a:stretch>
            <a:fillRect/>
          </a:stretch>
        </p:blipFill>
        <p:spPr>
          <a:xfrm>
            <a:off x="6100690" y="1894048"/>
            <a:ext cx="5972175" cy="1009650"/>
          </a:xfrm>
          <a:prstGeom prst="rect">
            <a:avLst/>
          </a:prstGeom>
        </p:spPr>
      </p:pic>
      <p:pic>
        <p:nvPicPr>
          <p:cNvPr id="4" name="Picture 3">
            <a:extLst>
              <a:ext uri="{FF2B5EF4-FFF2-40B4-BE49-F238E27FC236}">
                <a16:creationId xmlns:a16="http://schemas.microsoft.com/office/drawing/2014/main" id="{21653836-A3DD-E120-E29A-8D961C97ECD6}"/>
              </a:ext>
            </a:extLst>
          </p:cNvPr>
          <p:cNvPicPr>
            <a:picLocks noChangeAspect="1"/>
          </p:cNvPicPr>
          <p:nvPr/>
        </p:nvPicPr>
        <p:blipFill>
          <a:blip r:embed="rId3"/>
          <a:stretch>
            <a:fillRect/>
          </a:stretch>
        </p:blipFill>
        <p:spPr>
          <a:xfrm>
            <a:off x="6099542" y="2889736"/>
            <a:ext cx="5962650" cy="1057275"/>
          </a:xfrm>
          <a:prstGeom prst="rect">
            <a:avLst/>
          </a:prstGeom>
        </p:spPr>
      </p:pic>
      <p:sp>
        <p:nvSpPr>
          <p:cNvPr id="5" name="TextBox 4">
            <a:extLst>
              <a:ext uri="{FF2B5EF4-FFF2-40B4-BE49-F238E27FC236}">
                <a16:creationId xmlns:a16="http://schemas.microsoft.com/office/drawing/2014/main" id="{3E28575C-64DF-F2A0-E584-D942FC7D952A}"/>
              </a:ext>
            </a:extLst>
          </p:cNvPr>
          <p:cNvSpPr txBox="1"/>
          <p:nvPr/>
        </p:nvSpPr>
        <p:spPr>
          <a:xfrm>
            <a:off x="5577961" y="4256460"/>
            <a:ext cx="6423106" cy="9219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45143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EA465-7404-AB36-BC4C-FF272BF8532D}"/>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C3EE9BC8-9543-EB96-061D-6E38C299457E}"/>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F4F31D1B-5406-18FD-B235-5FDD0458DB27}"/>
              </a:ext>
            </a:extLst>
          </p:cNvPr>
          <p:cNvSpPr txBox="1"/>
          <p:nvPr/>
        </p:nvSpPr>
        <p:spPr>
          <a:xfrm>
            <a:off x="594360" y="1232083"/>
            <a:ext cx="5321808" cy="646331"/>
          </a:xfrm>
          <a:prstGeom prst="rect">
            <a:avLst/>
          </a:prstGeom>
          <a:noFill/>
        </p:spPr>
        <p:txBody>
          <a:bodyPr wrap="square" rtlCol="0">
            <a:spAutoFit/>
          </a:bodyPr>
          <a:lstStyle/>
          <a:p>
            <a:r>
              <a:rPr lang="vi-VN"/>
              <a:t>4. Mô hình chuyển tiếp </a:t>
            </a:r>
            <a:r>
              <a:rPr lang="vi-VN" err="1"/>
              <a:t>Bézier</a:t>
            </a:r>
            <a:r>
              <a:rPr lang="vi-VN"/>
              <a:t> bậc năm G²</a:t>
            </a:r>
            <a:endParaRPr lang="vi-VN">
              <a:effectLst/>
            </a:endParaRPr>
          </a:p>
          <a:p>
            <a:endParaRPr lang="vi-VN"/>
          </a:p>
        </p:txBody>
      </p:sp>
      <p:pic>
        <p:nvPicPr>
          <p:cNvPr id="3" name="Picture 13">
            <a:extLst>
              <a:ext uri="{FF2B5EF4-FFF2-40B4-BE49-F238E27FC236}">
                <a16:creationId xmlns:a16="http://schemas.microsoft.com/office/drawing/2014/main" id="{82B9C21E-D458-4EB8-5157-62546FE4AD22}"/>
              </a:ext>
            </a:extLst>
          </p:cNvPr>
          <p:cNvPicPr>
            <a:picLocks noChangeAspect="1"/>
          </p:cNvPicPr>
          <p:nvPr/>
        </p:nvPicPr>
        <p:blipFill>
          <a:blip r:embed="rId2"/>
          <a:stretch>
            <a:fillRect/>
          </a:stretch>
        </p:blipFill>
        <p:spPr>
          <a:xfrm>
            <a:off x="142024" y="1692805"/>
            <a:ext cx="11317915" cy="3468815"/>
          </a:xfrm>
          <a:prstGeom prst="rect">
            <a:avLst/>
          </a:prstGeom>
        </p:spPr>
      </p:pic>
      <p:sp>
        <p:nvSpPr>
          <p:cNvPr id="4" name="TextBox 3">
            <a:extLst>
              <a:ext uri="{FF2B5EF4-FFF2-40B4-BE49-F238E27FC236}">
                <a16:creationId xmlns:a16="http://schemas.microsoft.com/office/drawing/2014/main" id="{C10D005E-2AD2-78AA-99CA-15900EE5CB95}"/>
              </a:ext>
            </a:extLst>
          </p:cNvPr>
          <p:cNvSpPr txBox="1"/>
          <p:nvPr/>
        </p:nvSpPr>
        <p:spPr>
          <a:xfrm>
            <a:off x="271606" y="5302326"/>
            <a:ext cx="1171647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G</a:t>
            </a:r>
            <a:r>
              <a:rPr lang="en-US" baseline="30000"/>
              <a:t>1</a:t>
            </a:r>
            <a:r>
              <a:rPr lang="en-US"/>
              <a:t>:</a:t>
            </a:r>
            <a:r>
              <a:rPr lang="en-US">
                <a:ea typeface="+mn-lt"/>
                <a:cs typeface="+mn-lt"/>
              </a:rPr>
              <a:t> </a:t>
            </a:r>
            <a:r>
              <a:rPr lang="en-US" err="1">
                <a:ea typeface="+mn-lt"/>
                <a:cs typeface="+mn-lt"/>
              </a:rPr>
              <a:t>Chỉ</a:t>
            </a:r>
            <a:r>
              <a:rPr lang="en-US">
                <a:ea typeface="+mn-lt"/>
                <a:cs typeface="+mn-lt"/>
              </a:rPr>
              <a:t> </a:t>
            </a:r>
            <a:r>
              <a:rPr lang="en-US" err="1">
                <a:ea typeface="+mn-lt"/>
                <a:cs typeface="+mn-lt"/>
              </a:rPr>
              <a:t>khớp</a:t>
            </a:r>
            <a:r>
              <a:rPr lang="en-US">
                <a:ea typeface="+mn-lt"/>
                <a:cs typeface="+mn-lt"/>
              </a:rPr>
              <a:t> </a:t>
            </a:r>
            <a:r>
              <a:rPr lang="en-US" err="1">
                <a:ea typeface="+mn-lt"/>
                <a:cs typeface="+mn-lt"/>
              </a:rPr>
              <a:t>tiếp</a:t>
            </a:r>
            <a:r>
              <a:rPr lang="en-US">
                <a:ea typeface="+mn-lt"/>
                <a:cs typeface="+mn-lt"/>
              </a:rPr>
              <a:t> </a:t>
            </a:r>
            <a:r>
              <a:rPr lang="en-US" err="1">
                <a:ea typeface="+mn-lt"/>
                <a:cs typeface="+mn-lt"/>
              </a:rPr>
              <a:t>tuyến</a:t>
            </a:r>
            <a:r>
              <a:rPr lang="en-US">
                <a:ea typeface="+mn-lt"/>
                <a:cs typeface="+mn-lt"/>
              </a:rPr>
              <a:t>; curvature </a:t>
            </a:r>
            <a:r>
              <a:rPr lang="en-US" err="1">
                <a:ea typeface="+mn-lt"/>
                <a:cs typeface="+mn-lt"/>
              </a:rPr>
              <a:t>vẫn</a:t>
            </a:r>
            <a:r>
              <a:rPr lang="en-US">
                <a:ea typeface="+mn-lt"/>
                <a:cs typeface="+mn-lt"/>
              </a:rPr>
              <a:t> </a:t>
            </a:r>
            <a:r>
              <a:rPr lang="en-US" err="1">
                <a:ea typeface="+mn-lt"/>
                <a:cs typeface="+mn-lt"/>
              </a:rPr>
              <a:t>có</a:t>
            </a:r>
            <a:r>
              <a:rPr lang="en-US">
                <a:ea typeface="+mn-lt"/>
                <a:cs typeface="+mn-lt"/>
              </a:rPr>
              <a:t> </a:t>
            </a:r>
            <a:r>
              <a:rPr lang="en-US" err="1">
                <a:ea typeface="+mn-lt"/>
                <a:cs typeface="+mn-lt"/>
              </a:rPr>
              <a:t>thể</a:t>
            </a:r>
            <a:r>
              <a:rPr lang="en-US">
                <a:ea typeface="+mn-lt"/>
                <a:cs typeface="+mn-lt"/>
              </a:rPr>
              <a:t> </a:t>
            </a:r>
            <a:r>
              <a:rPr lang="en-US" err="1">
                <a:ea typeface="+mn-lt"/>
                <a:cs typeface="+mn-lt"/>
              </a:rPr>
              <a:t>nhảy</a:t>
            </a:r>
            <a:r>
              <a:rPr lang="en-US">
                <a:ea typeface="+mn-lt"/>
                <a:cs typeface="+mn-lt"/>
              </a:rPr>
              <a:t> </a:t>
            </a:r>
            <a:r>
              <a:rPr lang="en-US" err="1">
                <a:ea typeface="+mn-lt"/>
                <a:cs typeface="+mn-lt"/>
              </a:rPr>
              <a:t>giữa</a:t>
            </a:r>
            <a:r>
              <a:rPr lang="en-US">
                <a:ea typeface="+mn-lt"/>
                <a:cs typeface="+mn-lt"/>
              </a:rPr>
              <a:t> </a:t>
            </a:r>
            <a:r>
              <a:rPr lang="en-US" err="1">
                <a:ea typeface="+mn-lt"/>
                <a:cs typeface="+mn-lt"/>
              </a:rPr>
              <a:t>đường</a:t>
            </a:r>
            <a:r>
              <a:rPr lang="en-US">
                <a:ea typeface="+mn-lt"/>
                <a:cs typeface="+mn-lt"/>
              </a:rPr>
              <a:t> </a:t>
            </a:r>
            <a:r>
              <a:rPr lang="en-US" err="1">
                <a:ea typeface="+mn-lt"/>
                <a:cs typeface="+mn-lt"/>
              </a:rPr>
              <a:t>thẳng</a:t>
            </a:r>
            <a:r>
              <a:rPr lang="en-US">
                <a:ea typeface="+mn-lt"/>
                <a:cs typeface="+mn-lt"/>
              </a:rPr>
              <a:t> </a:t>
            </a:r>
            <a:r>
              <a:rPr lang="en-US" err="1">
                <a:ea typeface="+mn-lt"/>
                <a:cs typeface="+mn-lt"/>
              </a:rPr>
              <a:t>và</a:t>
            </a:r>
            <a:r>
              <a:rPr lang="en-US">
                <a:ea typeface="+mn-lt"/>
                <a:cs typeface="+mn-lt"/>
              </a:rPr>
              <a:t> </a:t>
            </a:r>
            <a:r>
              <a:rPr lang="en-US" err="1">
                <a:ea typeface="+mn-lt"/>
                <a:cs typeface="+mn-lt"/>
              </a:rPr>
              <a:t>đường</a:t>
            </a:r>
            <a:r>
              <a:rPr lang="en-US">
                <a:ea typeface="+mn-lt"/>
                <a:cs typeface="+mn-lt"/>
              </a:rPr>
              <a:t> </a:t>
            </a:r>
            <a:r>
              <a:rPr lang="en-US" err="1">
                <a:ea typeface="+mn-lt"/>
                <a:cs typeface="+mn-lt"/>
              </a:rPr>
              <a:t>cong</a:t>
            </a:r>
            <a:endParaRPr lang="en-US"/>
          </a:p>
          <a:p>
            <a:r>
              <a:rPr lang="en-US"/>
              <a:t>G</a:t>
            </a:r>
            <a:r>
              <a:rPr lang="en-US" baseline="30000"/>
              <a:t>2</a:t>
            </a:r>
            <a:r>
              <a:rPr lang="en-US"/>
              <a:t>: </a:t>
            </a:r>
            <a:r>
              <a:rPr lang="en-US" err="1"/>
              <a:t>Không</a:t>
            </a:r>
            <a:r>
              <a:rPr lang="en-US"/>
              <a:t> </a:t>
            </a:r>
            <a:r>
              <a:rPr lang="en-US" err="1"/>
              <a:t>tạo</a:t>
            </a:r>
            <a:r>
              <a:rPr lang="en-US"/>
              <a:t> </a:t>
            </a:r>
            <a:r>
              <a:rPr lang="en-US" err="1"/>
              <a:t>bước</a:t>
            </a:r>
            <a:r>
              <a:rPr lang="en-US"/>
              <a:t> </a:t>
            </a:r>
            <a:r>
              <a:rPr lang="en-US" err="1"/>
              <a:t>nhảy</a:t>
            </a:r>
            <a:r>
              <a:rPr lang="en-US"/>
              <a:t> curvature, </a:t>
            </a:r>
            <a:r>
              <a:rPr lang="en-US" err="1"/>
              <a:t>đoạn</a:t>
            </a:r>
            <a:r>
              <a:rPr lang="en-US"/>
              <a:t> </a:t>
            </a:r>
            <a:r>
              <a:rPr lang="en-US" err="1"/>
              <a:t>cong</a:t>
            </a:r>
            <a:r>
              <a:rPr lang="en-US"/>
              <a:t> </a:t>
            </a:r>
            <a:r>
              <a:rPr lang="en-US" err="1"/>
              <a:t>có</a:t>
            </a:r>
            <a:r>
              <a:rPr lang="en-US"/>
              <a:t> k=0 </a:t>
            </a:r>
            <a:r>
              <a:rPr lang="en-US" err="1"/>
              <a:t>tại</a:t>
            </a:r>
            <a:r>
              <a:rPr lang="en-US"/>
              <a:t> </a:t>
            </a:r>
            <a:r>
              <a:rPr lang="en-US" err="1"/>
              <a:t>điểm</a:t>
            </a:r>
            <a:r>
              <a:rPr lang="en-US"/>
              <a:t> </a:t>
            </a:r>
            <a:r>
              <a:rPr lang="en-US" err="1"/>
              <a:t>nối</a:t>
            </a:r>
            <a:r>
              <a:rPr lang="en-US"/>
              <a:t> </a:t>
            </a:r>
            <a:r>
              <a:rPr lang="en-US" err="1"/>
              <a:t>giữa</a:t>
            </a:r>
            <a:r>
              <a:rPr lang="en-US"/>
              <a:t> </a:t>
            </a:r>
            <a:r>
              <a:rPr lang="en-US" err="1"/>
              <a:t>đoạn</a:t>
            </a:r>
            <a:r>
              <a:rPr lang="en-US"/>
              <a:t> </a:t>
            </a:r>
            <a:r>
              <a:rPr lang="en-US" err="1"/>
              <a:t>thẳng</a:t>
            </a:r>
            <a:r>
              <a:rPr lang="en-US"/>
              <a:t> </a:t>
            </a:r>
            <a:r>
              <a:rPr lang="en-US" err="1"/>
              <a:t>và</a:t>
            </a:r>
            <a:r>
              <a:rPr lang="en-US"/>
              <a:t> </a:t>
            </a:r>
            <a:r>
              <a:rPr lang="en-US" err="1"/>
              <a:t>đường</a:t>
            </a:r>
            <a:r>
              <a:rPr lang="en-US"/>
              <a:t> cong. </a:t>
            </a:r>
          </a:p>
          <a:p>
            <a:r>
              <a:rPr lang="en-US"/>
              <a:t>=&gt;</a:t>
            </a:r>
            <a:r>
              <a:rPr lang="en-US">
                <a:ea typeface="+mn-lt"/>
                <a:cs typeface="+mn-lt"/>
              </a:rPr>
              <a:t> </a:t>
            </a:r>
            <a:r>
              <a:rPr lang="en-US" err="1">
                <a:ea typeface="+mn-lt"/>
                <a:cs typeface="+mn-lt"/>
              </a:rPr>
              <a:t>Lựa</a:t>
            </a:r>
            <a:r>
              <a:rPr lang="en-US">
                <a:ea typeface="+mn-lt"/>
                <a:cs typeface="+mn-lt"/>
              </a:rPr>
              <a:t> </a:t>
            </a:r>
            <a:r>
              <a:rPr lang="en-US" err="1">
                <a:ea typeface="+mn-lt"/>
                <a:cs typeface="+mn-lt"/>
              </a:rPr>
              <a:t>chọn</a:t>
            </a:r>
            <a:r>
              <a:rPr lang="en-US">
                <a:ea typeface="+mn-lt"/>
                <a:cs typeface="+mn-lt"/>
              </a:rPr>
              <a:t> G</a:t>
            </a:r>
            <a:r>
              <a:rPr lang="en-US" baseline="30000">
                <a:ea typeface="+mn-lt"/>
                <a:cs typeface="+mn-lt"/>
              </a:rPr>
              <a:t>2</a:t>
            </a:r>
            <a:r>
              <a:rPr lang="en-US">
                <a:ea typeface="+mn-lt"/>
                <a:cs typeface="+mn-lt"/>
              </a:rPr>
              <a:t> </a:t>
            </a:r>
            <a:r>
              <a:rPr lang="en-US" err="1">
                <a:ea typeface="+mn-lt"/>
                <a:cs typeface="+mn-lt"/>
              </a:rPr>
              <a:t>hướng</a:t>
            </a:r>
            <a:r>
              <a:rPr lang="en-US">
                <a:ea typeface="+mn-lt"/>
                <a:cs typeface="+mn-lt"/>
              </a:rPr>
              <a:t> </a:t>
            </a:r>
            <a:r>
              <a:rPr lang="en-US" err="1">
                <a:ea typeface="+mn-lt"/>
                <a:cs typeface="+mn-lt"/>
              </a:rPr>
              <a:t>tiếp</a:t>
            </a:r>
            <a:r>
              <a:rPr lang="en-US">
                <a:ea typeface="+mn-lt"/>
                <a:cs typeface="+mn-lt"/>
              </a:rPr>
              <a:t> </a:t>
            </a:r>
            <a:r>
              <a:rPr lang="en-US" err="1">
                <a:ea typeface="+mn-lt"/>
                <a:cs typeface="+mn-lt"/>
              </a:rPr>
              <a:t>tuyến</a:t>
            </a:r>
            <a:r>
              <a:rPr lang="en-US">
                <a:ea typeface="+mn-lt"/>
                <a:cs typeface="+mn-lt"/>
              </a:rPr>
              <a:t> </a:t>
            </a:r>
            <a:r>
              <a:rPr lang="en-US" err="1">
                <a:ea typeface="+mn-lt"/>
                <a:cs typeface="+mn-lt"/>
              </a:rPr>
              <a:t>và</a:t>
            </a:r>
            <a:r>
              <a:rPr lang="en-US">
                <a:ea typeface="+mn-lt"/>
                <a:cs typeface="+mn-lt"/>
              </a:rPr>
              <a:t> </a:t>
            </a:r>
            <a:r>
              <a:rPr lang="en-US" err="1">
                <a:ea typeface="+mn-lt"/>
                <a:cs typeface="+mn-lt"/>
              </a:rPr>
              <a:t>độ</a:t>
            </a:r>
            <a:r>
              <a:rPr lang="en-US">
                <a:ea typeface="+mn-lt"/>
                <a:cs typeface="+mn-lt"/>
              </a:rPr>
              <a:t> </a:t>
            </a:r>
            <a:r>
              <a:rPr lang="en-US" err="1">
                <a:ea typeface="+mn-lt"/>
                <a:cs typeface="+mn-lt"/>
              </a:rPr>
              <a:t>cong</a:t>
            </a:r>
            <a:r>
              <a:rPr lang="en-US">
                <a:ea typeface="+mn-lt"/>
                <a:cs typeface="+mn-lt"/>
              </a:rPr>
              <a:t> </a:t>
            </a:r>
            <a:r>
              <a:rPr lang="en-US" err="1">
                <a:ea typeface="+mn-lt"/>
                <a:cs typeface="+mn-lt"/>
              </a:rPr>
              <a:t>bằng</a:t>
            </a:r>
            <a:r>
              <a:rPr lang="en-US">
                <a:ea typeface="+mn-lt"/>
                <a:cs typeface="+mn-lt"/>
              </a:rPr>
              <a:t> 0 </a:t>
            </a:r>
            <a:r>
              <a:rPr lang="en-US" err="1">
                <a:ea typeface="+mn-lt"/>
                <a:cs typeface="+mn-lt"/>
              </a:rPr>
              <a:t>tại</a:t>
            </a:r>
            <a:r>
              <a:rPr lang="en-US">
                <a:ea typeface="+mn-lt"/>
                <a:cs typeface="+mn-lt"/>
              </a:rPr>
              <a:t> </a:t>
            </a:r>
            <a:r>
              <a:rPr lang="en-US" err="1">
                <a:ea typeface="+mn-lt"/>
                <a:cs typeface="+mn-lt"/>
              </a:rPr>
              <a:t>hai</a:t>
            </a:r>
            <a:r>
              <a:rPr lang="en-US">
                <a:ea typeface="+mn-lt"/>
                <a:cs typeface="+mn-lt"/>
              </a:rPr>
              <a:t> </a:t>
            </a:r>
            <a:r>
              <a:rPr lang="en-US" err="1">
                <a:ea typeface="+mn-lt"/>
                <a:cs typeface="+mn-lt"/>
              </a:rPr>
              <a:t>biên</a:t>
            </a:r>
            <a:r>
              <a:rPr lang="en-US">
                <a:ea typeface="+mn-lt"/>
                <a:cs typeface="+mn-lt"/>
              </a:rPr>
              <a:t>, </a:t>
            </a:r>
            <a:r>
              <a:rPr lang="en-US" err="1">
                <a:ea typeface="+mn-lt"/>
                <a:cs typeface="+mn-lt"/>
              </a:rPr>
              <a:t>trong</a:t>
            </a:r>
            <a:r>
              <a:rPr lang="en-US">
                <a:ea typeface="+mn-lt"/>
                <a:cs typeface="+mn-lt"/>
              </a:rPr>
              <a:t> </a:t>
            </a:r>
            <a:r>
              <a:rPr lang="en-US" err="1">
                <a:ea typeface="+mn-lt"/>
                <a:cs typeface="+mn-lt"/>
              </a:rPr>
              <a:t>khi</a:t>
            </a:r>
            <a:r>
              <a:rPr lang="en-US">
                <a:ea typeface="+mn-lt"/>
                <a:cs typeface="+mn-lt"/>
              </a:rPr>
              <a:t> </a:t>
            </a:r>
            <a:r>
              <a:rPr lang="en-US" err="1">
                <a:ea typeface="+mn-lt"/>
                <a:cs typeface="+mn-lt"/>
              </a:rPr>
              <a:t>vẫn</a:t>
            </a:r>
            <a:r>
              <a:rPr lang="en-US">
                <a:ea typeface="+mn-lt"/>
                <a:cs typeface="+mn-lt"/>
              </a:rPr>
              <a:t> </a:t>
            </a:r>
            <a:r>
              <a:rPr lang="en-US" err="1">
                <a:ea typeface="+mn-lt"/>
                <a:cs typeface="+mn-lt"/>
              </a:rPr>
              <a:t>giữ</a:t>
            </a:r>
            <a:r>
              <a:rPr lang="en-US">
                <a:ea typeface="+mn-lt"/>
                <a:cs typeface="+mn-lt"/>
              </a:rPr>
              <a:t> </a:t>
            </a:r>
            <a:r>
              <a:rPr lang="en-US" err="1">
                <a:ea typeface="+mn-lt"/>
                <a:cs typeface="+mn-lt"/>
              </a:rPr>
              <a:t>một</a:t>
            </a:r>
            <a:r>
              <a:rPr lang="en-US">
                <a:ea typeface="+mn-lt"/>
                <a:cs typeface="+mn-lt"/>
              </a:rPr>
              <a:t> </a:t>
            </a:r>
            <a:r>
              <a:rPr lang="en-US" err="1">
                <a:ea typeface="+mn-lt"/>
                <a:cs typeface="+mn-lt"/>
              </a:rPr>
              <a:t>tham</a:t>
            </a:r>
            <a:r>
              <a:rPr lang="en-US">
                <a:ea typeface="+mn-lt"/>
                <a:cs typeface="+mn-lt"/>
              </a:rPr>
              <a:t> </a:t>
            </a:r>
            <a:r>
              <a:rPr lang="en-US" err="1">
                <a:ea typeface="+mn-lt"/>
                <a:cs typeface="+mn-lt"/>
              </a:rPr>
              <a:t>số</a:t>
            </a:r>
            <a:r>
              <a:rPr lang="en-US">
                <a:ea typeface="+mn-lt"/>
                <a:cs typeface="+mn-lt"/>
              </a:rPr>
              <a:t> </a:t>
            </a:r>
            <a:r>
              <a:rPr lang="en-US" err="1">
                <a:ea typeface="+mn-lt"/>
                <a:cs typeface="+mn-lt"/>
              </a:rPr>
              <a:t>hình</a:t>
            </a:r>
            <a:r>
              <a:rPr lang="en-US">
                <a:ea typeface="+mn-lt"/>
                <a:cs typeface="+mn-lt"/>
              </a:rPr>
              <a:t> </a:t>
            </a:r>
            <a:r>
              <a:rPr lang="en-US" err="1">
                <a:ea typeface="+mn-lt"/>
                <a:cs typeface="+mn-lt"/>
              </a:rPr>
              <a:t>dạng</a:t>
            </a:r>
            <a:r>
              <a:rPr lang="en-US">
                <a:ea typeface="+mn-lt"/>
                <a:cs typeface="+mn-lt"/>
              </a:rPr>
              <a:t> α.</a:t>
            </a:r>
            <a:endParaRPr lang="en-US"/>
          </a:p>
        </p:txBody>
      </p:sp>
    </p:spTree>
    <p:extLst>
      <p:ext uri="{BB962C8B-B14F-4D97-AF65-F5344CB8AC3E}">
        <p14:creationId xmlns:p14="http://schemas.microsoft.com/office/powerpoint/2010/main" val="3102185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1EAA1-097E-EF1B-9B1A-A7F7F9EAC5BA}"/>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A634BE93-0D3C-78F7-8821-861D85B9BF24}"/>
              </a:ext>
            </a:extLst>
          </p:cNvPr>
          <p:cNvSpPr txBox="1"/>
          <p:nvPr/>
        </p:nvSpPr>
        <p:spPr>
          <a:xfrm>
            <a:off x="567779" y="255678"/>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2CCBB0B1-B170-4CA6-6BB6-A2CC919881E6}"/>
              </a:ext>
            </a:extLst>
          </p:cNvPr>
          <p:cNvSpPr txBox="1"/>
          <p:nvPr/>
        </p:nvSpPr>
        <p:spPr>
          <a:xfrm>
            <a:off x="567779" y="727037"/>
            <a:ext cx="5321808" cy="369332"/>
          </a:xfrm>
          <a:prstGeom prst="rect">
            <a:avLst/>
          </a:prstGeom>
          <a:noFill/>
        </p:spPr>
        <p:txBody>
          <a:bodyPr wrap="square" lIns="91440" tIns="45720" rIns="91440" bIns="45720" rtlCol="0" anchor="t">
            <a:spAutoFit/>
          </a:bodyPr>
          <a:lstStyle/>
          <a:p>
            <a:r>
              <a:rPr lang="vi-VN">
                <a:latin typeface="Arial"/>
                <a:cs typeface="Arial"/>
              </a:rPr>
              <a:t>4. Mô hình chuyển tiếp Bézier bậc năm G²</a:t>
            </a:r>
            <a:endParaRPr lang="vi-VN">
              <a:effectLst/>
              <a:latin typeface="Arial"/>
              <a:cs typeface="Arial"/>
            </a:endParaRPr>
          </a:p>
        </p:txBody>
      </p:sp>
      <p:pic>
        <p:nvPicPr>
          <p:cNvPr id="4" name="Picture 8" descr="image19.png">
            <a:extLst>
              <a:ext uri="{FF2B5EF4-FFF2-40B4-BE49-F238E27FC236}">
                <a16:creationId xmlns:a16="http://schemas.microsoft.com/office/drawing/2014/main" id="{F14B243D-F35E-E613-2810-1FED311ED106}"/>
              </a:ext>
            </a:extLst>
          </p:cNvPr>
          <p:cNvPicPr>
            <a:picLocks noChangeAspect="1"/>
          </p:cNvPicPr>
          <p:nvPr/>
        </p:nvPicPr>
        <p:blipFill>
          <a:blip r:embed="rId2"/>
          <a:stretch>
            <a:fillRect/>
          </a:stretch>
        </p:blipFill>
        <p:spPr>
          <a:xfrm>
            <a:off x="150628" y="1098693"/>
            <a:ext cx="11894832" cy="2980727"/>
          </a:xfrm>
          <a:prstGeom prst="rect">
            <a:avLst/>
          </a:prstGeom>
        </p:spPr>
      </p:pic>
      <p:pic>
        <p:nvPicPr>
          <p:cNvPr id="3" name="Picture 2">
            <a:extLst>
              <a:ext uri="{FF2B5EF4-FFF2-40B4-BE49-F238E27FC236}">
                <a16:creationId xmlns:a16="http://schemas.microsoft.com/office/drawing/2014/main" id="{3DBEFB0D-117C-C57D-1746-C7333AC3D19A}"/>
              </a:ext>
            </a:extLst>
          </p:cNvPr>
          <p:cNvPicPr>
            <a:picLocks noChangeAspect="1"/>
          </p:cNvPicPr>
          <p:nvPr/>
        </p:nvPicPr>
        <p:blipFill>
          <a:blip r:embed="rId3"/>
          <a:stretch>
            <a:fillRect/>
          </a:stretch>
        </p:blipFill>
        <p:spPr>
          <a:xfrm>
            <a:off x="473475" y="3984450"/>
            <a:ext cx="11239500" cy="2019300"/>
          </a:xfrm>
          <a:prstGeom prst="rect">
            <a:avLst/>
          </a:prstGeom>
        </p:spPr>
      </p:pic>
      <p:graphicFrame>
        <p:nvGraphicFramePr>
          <p:cNvPr id="8" name="Table 7">
            <a:extLst>
              <a:ext uri="{FF2B5EF4-FFF2-40B4-BE49-F238E27FC236}">
                <a16:creationId xmlns:a16="http://schemas.microsoft.com/office/drawing/2014/main" id="{8D600855-0F2A-8DAE-0630-F8BCE9340197}"/>
              </a:ext>
            </a:extLst>
          </p:cNvPr>
          <p:cNvGraphicFramePr>
            <a:graphicFrameLocks noGrp="1"/>
          </p:cNvGraphicFramePr>
          <p:nvPr>
            <p:extLst>
              <p:ext uri="{D42A27DB-BD31-4B8C-83A1-F6EECF244321}">
                <p14:modId xmlns:p14="http://schemas.microsoft.com/office/powerpoint/2010/main" val="1666969662"/>
              </p:ext>
            </p:extLst>
          </p:nvPr>
        </p:nvGraphicFramePr>
        <p:xfrm>
          <a:off x="248093" y="6211185"/>
          <a:ext cx="11941586" cy="548640"/>
        </p:xfrm>
        <a:graphic>
          <a:graphicData uri="http://schemas.openxmlformats.org/drawingml/2006/table">
            <a:tbl>
              <a:tblPr firstRow="1" firstCol="1" bandRow="1">
                <a:tableStyleId>{5C22544A-7EE6-4342-B048-85BDC9FD1C3A}</a:tableStyleId>
              </a:tblPr>
              <a:tblGrid>
                <a:gridCol w="11941586">
                  <a:extLst>
                    <a:ext uri="{9D8B030D-6E8A-4147-A177-3AD203B41FA5}">
                      <a16:colId xmlns:a16="http://schemas.microsoft.com/office/drawing/2014/main" val="1878954308"/>
                    </a:ext>
                  </a:extLst>
                </a:gridCol>
              </a:tblGrid>
              <a:tr h="0">
                <a:tc>
                  <a:txBody>
                    <a:bodyPr/>
                    <a:lstStyle/>
                    <a:p>
                      <a:pPr algn="just">
                        <a:buNone/>
                      </a:pPr>
                      <a:r>
                        <a:rPr lang="en-US">
                          <a:solidFill>
                            <a:schemeClr val="tx1"/>
                          </a:solidFill>
                          <a:effectLst/>
                        </a:rPr>
                        <a:t>PSTMO </a:t>
                      </a:r>
                      <a:r>
                        <a:rPr lang="en-US" err="1">
                          <a:solidFill>
                            <a:schemeClr val="tx1"/>
                          </a:solidFill>
                          <a:effectLst/>
                        </a:rPr>
                        <a:t>dùng</a:t>
                      </a:r>
                      <a:r>
                        <a:rPr lang="en-US">
                          <a:solidFill>
                            <a:schemeClr val="tx1"/>
                          </a:solidFill>
                          <a:effectLst/>
                        </a:rPr>
                        <a:t> </a:t>
                      </a:r>
                      <a:r>
                        <a:rPr lang="en-US" err="1">
                          <a:solidFill>
                            <a:schemeClr val="tx1"/>
                          </a:solidFill>
                          <a:effectLst/>
                        </a:rPr>
                        <a:t>Bézier</a:t>
                      </a:r>
                      <a:r>
                        <a:rPr lang="en-US">
                          <a:solidFill>
                            <a:schemeClr val="tx1"/>
                          </a:solidFill>
                          <a:effectLst/>
                        </a:rPr>
                        <a:t> </a:t>
                      </a:r>
                      <a:r>
                        <a:rPr lang="en-US" err="1">
                          <a:solidFill>
                            <a:schemeClr val="tx1"/>
                          </a:solidFill>
                          <a:effectLst/>
                        </a:rPr>
                        <a:t>bậc</a:t>
                      </a:r>
                      <a:r>
                        <a:rPr lang="en-US">
                          <a:solidFill>
                            <a:schemeClr val="tx1"/>
                          </a:solidFill>
                          <a:effectLst/>
                        </a:rPr>
                        <a:t> </a:t>
                      </a:r>
                      <a:r>
                        <a:rPr lang="en-US" err="1">
                          <a:solidFill>
                            <a:schemeClr val="tx1"/>
                          </a:solidFill>
                          <a:effectLst/>
                        </a:rPr>
                        <a:t>năm</a:t>
                      </a:r>
                      <a:r>
                        <a:rPr lang="en-US">
                          <a:solidFill>
                            <a:schemeClr val="tx1"/>
                          </a:solidFill>
                          <a:effectLst/>
                        </a:rPr>
                        <a:t> </a:t>
                      </a:r>
                      <a:r>
                        <a:rPr lang="en-US" err="1">
                          <a:solidFill>
                            <a:schemeClr val="tx1"/>
                          </a:solidFill>
                          <a:effectLst/>
                        </a:rPr>
                        <a:t>vì</a:t>
                      </a:r>
                      <a:r>
                        <a:rPr lang="en-US">
                          <a:solidFill>
                            <a:schemeClr val="tx1"/>
                          </a:solidFill>
                          <a:effectLst/>
                        </a:rPr>
                        <a:t> </a:t>
                      </a:r>
                      <a:r>
                        <a:rPr lang="en-US" err="1">
                          <a:solidFill>
                            <a:schemeClr val="tx1"/>
                          </a:solidFill>
                          <a:effectLst/>
                        </a:rPr>
                        <a:t>đây</a:t>
                      </a:r>
                      <a:r>
                        <a:rPr lang="en-US">
                          <a:solidFill>
                            <a:schemeClr val="tx1"/>
                          </a:solidFill>
                          <a:effectLst/>
                        </a:rPr>
                        <a:t> </a:t>
                      </a:r>
                      <a:r>
                        <a:rPr lang="en-US" err="1">
                          <a:solidFill>
                            <a:schemeClr val="tx1"/>
                          </a:solidFill>
                          <a:effectLst/>
                        </a:rPr>
                        <a:t>là</a:t>
                      </a:r>
                      <a:r>
                        <a:rPr lang="en-US">
                          <a:solidFill>
                            <a:schemeClr val="tx1"/>
                          </a:solidFill>
                          <a:effectLst/>
                        </a:rPr>
                        <a:t> </a:t>
                      </a:r>
                      <a:r>
                        <a:rPr lang="en-US" err="1">
                          <a:solidFill>
                            <a:schemeClr val="tx1"/>
                          </a:solidFill>
                          <a:effectLst/>
                        </a:rPr>
                        <a:t>cấu</a:t>
                      </a:r>
                      <a:r>
                        <a:rPr lang="en-US">
                          <a:solidFill>
                            <a:schemeClr val="tx1"/>
                          </a:solidFill>
                          <a:effectLst/>
                        </a:rPr>
                        <a:t> </a:t>
                      </a:r>
                      <a:r>
                        <a:rPr lang="en-US" err="1">
                          <a:solidFill>
                            <a:schemeClr val="tx1"/>
                          </a:solidFill>
                          <a:effectLst/>
                        </a:rPr>
                        <a:t>trúc</a:t>
                      </a:r>
                      <a:r>
                        <a:rPr lang="en-US">
                          <a:solidFill>
                            <a:schemeClr val="tx1"/>
                          </a:solidFill>
                          <a:effectLst/>
                        </a:rPr>
                        <a:t> </a:t>
                      </a:r>
                      <a:r>
                        <a:rPr lang="en-US" err="1">
                          <a:solidFill>
                            <a:schemeClr val="tx1"/>
                          </a:solidFill>
                          <a:effectLst/>
                        </a:rPr>
                        <a:t>gọn</a:t>
                      </a:r>
                      <a:r>
                        <a:rPr lang="en-US">
                          <a:solidFill>
                            <a:schemeClr val="tx1"/>
                          </a:solidFill>
                          <a:effectLst/>
                        </a:rPr>
                        <a:t> </a:t>
                      </a:r>
                      <a:r>
                        <a:rPr lang="en-US" err="1">
                          <a:solidFill>
                            <a:schemeClr val="tx1"/>
                          </a:solidFill>
                          <a:effectLst/>
                        </a:rPr>
                        <a:t>cho</a:t>
                      </a:r>
                      <a:r>
                        <a:rPr lang="en-US">
                          <a:solidFill>
                            <a:schemeClr val="tx1"/>
                          </a:solidFill>
                          <a:effectLst/>
                        </a:rPr>
                        <a:t> </a:t>
                      </a:r>
                      <a:r>
                        <a:rPr lang="en-US" err="1">
                          <a:solidFill>
                            <a:schemeClr val="tx1"/>
                          </a:solidFill>
                          <a:effectLst/>
                        </a:rPr>
                        <a:t>phép</a:t>
                      </a:r>
                      <a:r>
                        <a:rPr lang="en-US">
                          <a:solidFill>
                            <a:schemeClr val="tx1"/>
                          </a:solidFill>
                          <a:effectLst/>
                        </a:rPr>
                        <a:t> </a:t>
                      </a:r>
                      <a:r>
                        <a:rPr lang="en-US" err="1">
                          <a:solidFill>
                            <a:schemeClr val="tx1"/>
                          </a:solidFill>
                          <a:effectLst/>
                        </a:rPr>
                        <a:t>thỏa</a:t>
                      </a:r>
                      <a:r>
                        <a:rPr lang="en-US">
                          <a:solidFill>
                            <a:schemeClr val="tx1"/>
                          </a:solidFill>
                          <a:effectLst/>
                        </a:rPr>
                        <a:t> </a:t>
                      </a:r>
                      <a:r>
                        <a:rPr lang="en-US" err="1">
                          <a:solidFill>
                            <a:schemeClr val="tx1"/>
                          </a:solidFill>
                          <a:effectLst/>
                        </a:rPr>
                        <a:t>toàn</a:t>
                      </a:r>
                      <a:r>
                        <a:rPr lang="en-US">
                          <a:solidFill>
                            <a:schemeClr val="tx1"/>
                          </a:solidFill>
                          <a:effectLst/>
                        </a:rPr>
                        <a:t> </a:t>
                      </a:r>
                      <a:r>
                        <a:rPr lang="en-US" err="1">
                          <a:solidFill>
                            <a:schemeClr val="tx1"/>
                          </a:solidFill>
                          <a:effectLst/>
                        </a:rPr>
                        <a:t>bộ</a:t>
                      </a:r>
                      <a:r>
                        <a:rPr lang="en-US">
                          <a:solidFill>
                            <a:schemeClr val="tx1"/>
                          </a:solidFill>
                          <a:effectLst/>
                        </a:rPr>
                        <a:t> </a:t>
                      </a:r>
                      <a:r>
                        <a:rPr lang="en-US" err="1">
                          <a:solidFill>
                            <a:schemeClr val="tx1"/>
                          </a:solidFill>
                          <a:effectLst/>
                        </a:rPr>
                        <a:t>điều</a:t>
                      </a:r>
                      <a:r>
                        <a:rPr lang="en-US">
                          <a:solidFill>
                            <a:schemeClr val="tx1"/>
                          </a:solidFill>
                          <a:effectLst/>
                        </a:rPr>
                        <a:t> </a:t>
                      </a:r>
                      <a:r>
                        <a:rPr lang="en-US" err="1">
                          <a:solidFill>
                            <a:schemeClr val="tx1"/>
                          </a:solidFill>
                          <a:effectLst/>
                        </a:rPr>
                        <a:t>kiện</a:t>
                      </a:r>
                      <a:r>
                        <a:rPr lang="en-US">
                          <a:solidFill>
                            <a:schemeClr val="tx1"/>
                          </a:solidFill>
                          <a:effectLst/>
                        </a:rPr>
                        <a:t> </a:t>
                      </a:r>
                      <a:r>
                        <a:rPr lang="en-US" err="1">
                          <a:solidFill>
                            <a:schemeClr val="tx1"/>
                          </a:solidFill>
                          <a:effectLst/>
                        </a:rPr>
                        <a:t>biên</a:t>
                      </a:r>
                      <a:r>
                        <a:rPr lang="en-US">
                          <a:solidFill>
                            <a:schemeClr val="tx1"/>
                          </a:solidFill>
                          <a:effectLst/>
                        </a:rPr>
                        <a:t> G² </a:t>
                      </a:r>
                      <a:r>
                        <a:rPr lang="en-US" err="1">
                          <a:solidFill>
                            <a:schemeClr val="tx1"/>
                          </a:solidFill>
                          <a:effectLst/>
                        </a:rPr>
                        <a:t>và</a:t>
                      </a:r>
                      <a:r>
                        <a:rPr lang="en-US">
                          <a:solidFill>
                            <a:schemeClr val="tx1"/>
                          </a:solidFill>
                          <a:effectLst/>
                        </a:rPr>
                        <a:t> </a:t>
                      </a:r>
                      <a:r>
                        <a:rPr lang="en-US" err="1">
                          <a:solidFill>
                            <a:schemeClr val="tx1"/>
                          </a:solidFill>
                          <a:effectLst/>
                        </a:rPr>
                        <a:t>vẫn</a:t>
                      </a:r>
                      <a:r>
                        <a:rPr lang="en-US">
                          <a:solidFill>
                            <a:schemeClr val="tx1"/>
                          </a:solidFill>
                          <a:effectLst/>
                        </a:rPr>
                        <a:t> </a:t>
                      </a:r>
                      <a:r>
                        <a:rPr lang="en-US" err="1">
                          <a:solidFill>
                            <a:schemeClr val="tx1"/>
                          </a:solidFill>
                          <a:effectLst/>
                        </a:rPr>
                        <a:t>tối</a:t>
                      </a:r>
                      <a:r>
                        <a:rPr lang="en-US">
                          <a:solidFill>
                            <a:schemeClr val="tx1"/>
                          </a:solidFill>
                          <a:effectLst/>
                        </a:rPr>
                        <a:t> </a:t>
                      </a:r>
                      <a:r>
                        <a:rPr lang="en-US" err="1">
                          <a:solidFill>
                            <a:schemeClr val="tx1"/>
                          </a:solidFill>
                          <a:effectLst/>
                        </a:rPr>
                        <a:t>ưu</a:t>
                      </a:r>
                      <a:r>
                        <a:rPr lang="en-US">
                          <a:solidFill>
                            <a:schemeClr val="tx1"/>
                          </a:solidFill>
                          <a:effectLst/>
                        </a:rPr>
                        <a:t> </a:t>
                      </a:r>
                      <a:r>
                        <a:rPr lang="en-US" err="1">
                          <a:solidFill>
                            <a:schemeClr val="tx1"/>
                          </a:solidFill>
                          <a:effectLst/>
                        </a:rPr>
                        <a:t>được</a:t>
                      </a:r>
                      <a:r>
                        <a:rPr lang="en-US">
                          <a:solidFill>
                            <a:schemeClr val="tx1"/>
                          </a:solidFill>
                          <a:effectLst/>
                        </a:rPr>
                        <a:t> </a:t>
                      </a:r>
                      <a:r>
                        <a:rPr lang="en-US" err="1">
                          <a:solidFill>
                            <a:schemeClr val="tx1"/>
                          </a:solidFill>
                          <a:effectLst/>
                        </a:rPr>
                        <a:t>hình</a:t>
                      </a:r>
                      <a:r>
                        <a:rPr lang="en-US">
                          <a:solidFill>
                            <a:schemeClr val="tx1"/>
                          </a:solidFill>
                          <a:effectLst/>
                        </a:rPr>
                        <a:t> </a:t>
                      </a:r>
                      <a:r>
                        <a:rPr lang="en-US" err="1">
                          <a:solidFill>
                            <a:schemeClr val="tx1"/>
                          </a:solidFill>
                          <a:effectLst/>
                        </a:rPr>
                        <a:t>dạng</a:t>
                      </a:r>
                      <a:r>
                        <a:rPr lang="en-US">
                          <a:solidFill>
                            <a:schemeClr val="tx1"/>
                          </a:solidFill>
                          <a:effectLst/>
                        </a:rPr>
                        <a:t>. </a:t>
                      </a:r>
                      <a:r>
                        <a:rPr lang="en-US" err="1">
                          <a:solidFill>
                            <a:schemeClr val="tx1"/>
                          </a:solidFill>
                          <a:effectLst/>
                        </a:rPr>
                        <a:t>Bậc</a:t>
                      </a:r>
                      <a:r>
                        <a:rPr lang="en-US">
                          <a:solidFill>
                            <a:schemeClr val="tx1"/>
                          </a:solidFill>
                          <a:effectLst/>
                        </a:rPr>
                        <a:t> </a:t>
                      </a:r>
                      <a:r>
                        <a:rPr lang="en-US" err="1">
                          <a:solidFill>
                            <a:schemeClr val="tx1"/>
                          </a:solidFill>
                          <a:effectLst/>
                        </a:rPr>
                        <a:t>hai</a:t>
                      </a:r>
                      <a:r>
                        <a:rPr lang="en-US">
                          <a:solidFill>
                            <a:schemeClr val="tx1"/>
                          </a:solidFill>
                          <a:effectLst/>
                        </a:rPr>
                        <a:t> </a:t>
                      </a:r>
                      <a:r>
                        <a:rPr lang="en-US" err="1">
                          <a:solidFill>
                            <a:schemeClr val="tx1"/>
                          </a:solidFill>
                          <a:effectLst/>
                        </a:rPr>
                        <a:t>thiếu</a:t>
                      </a:r>
                      <a:r>
                        <a:rPr lang="en-US">
                          <a:solidFill>
                            <a:schemeClr val="tx1"/>
                          </a:solidFill>
                          <a:effectLst/>
                        </a:rPr>
                        <a:t> </a:t>
                      </a:r>
                      <a:r>
                        <a:rPr lang="en-US" err="1">
                          <a:solidFill>
                            <a:schemeClr val="tx1"/>
                          </a:solidFill>
                          <a:effectLst/>
                        </a:rPr>
                        <a:t>điều</a:t>
                      </a:r>
                      <a:r>
                        <a:rPr lang="en-US">
                          <a:solidFill>
                            <a:schemeClr val="tx1"/>
                          </a:solidFill>
                          <a:effectLst/>
                        </a:rPr>
                        <a:t> </a:t>
                      </a:r>
                      <a:r>
                        <a:rPr lang="en-US" err="1">
                          <a:solidFill>
                            <a:schemeClr val="tx1"/>
                          </a:solidFill>
                          <a:effectLst/>
                        </a:rPr>
                        <a:t>kiện</a:t>
                      </a:r>
                      <a:r>
                        <a:rPr lang="en-US">
                          <a:solidFill>
                            <a:schemeClr val="tx1"/>
                          </a:solidFill>
                          <a:effectLst/>
                        </a:rPr>
                        <a:t> curvature; </a:t>
                      </a:r>
                      <a:r>
                        <a:rPr lang="en-US" err="1">
                          <a:solidFill>
                            <a:schemeClr val="tx1"/>
                          </a:solidFill>
                          <a:effectLst/>
                        </a:rPr>
                        <a:t>bậc</a:t>
                      </a:r>
                      <a:r>
                        <a:rPr lang="en-US">
                          <a:solidFill>
                            <a:schemeClr val="tx1"/>
                          </a:solidFill>
                          <a:effectLst/>
                        </a:rPr>
                        <a:t> </a:t>
                      </a:r>
                      <a:r>
                        <a:rPr lang="en-US" err="1">
                          <a:solidFill>
                            <a:schemeClr val="tx1"/>
                          </a:solidFill>
                          <a:effectLst/>
                        </a:rPr>
                        <a:t>ba</a:t>
                      </a:r>
                      <a:r>
                        <a:rPr lang="en-US">
                          <a:solidFill>
                            <a:schemeClr val="tx1"/>
                          </a:solidFill>
                          <a:effectLst/>
                        </a:rPr>
                        <a:t>/</a:t>
                      </a:r>
                      <a:r>
                        <a:rPr lang="en-US" err="1">
                          <a:solidFill>
                            <a:schemeClr val="tx1"/>
                          </a:solidFill>
                          <a:effectLst/>
                        </a:rPr>
                        <a:t>bốn</a:t>
                      </a:r>
                      <a:r>
                        <a:rPr lang="en-US">
                          <a:solidFill>
                            <a:schemeClr val="tx1"/>
                          </a:solidFill>
                          <a:effectLst/>
                        </a:rPr>
                        <a:t> </a:t>
                      </a:r>
                      <a:r>
                        <a:rPr lang="en-US" err="1">
                          <a:solidFill>
                            <a:schemeClr val="tx1"/>
                          </a:solidFill>
                          <a:effectLst/>
                        </a:rPr>
                        <a:t>thiếu</a:t>
                      </a:r>
                      <a:r>
                        <a:rPr lang="en-US">
                          <a:solidFill>
                            <a:schemeClr val="tx1"/>
                          </a:solidFill>
                          <a:effectLst/>
                        </a:rPr>
                        <a:t> </a:t>
                      </a:r>
                      <a:r>
                        <a:rPr lang="en-US" err="1">
                          <a:solidFill>
                            <a:schemeClr val="tx1"/>
                          </a:solidFill>
                          <a:effectLst/>
                        </a:rPr>
                        <a:t>mức</a:t>
                      </a:r>
                      <a:r>
                        <a:rPr lang="en-US">
                          <a:solidFill>
                            <a:schemeClr val="tx1"/>
                          </a:solidFill>
                          <a:effectLst/>
                        </a:rPr>
                        <a:t> </a:t>
                      </a:r>
                      <a:r>
                        <a:rPr lang="en-US" err="1">
                          <a:solidFill>
                            <a:schemeClr val="tx1"/>
                          </a:solidFill>
                          <a:effectLst/>
                        </a:rPr>
                        <a:t>tự</a:t>
                      </a:r>
                      <a:r>
                        <a:rPr lang="en-US">
                          <a:solidFill>
                            <a:schemeClr val="tx1"/>
                          </a:solidFill>
                          <a:effectLst/>
                        </a:rPr>
                        <a:t> do </a:t>
                      </a:r>
                      <a:r>
                        <a:rPr lang="en-US" err="1">
                          <a:solidFill>
                            <a:schemeClr val="tx1"/>
                          </a:solidFill>
                          <a:effectLst/>
                        </a:rPr>
                        <a:t>mong</a:t>
                      </a:r>
                      <a:r>
                        <a:rPr lang="en-US">
                          <a:solidFill>
                            <a:schemeClr val="tx1"/>
                          </a:solidFill>
                          <a:effectLst/>
                        </a:rPr>
                        <a:t> </a:t>
                      </a:r>
                      <a:r>
                        <a:rPr lang="en-US" err="1">
                          <a:solidFill>
                            <a:schemeClr val="tx1"/>
                          </a:solidFill>
                          <a:effectLst/>
                        </a:rPr>
                        <a:t>muốn</a:t>
                      </a:r>
                      <a:r>
                        <a:rPr lang="en-US">
                          <a:solidFill>
                            <a:schemeClr val="tx1"/>
                          </a:solidFill>
                          <a:effectLst/>
                        </a:rPr>
                        <a:t>.</a:t>
                      </a:r>
                    </a:p>
                  </a:txBody>
                  <a:tcPr marL="68580" marR="68580" marT="0" marB="0" anchor="ctr">
                    <a:lnL w="28575" cap="flat" cmpd="sng" algn="ctr">
                      <a:solidFill>
                        <a:srgbClr val="7030A0"/>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EFE9F7"/>
                    </a:solidFill>
                  </a:tcPr>
                </a:tc>
                <a:extLst>
                  <a:ext uri="{0D108BD9-81ED-4DB2-BD59-A6C34878D82A}">
                    <a16:rowId xmlns:a16="http://schemas.microsoft.com/office/drawing/2014/main" val="4218658476"/>
                  </a:ext>
                </a:extLst>
              </a:tr>
            </a:tbl>
          </a:graphicData>
        </a:graphic>
      </p:graphicFrame>
    </p:spTree>
    <p:extLst>
      <p:ext uri="{BB962C8B-B14F-4D97-AF65-F5344CB8AC3E}">
        <p14:creationId xmlns:p14="http://schemas.microsoft.com/office/powerpoint/2010/main" val="3131973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56A49-9220-3F3D-B09E-504F6C5020FE}"/>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0BBD1C6F-CACA-CD21-AB3D-05F1A80E88E3}"/>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38DAD285-26A5-52BE-6188-72D4D608238E}"/>
              </a:ext>
            </a:extLst>
          </p:cNvPr>
          <p:cNvSpPr txBox="1"/>
          <p:nvPr/>
        </p:nvSpPr>
        <p:spPr>
          <a:xfrm>
            <a:off x="594360" y="1232083"/>
            <a:ext cx="5321808" cy="646331"/>
          </a:xfrm>
          <a:prstGeom prst="rect">
            <a:avLst/>
          </a:prstGeom>
          <a:noFill/>
        </p:spPr>
        <p:txBody>
          <a:bodyPr wrap="square" rtlCol="0">
            <a:spAutoFit/>
          </a:bodyPr>
          <a:lstStyle/>
          <a:p>
            <a:r>
              <a:rPr lang="vi-VN"/>
              <a:t>4. Mô hình chuyển tiếp </a:t>
            </a:r>
            <a:r>
              <a:rPr lang="vi-VN" err="1"/>
              <a:t>Bézier</a:t>
            </a:r>
            <a:r>
              <a:rPr lang="vi-VN"/>
              <a:t> bậc năm G²</a:t>
            </a:r>
            <a:endParaRPr lang="vi-VN">
              <a:effectLst/>
            </a:endParaRPr>
          </a:p>
          <a:p>
            <a:endParaRPr lang="vi-VN"/>
          </a:p>
        </p:txBody>
      </p:sp>
      <p:pic>
        <p:nvPicPr>
          <p:cNvPr id="5" name="Picture 8" descr="image22.png">
            <a:extLst>
              <a:ext uri="{FF2B5EF4-FFF2-40B4-BE49-F238E27FC236}">
                <a16:creationId xmlns:a16="http://schemas.microsoft.com/office/drawing/2014/main" id="{02F5997F-680B-EF3B-0128-FE0C1888276C}"/>
              </a:ext>
            </a:extLst>
          </p:cNvPr>
          <p:cNvPicPr>
            <a:picLocks noChangeAspect="1"/>
          </p:cNvPicPr>
          <p:nvPr/>
        </p:nvPicPr>
        <p:blipFill>
          <a:blip r:embed="rId2"/>
          <a:stretch>
            <a:fillRect/>
          </a:stretch>
        </p:blipFill>
        <p:spPr>
          <a:xfrm>
            <a:off x="696869" y="1878414"/>
            <a:ext cx="6053328" cy="4009293"/>
          </a:xfrm>
          <a:prstGeom prst="rect">
            <a:avLst/>
          </a:prstGeom>
        </p:spPr>
      </p:pic>
      <p:sp>
        <p:nvSpPr>
          <p:cNvPr id="8" name="TextBox 10">
            <a:extLst>
              <a:ext uri="{FF2B5EF4-FFF2-40B4-BE49-F238E27FC236}">
                <a16:creationId xmlns:a16="http://schemas.microsoft.com/office/drawing/2014/main" id="{9CCC8AD8-BC73-D525-571E-4D1E85A35508}"/>
              </a:ext>
            </a:extLst>
          </p:cNvPr>
          <p:cNvSpPr txBox="1"/>
          <p:nvPr/>
        </p:nvSpPr>
        <p:spPr>
          <a:xfrm>
            <a:off x="6852706" y="2491740"/>
            <a:ext cx="3419856" cy="402336"/>
          </a:xfrm>
          <a:prstGeom prst="rect">
            <a:avLst/>
          </a:prstGeom>
          <a:noFill/>
        </p:spPr>
        <p:txBody>
          <a:bodyPr wrap="square" lIns="27432" tIns="27432" rIns="27432" bIns="27432" anchor="t">
            <a:spAutoFit/>
          </a:bodyPr>
          <a:lstStyle/>
          <a:p>
            <a:pPr algn="ctr">
              <a:spcBef>
                <a:spcPts val="0"/>
              </a:spcBef>
              <a:spcAft>
                <a:spcPts val="0"/>
              </a:spcAft>
              <a:defRPr sz="2200" b="1" i="0">
                <a:solidFill>
                  <a:srgbClr val="102A43"/>
                </a:solidFill>
                <a:latin typeface="Arial"/>
              </a:defRPr>
            </a:pPr>
            <a:r>
              <a:t>A = V − </a:t>
            </a:r>
            <a:r>
              <a:rPr err="1"/>
              <a:t>d·u</a:t>
            </a:r>
            <a:endParaRPr/>
          </a:p>
        </p:txBody>
      </p:sp>
      <p:sp>
        <p:nvSpPr>
          <p:cNvPr id="10" name="TextBox 11">
            <a:extLst>
              <a:ext uri="{FF2B5EF4-FFF2-40B4-BE49-F238E27FC236}">
                <a16:creationId xmlns:a16="http://schemas.microsoft.com/office/drawing/2014/main" id="{72B25E09-1B6E-A387-CFC7-092CA06C96D9}"/>
              </a:ext>
            </a:extLst>
          </p:cNvPr>
          <p:cNvSpPr txBox="1"/>
          <p:nvPr/>
        </p:nvSpPr>
        <p:spPr>
          <a:xfrm>
            <a:off x="6852706" y="3044934"/>
            <a:ext cx="3419856" cy="402336"/>
          </a:xfrm>
          <a:prstGeom prst="rect">
            <a:avLst/>
          </a:prstGeom>
          <a:noFill/>
        </p:spPr>
        <p:txBody>
          <a:bodyPr wrap="square" lIns="27432" tIns="27432" rIns="27432" bIns="27432" anchor="t">
            <a:spAutoFit/>
          </a:bodyPr>
          <a:lstStyle/>
          <a:p>
            <a:pPr algn="ctr">
              <a:spcBef>
                <a:spcPts val="0"/>
              </a:spcBef>
              <a:spcAft>
                <a:spcPts val="0"/>
              </a:spcAft>
              <a:defRPr sz="2200" b="1" i="0">
                <a:solidFill>
                  <a:srgbClr val="102A43"/>
                </a:solidFill>
                <a:latin typeface="Arial"/>
              </a:defRPr>
            </a:pPr>
            <a:r>
              <a:t>B = V + d·v</a:t>
            </a:r>
          </a:p>
        </p:txBody>
      </p:sp>
      <p:sp>
        <p:nvSpPr>
          <p:cNvPr id="12" name="TextBox 12">
            <a:extLst>
              <a:ext uri="{FF2B5EF4-FFF2-40B4-BE49-F238E27FC236}">
                <a16:creationId xmlns:a16="http://schemas.microsoft.com/office/drawing/2014/main" id="{3566AB31-52FC-C2F5-0AB2-C546CF81AF12}"/>
              </a:ext>
            </a:extLst>
          </p:cNvPr>
          <p:cNvSpPr txBox="1"/>
          <p:nvPr/>
        </p:nvSpPr>
        <p:spPr>
          <a:xfrm>
            <a:off x="7538506" y="3776491"/>
            <a:ext cx="1051560" cy="274320"/>
          </a:xfrm>
          <a:prstGeom prst="rect">
            <a:avLst/>
          </a:prstGeom>
          <a:noFill/>
        </p:spPr>
        <p:txBody>
          <a:bodyPr wrap="square" lIns="27432" tIns="27432" rIns="27432" bIns="27432" anchor="t">
            <a:spAutoFit/>
          </a:bodyPr>
          <a:lstStyle/>
          <a:p>
            <a:pPr algn="ctr">
              <a:spcBef>
                <a:spcPts val="0"/>
              </a:spcBef>
              <a:spcAft>
                <a:spcPts val="0"/>
              </a:spcAft>
              <a:defRPr sz="1400" b="1" i="0">
                <a:solidFill>
                  <a:srgbClr val="2F6FED"/>
                </a:solidFill>
                <a:latin typeface="Arial"/>
              </a:defRPr>
            </a:pPr>
            <a:r>
              <a:t>d nhỏ</a:t>
            </a:r>
          </a:p>
        </p:txBody>
      </p:sp>
      <p:sp>
        <p:nvSpPr>
          <p:cNvPr id="14" name="TextBox 13">
            <a:extLst>
              <a:ext uri="{FF2B5EF4-FFF2-40B4-BE49-F238E27FC236}">
                <a16:creationId xmlns:a16="http://schemas.microsoft.com/office/drawing/2014/main" id="{1DFE4B05-17AA-BCA4-A98E-50A6ED515353}"/>
              </a:ext>
            </a:extLst>
          </p:cNvPr>
          <p:cNvSpPr txBox="1"/>
          <p:nvPr/>
        </p:nvSpPr>
        <p:spPr>
          <a:xfrm>
            <a:off x="8562634" y="3776491"/>
            <a:ext cx="1371600" cy="274320"/>
          </a:xfrm>
          <a:prstGeom prst="rect">
            <a:avLst/>
          </a:prstGeom>
          <a:noFill/>
        </p:spPr>
        <p:txBody>
          <a:bodyPr wrap="square" lIns="27432" tIns="27432" rIns="27432" bIns="27432" anchor="t">
            <a:spAutoFit/>
          </a:bodyPr>
          <a:lstStyle/>
          <a:p>
            <a:pPr algn="l">
              <a:spcBef>
                <a:spcPts val="0"/>
              </a:spcBef>
              <a:spcAft>
                <a:spcPts val="0"/>
              </a:spcAft>
              <a:defRPr sz="1250" b="0" i="0">
                <a:solidFill>
                  <a:srgbClr val="172B3A"/>
                </a:solidFill>
                <a:latin typeface="Arial"/>
              </a:defRPr>
            </a:pPr>
            <a:r>
              <a:t>giữ gần đỉnh</a:t>
            </a:r>
          </a:p>
        </p:txBody>
      </p:sp>
      <p:sp>
        <p:nvSpPr>
          <p:cNvPr id="16" name="TextBox 14">
            <a:extLst>
              <a:ext uri="{FF2B5EF4-FFF2-40B4-BE49-F238E27FC236}">
                <a16:creationId xmlns:a16="http://schemas.microsoft.com/office/drawing/2014/main" id="{0A6B39EF-9B49-8A98-A35B-BBD8AF6FF022}"/>
              </a:ext>
            </a:extLst>
          </p:cNvPr>
          <p:cNvSpPr txBox="1"/>
          <p:nvPr/>
        </p:nvSpPr>
        <p:spPr>
          <a:xfrm>
            <a:off x="7511074" y="4242872"/>
            <a:ext cx="1051560" cy="274320"/>
          </a:xfrm>
          <a:prstGeom prst="rect">
            <a:avLst/>
          </a:prstGeom>
          <a:noFill/>
        </p:spPr>
        <p:txBody>
          <a:bodyPr wrap="square" lIns="27432" tIns="27432" rIns="27432" bIns="27432" anchor="t">
            <a:spAutoFit/>
          </a:bodyPr>
          <a:lstStyle/>
          <a:p>
            <a:pPr algn="ctr">
              <a:spcBef>
                <a:spcPts val="0"/>
              </a:spcBef>
              <a:spcAft>
                <a:spcPts val="0"/>
              </a:spcAft>
              <a:defRPr sz="1400" b="1" i="0">
                <a:solidFill>
                  <a:srgbClr val="E07A2F"/>
                </a:solidFill>
                <a:latin typeface="Arial"/>
              </a:defRPr>
            </a:pPr>
            <a:r>
              <a:t>d </a:t>
            </a:r>
            <a:r>
              <a:rPr err="1"/>
              <a:t>lớn</a:t>
            </a:r>
            <a:endParaRPr/>
          </a:p>
        </p:txBody>
      </p:sp>
      <p:sp>
        <p:nvSpPr>
          <p:cNvPr id="18" name="TextBox 15">
            <a:extLst>
              <a:ext uri="{FF2B5EF4-FFF2-40B4-BE49-F238E27FC236}">
                <a16:creationId xmlns:a16="http://schemas.microsoft.com/office/drawing/2014/main" id="{2D6B4214-60DC-AE7F-5DB0-63E1AB05E907}"/>
              </a:ext>
            </a:extLst>
          </p:cNvPr>
          <p:cNvSpPr txBox="1"/>
          <p:nvPr/>
        </p:nvSpPr>
        <p:spPr>
          <a:xfrm>
            <a:off x="8562634" y="4242872"/>
            <a:ext cx="2011680" cy="274320"/>
          </a:xfrm>
          <a:prstGeom prst="rect">
            <a:avLst/>
          </a:prstGeom>
          <a:noFill/>
        </p:spPr>
        <p:txBody>
          <a:bodyPr wrap="square" lIns="27432" tIns="27432" rIns="27432" bIns="27432" anchor="t">
            <a:spAutoFit/>
          </a:bodyPr>
          <a:lstStyle/>
          <a:p>
            <a:pPr algn="l">
              <a:spcBef>
                <a:spcPts val="0"/>
              </a:spcBef>
              <a:spcAft>
                <a:spcPts val="0"/>
              </a:spcAft>
              <a:defRPr sz="1250" b="0" i="0">
                <a:solidFill>
                  <a:srgbClr val="172B3A"/>
                </a:solidFill>
                <a:latin typeface="Arial"/>
              </a:defRPr>
            </a:pPr>
            <a:r>
              <a:rPr err="1"/>
              <a:t>cong</a:t>
            </a:r>
            <a:r>
              <a:t> </a:t>
            </a:r>
            <a:r>
              <a:rPr err="1"/>
              <a:t>trải</a:t>
            </a:r>
            <a:r>
              <a:t> </a:t>
            </a:r>
            <a:r>
              <a:rPr err="1"/>
              <a:t>rộng</a:t>
            </a:r>
            <a:r>
              <a:t> </a:t>
            </a:r>
            <a:r>
              <a:rPr err="1"/>
              <a:t>hơn</a:t>
            </a:r>
            <a:endParaRPr/>
          </a:p>
        </p:txBody>
      </p:sp>
      <p:pic>
        <p:nvPicPr>
          <p:cNvPr id="3" name="Picture 2">
            <a:extLst>
              <a:ext uri="{FF2B5EF4-FFF2-40B4-BE49-F238E27FC236}">
                <a16:creationId xmlns:a16="http://schemas.microsoft.com/office/drawing/2014/main" id="{142C32BF-A87C-9CCA-1BEC-F94CCB9D4AF1}"/>
              </a:ext>
            </a:extLst>
          </p:cNvPr>
          <p:cNvPicPr>
            <a:picLocks noChangeAspect="1"/>
          </p:cNvPicPr>
          <p:nvPr/>
        </p:nvPicPr>
        <p:blipFill>
          <a:blip r:embed="rId3"/>
          <a:stretch>
            <a:fillRect/>
          </a:stretch>
        </p:blipFill>
        <p:spPr>
          <a:xfrm>
            <a:off x="4779370" y="1079538"/>
            <a:ext cx="7829550" cy="971550"/>
          </a:xfrm>
          <a:prstGeom prst="rect">
            <a:avLst/>
          </a:prstGeom>
        </p:spPr>
      </p:pic>
    </p:spTree>
    <p:extLst>
      <p:ext uri="{BB962C8B-B14F-4D97-AF65-F5344CB8AC3E}">
        <p14:creationId xmlns:p14="http://schemas.microsoft.com/office/powerpoint/2010/main" val="3316276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DE98E-3D96-561F-4ABC-61BE9FE9F634}"/>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BF8C044C-9F47-049C-EDB5-B1DEB858880D}"/>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2F2597A8-0C57-B158-0D60-A8351E3A80E0}"/>
              </a:ext>
            </a:extLst>
          </p:cNvPr>
          <p:cNvSpPr txBox="1"/>
          <p:nvPr/>
        </p:nvSpPr>
        <p:spPr>
          <a:xfrm>
            <a:off x="594360" y="1232083"/>
            <a:ext cx="5321808" cy="646331"/>
          </a:xfrm>
          <a:prstGeom prst="rect">
            <a:avLst/>
          </a:prstGeom>
          <a:noFill/>
        </p:spPr>
        <p:txBody>
          <a:bodyPr wrap="square" rtlCol="0">
            <a:spAutoFit/>
          </a:bodyPr>
          <a:lstStyle/>
          <a:p>
            <a:r>
              <a:rPr lang="vi-VN"/>
              <a:t>4. Mô hình chuyển tiếp </a:t>
            </a:r>
            <a:r>
              <a:rPr lang="vi-VN" err="1"/>
              <a:t>Bézier</a:t>
            </a:r>
            <a:r>
              <a:rPr lang="vi-VN"/>
              <a:t> bậc năm G²</a:t>
            </a:r>
            <a:endParaRPr lang="vi-VN">
              <a:effectLst/>
            </a:endParaRPr>
          </a:p>
          <a:p>
            <a:endParaRPr lang="vi-VN"/>
          </a:p>
        </p:txBody>
      </p:sp>
      <p:pic>
        <p:nvPicPr>
          <p:cNvPr id="5" name="Picture 8" descr="image23.png">
            <a:extLst>
              <a:ext uri="{FF2B5EF4-FFF2-40B4-BE49-F238E27FC236}">
                <a16:creationId xmlns:a16="http://schemas.microsoft.com/office/drawing/2014/main" id="{8002AD3C-C790-3606-144A-E621450CD5C3}"/>
              </a:ext>
            </a:extLst>
          </p:cNvPr>
          <p:cNvPicPr>
            <a:picLocks noChangeAspect="1"/>
          </p:cNvPicPr>
          <p:nvPr/>
        </p:nvPicPr>
        <p:blipFill>
          <a:blip r:embed="rId2"/>
          <a:stretch>
            <a:fillRect/>
          </a:stretch>
        </p:blipFill>
        <p:spPr>
          <a:xfrm>
            <a:off x="914252" y="1637782"/>
            <a:ext cx="5746430" cy="4846334"/>
          </a:xfrm>
          <a:prstGeom prst="rect">
            <a:avLst/>
          </a:prstGeom>
        </p:spPr>
      </p:pic>
      <p:sp>
        <p:nvSpPr>
          <p:cNvPr id="8" name="TextBox 9">
            <a:extLst>
              <a:ext uri="{FF2B5EF4-FFF2-40B4-BE49-F238E27FC236}">
                <a16:creationId xmlns:a16="http://schemas.microsoft.com/office/drawing/2014/main" id="{A448A21A-8136-726A-115B-A5E57204AD44}"/>
              </a:ext>
            </a:extLst>
          </p:cNvPr>
          <p:cNvSpPr txBox="1"/>
          <p:nvPr/>
        </p:nvSpPr>
        <p:spPr>
          <a:xfrm>
            <a:off x="8027709" y="636496"/>
            <a:ext cx="2871216" cy="310896"/>
          </a:xfrm>
          <a:prstGeom prst="rect">
            <a:avLst/>
          </a:prstGeom>
          <a:noFill/>
        </p:spPr>
        <p:txBody>
          <a:bodyPr wrap="square" lIns="27432" tIns="27432" rIns="27432" bIns="27432" anchor="t">
            <a:spAutoFit/>
          </a:bodyPr>
          <a:lstStyle/>
          <a:p>
            <a:pPr algn="l">
              <a:spcBef>
                <a:spcPts val="0"/>
              </a:spcBef>
              <a:spcAft>
                <a:spcPts val="0"/>
              </a:spcAft>
              <a:defRPr sz="1600" b="1" i="0">
                <a:solidFill>
                  <a:srgbClr val="2F6FED"/>
                </a:solidFill>
                <a:latin typeface="Arial"/>
              </a:defRPr>
            </a:pPr>
            <a:r>
              <a:rPr err="1"/>
              <a:t>Nhánh</a:t>
            </a:r>
            <a:r>
              <a:t> </a:t>
            </a:r>
            <a:r>
              <a:rPr err="1"/>
              <a:t>vào</a:t>
            </a:r>
            <a:endParaRPr/>
          </a:p>
        </p:txBody>
      </p:sp>
      <p:sp>
        <p:nvSpPr>
          <p:cNvPr id="10" name="TextBox 10">
            <a:extLst>
              <a:ext uri="{FF2B5EF4-FFF2-40B4-BE49-F238E27FC236}">
                <a16:creationId xmlns:a16="http://schemas.microsoft.com/office/drawing/2014/main" id="{CAA79398-56CC-125C-FF79-06A6B72DF00E}"/>
              </a:ext>
            </a:extLst>
          </p:cNvPr>
          <p:cNvSpPr txBox="1"/>
          <p:nvPr/>
        </p:nvSpPr>
        <p:spPr>
          <a:xfrm>
            <a:off x="7854695" y="1053536"/>
            <a:ext cx="1517904" cy="1207008"/>
          </a:xfrm>
          <a:prstGeom prst="rect">
            <a:avLst/>
          </a:prstGeom>
          <a:noFill/>
        </p:spPr>
        <p:txBody>
          <a:bodyPr wrap="square" lIns="27432" tIns="27432" rIns="27432" bIns="27432" anchor="t">
            <a:spAutoFit/>
          </a:bodyPr>
          <a:lstStyle/>
          <a:p>
            <a:pPr algn="ctr">
              <a:spcBef>
                <a:spcPts val="0"/>
              </a:spcBef>
              <a:spcAft>
                <a:spcPts val="0"/>
              </a:spcAft>
              <a:defRPr sz="1500" b="1" i="0">
                <a:solidFill>
                  <a:srgbClr val="102A43"/>
                </a:solidFill>
                <a:latin typeface="Arial"/>
              </a:defRPr>
            </a:pPr>
            <a:r>
              <a:t>P₀=A</a:t>
            </a:r>
            <a:br/>
            <a:r>
              <a:t>P₁=A+q·u</a:t>
            </a:r>
            <a:br/>
            <a:r>
              <a:t>P₂=A+2q·u</a:t>
            </a:r>
          </a:p>
        </p:txBody>
      </p:sp>
      <p:sp>
        <p:nvSpPr>
          <p:cNvPr id="12" name="TextBox 11">
            <a:extLst>
              <a:ext uri="{FF2B5EF4-FFF2-40B4-BE49-F238E27FC236}">
                <a16:creationId xmlns:a16="http://schemas.microsoft.com/office/drawing/2014/main" id="{0CC857AA-86DC-DFA5-3EFF-16BE6EAFFC84}"/>
              </a:ext>
            </a:extLst>
          </p:cNvPr>
          <p:cNvSpPr txBox="1"/>
          <p:nvPr/>
        </p:nvSpPr>
        <p:spPr>
          <a:xfrm>
            <a:off x="9847365" y="636496"/>
            <a:ext cx="1426464" cy="310896"/>
          </a:xfrm>
          <a:prstGeom prst="rect">
            <a:avLst/>
          </a:prstGeom>
          <a:noFill/>
        </p:spPr>
        <p:txBody>
          <a:bodyPr wrap="square" lIns="27432" tIns="27432" rIns="27432" bIns="27432" anchor="t">
            <a:spAutoFit/>
          </a:bodyPr>
          <a:lstStyle/>
          <a:p>
            <a:pPr algn="l">
              <a:spcBef>
                <a:spcPts val="0"/>
              </a:spcBef>
              <a:spcAft>
                <a:spcPts val="0"/>
              </a:spcAft>
              <a:defRPr sz="1600" b="1" i="0">
                <a:solidFill>
                  <a:srgbClr val="0B7A75"/>
                </a:solidFill>
                <a:latin typeface="Arial"/>
              </a:defRPr>
            </a:pPr>
            <a:r>
              <a:t>Nhánh ra</a:t>
            </a:r>
          </a:p>
        </p:txBody>
      </p:sp>
      <p:sp>
        <p:nvSpPr>
          <p:cNvPr id="14" name="TextBox 12">
            <a:extLst>
              <a:ext uri="{FF2B5EF4-FFF2-40B4-BE49-F238E27FC236}">
                <a16:creationId xmlns:a16="http://schemas.microsoft.com/office/drawing/2014/main" id="{E891F445-0CA3-CDD2-464D-056CB8B24DA4}"/>
              </a:ext>
            </a:extLst>
          </p:cNvPr>
          <p:cNvSpPr txBox="1"/>
          <p:nvPr/>
        </p:nvSpPr>
        <p:spPr>
          <a:xfrm>
            <a:off x="9564624" y="1053536"/>
            <a:ext cx="1609344" cy="1207008"/>
          </a:xfrm>
          <a:prstGeom prst="rect">
            <a:avLst/>
          </a:prstGeom>
          <a:noFill/>
        </p:spPr>
        <p:txBody>
          <a:bodyPr wrap="square" lIns="27432" tIns="27432" rIns="27432" bIns="27432" anchor="t">
            <a:spAutoFit/>
          </a:bodyPr>
          <a:lstStyle/>
          <a:p>
            <a:pPr algn="ctr">
              <a:spcBef>
                <a:spcPts val="0"/>
              </a:spcBef>
              <a:spcAft>
                <a:spcPts val="0"/>
              </a:spcAft>
              <a:defRPr sz="1500" b="1" i="0">
                <a:solidFill>
                  <a:srgbClr val="102A43"/>
                </a:solidFill>
                <a:latin typeface="Arial"/>
              </a:defRPr>
            </a:pPr>
            <a:r>
              <a:t>P₅=B</a:t>
            </a:r>
            <a:br/>
            <a:r>
              <a:t>P₄=B−q·v</a:t>
            </a:r>
            <a:br/>
            <a:r>
              <a:t>P₃=B−2q·v</a:t>
            </a:r>
          </a:p>
        </p:txBody>
      </p:sp>
      <p:sp>
        <p:nvSpPr>
          <p:cNvPr id="16" name="TextBox 17">
            <a:extLst>
              <a:ext uri="{FF2B5EF4-FFF2-40B4-BE49-F238E27FC236}">
                <a16:creationId xmlns:a16="http://schemas.microsoft.com/office/drawing/2014/main" id="{6652F998-A050-1F4C-9003-D692C28E4723}"/>
              </a:ext>
            </a:extLst>
          </p:cNvPr>
          <p:cNvSpPr txBox="1"/>
          <p:nvPr/>
        </p:nvSpPr>
        <p:spPr>
          <a:xfrm>
            <a:off x="7722543" y="4537475"/>
            <a:ext cx="3017520" cy="256032"/>
          </a:xfrm>
          <a:prstGeom prst="rect">
            <a:avLst/>
          </a:prstGeom>
          <a:noFill/>
        </p:spPr>
        <p:txBody>
          <a:bodyPr wrap="square" lIns="27432" tIns="27432" rIns="27432" bIns="27432" anchor="t">
            <a:spAutoFit/>
          </a:bodyPr>
          <a:lstStyle/>
          <a:p>
            <a:pPr algn="ctr">
              <a:spcBef>
                <a:spcPts val="0"/>
              </a:spcBef>
              <a:spcAft>
                <a:spcPts val="0"/>
              </a:spcAft>
              <a:defRPr sz="1300" b="1" i="0">
                <a:solidFill>
                  <a:srgbClr val="075D59"/>
                </a:solidFill>
                <a:latin typeface="Arial"/>
              </a:defRPr>
            </a:pPr>
            <a:r>
              <a:rPr err="1"/>
              <a:t>Cách</a:t>
            </a:r>
            <a:r>
              <a:t> </a:t>
            </a:r>
            <a:r>
              <a:rPr err="1"/>
              <a:t>bố</a:t>
            </a:r>
            <a:r>
              <a:t> </a:t>
            </a:r>
            <a:r>
              <a:rPr err="1"/>
              <a:t>trí</a:t>
            </a:r>
            <a:r>
              <a:t> </a:t>
            </a:r>
            <a:r>
              <a:rPr err="1"/>
              <a:t>này</a:t>
            </a:r>
            <a:r>
              <a:t> </a:t>
            </a:r>
            <a:r>
              <a:rPr err="1"/>
              <a:t>làm</a:t>
            </a:r>
            <a:r>
              <a:t> B″ </a:t>
            </a:r>
            <a:r>
              <a:rPr err="1"/>
              <a:t>bằng</a:t>
            </a:r>
            <a:r>
              <a:t> 0 </a:t>
            </a:r>
            <a:r>
              <a:rPr err="1"/>
              <a:t>tại</a:t>
            </a:r>
            <a:r>
              <a:t> </a:t>
            </a:r>
            <a:r>
              <a:rPr err="1"/>
              <a:t>hai</a:t>
            </a:r>
            <a:r>
              <a:t> endpoint.</a:t>
            </a:r>
          </a:p>
        </p:txBody>
      </p:sp>
      <p:pic>
        <p:nvPicPr>
          <p:cNvPr id="18" name="Picture 8" descr="image24.png">
            <a:extLst>
              <a:ext uri="{FF2B5EF4-FFF2-40B4-BE49-F238E27FC236}">
                <a16:creationId xmlns:a16="http://schemas.microsoft.com/office/drawing/2014/main" id="{209BA6F4-9126-9AFF-B578-BE5F71ADA697}"/>
              </a:ext>
            </a:extLst>
          </p:cNvPr>
          <p:cNvPicPr>
            <a:picLocks noChangeAspect="1"/>
          </p:cNvPicPr>
          <p:nvPr/>
        </p:nvPicPr>
        <p:blipFill>
          <a:blip r:embed="rId3"/>
          <a:stretch>
            <a:fillRect/>
          </a:stretch>
        </p:blipFill>
        <p:spPr>
          <a:xfrm>
            <a:off x="6660682" y="1942978"/>
            <a:ext cx="5074920" cy="2417317"/>
          </a:xfrm>
          <a:prstGeom prst="rect">
            <a:avLst/>
          </a:prstGeom>
        </p:spPr>
      </p:pic>
      <p:sp>
        <p:nvSpPr>
          <p:cNvPr id="20" name="TextBox 11">
            <a:extLst>
              <a:ext uri="{FF2B5EF4-FFF2-40B4-BE49-F238E27FC236}">
                <a16:creationId xmlns:a16="http://schemas.microsoft.com/office/drawing/2014/main" id="{991968B8-33D5-1791-2B3C-8819700B72C9}"/>
              </a:ext>
            </a:extLst>
          </p:cNvPr>
          <p:cNvSpPr txBox="1"/>
          <p:nvPr/>
        </p:nvSpPr>
        <p:spPr>
          <a:xfrm>
            <a:off x="6923498" y="5075976"/>
            <a:ext cx="4553712" cy="329184"/>
          </a:xfrm>
          <a:prstGeom prst="rect">
            <a:avLst/>
          </a:prstGeom>
          <a:noFill/>
        </p:spPr>
        <p:txBody>
          <a:bodyPr wrap="square" lIns="27432" tIns="27432" rIns="27432" bIns="27432" anchor="t">
            <a:spAutoFit/>
          </a:bodyPr>
          <a:lstStyle/>
          <a:p>
            <a:pPr algn="ctr">
              <a:spcBef>
                <a:spcPts val="0"/>
              </a:spcBef>
              <a:spcAft>
                <a:spcPts val="0"/>
              </a:spcAft>
              <a:defRPr sz="1320" b="1" i="0">
                <a:solidFill>
                  <a:srgbClr val="2F6FED"/>
                </a:solidFill>
                <a:latin typeface="Arial"/>
              </a:defRPr>
            </a:pPr>
            <a:r>
              <a:t>P₀, P₁, P₂ </a:t>
            </a:r>
            <a:r>
              <a:rPr err="1"/>
              <a:t>thẳng</a:t>
            </a:r>
            <a:r>
              <a:t> </a:t>
            </a:r>
            <a:r>
              <a:rPr err="1"/>
              <a:t>hàng</a:t>
            </a:r>
            <a:r>
              <a:t> </a:t>
            </a:r>
            <a:r>
              <a:rPr err="1"/>
              <a:t>và</a:t>
            </a:r>
            <a:r>
              <a:t> </a:t>
            </a:r>
            <a:r>
              <a:rPr err="1"/>
              <a:t>cách</a:t>
            </a:r>
            <a:r>
              <a:t> </a:t>
            </a:r>
            <a:r>
              <a:rPr err="1"/>
              <a:t>đều</a:t>
            </a:r>
            <a:r>
              <a:t> ⇒ B″(0)=0</a:t>
            </a:r>
          </a:p>
        </p:txBody>
      </p:sp>
      <p:sp>
        <p:nvSpPr>
          <p:cNvPr id="22" name="TextBox 14">
            <a:extLst>
              <a:ext uri="{FF2B5EF4-FFF2-40B4-BE49-F238E27FC236}">
                <a16:creationId xmlns:a16="http://schemas.microsoft.com/office/drawing/2014/main" id="{CDE6C788-1D04-F061-9EB1-F6058B21017B}"/>
              </a:ext>
            </a:extLst>
          </p:cNvPr>
          <p:cNvSpPr txBox="1"/>
          <p:nvPr/>
        </p:nvSpPr>
        <p:spPr>
          <a:xfrm>
            <a:off x="6864210" y="5356103"/>
            <a:ext cx="4553712" cy="329184"/>
          </a:xfrm>
          <a:prstGeom prst="rect">
            <a:avLst/>
          </a:prstGeom>
          <a:noFill/>
        </p:spPr>
        <p:txBody>
          <a:bodyPr wrap="square" lIns="27432" tIns="27432" rIns="27432" bIns="27432" anchor="t">
            <a:spAutoFit/>
          </a:bodyPr>
          <a:lstStyle/>
          <a:p>
            <a:pPr algn="ctr">
              <a:spcBef>
                <a:spcPts val="0"/>
              </a:spcBef>
              <a:spcAft>
                <a:spcPts val="0"/>
              </a:spcAft>
              <a:defRPr sz="1320" b="1" i="0">
                <a:solidFill>
                  <a:srgbClr val="075D59"/>
                </a:solidFill>
                <a:latin typeface="Arial"/>
              </a:defRPr>
            </a:pPr>
            <a:r>
              <a:t>P₃, P₄, P₅ </a:t>
            </a:r>
            <a:r>
              <a:rPr err="1"/>
              <a:t>thẳng</a:t>
            </a:r>
            <a:r>
              <a:t> </a:t>
            </a:r>
            <a:r>
              <a:rPr err="1"/>
              <a:t>hàng</a:t>
            </a:r>
            <a:r>
              <a:t> </a:t>
            </a:r>
            <a:r>
              <a:rPr err="1"/>
              <a:t>và</a:t>
            </a:r>
            <a:r>
              <a:t> </a:t>
            </a:r>
            <a:r>
              <a:rPr err="1"/>
              <a:t>cách</a:t>
            </a:r>
            <a:r>
              <a:t> </a:t>
            </a:r>
            <a:r>
              <a:rPr err="1"/>
              <a:t>đều</a:t>
            </a:r>
            <a:r>
              <a:t> ⇒ B″(1)=0</a:t>
            </a:r>
          </a:p>
        </p:txBody>
      </p:sp>
      <p:sp>
        <p:nvSpPr>
          <p:cNvPr id="25" name="TextBox 16">
            <a:extLst>
              <a:ext uri="{FF2B5EF4-FFF2-40B4-BE49-F238E27FC236}">
                <a16:creationId xmlns:a16="http://schemas.microsoft.com/office/drawing/2014/main" id="{44DB4617-135C-283F-5504-9A102B498265}"/>
              </a:ext>
            </a:extLst>
          </p:cNvPr>
          <p:cNvSpPr txBox="1"/>
          <p:nvPr/>
        </p:nvSpPr>
        <p:spPr>
          <a:xfrm>
            <a:off x="6977639" y="5709382"/>
            <a:ext cx="4005072" cy="256032"/>
          </a:xfrm>
          <a:prstGeom prst="rect">
            <a:avLst/>
          </a:prstGeom>
          <a:noFill/>
        </p:spPr>
        <p:txBody>
          <a:bodyPr wrap="square" lIns="27432" tIns="27432" rIns="27432" bIns="27432" anchor="t">
            <a:spAutoFit/>
          </a:bodyPr>
          <a:lstStyle/>
          <a:p>
            <a:pPr algn="ctr">
              <a:spcBef>
                <a:spcPts val="0"/>
              </a:spcBef>
              <a:spcAft>
                <a:spcPts val="0"/>
              </a:spcAft>
              <a:defRPr sz="1300" b="1" i="0">
                <a:solidFill>
                  <a:srgbClr val="075D59"/>
                </a:solidFill>
                <a:latin typeface="Arial"/>
              </a:defRPr>
            </a:pPr>
            <a:r>
              <a:t>κ ∝ B′×B″ ⇒ κ(0)=κ(1)=0.</a:t>
            </a:r>
          </a:p>
        </p:txBody>
      </p:sp>
    </p:spTree>
    <p:extLst>
      <p:ext uri="{BB962C8B-B14F-4D97-AF65-F5344CB8AC3E}">
        <p14:creationId xmlns:p14="http://schemas.microsoft.com/office/powerpoint/2010/main" val="3974291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285DE-A896-B59D-95A7-007676458C79}"/>
            </a:ext>
          </a:extLst>
        </p:cNvPr>
        <p:cNvGrpSpPr/>
        <p:nvPr/>
      </p:nvGrpSpPr>
      <p:grpSpPr>
        <a:xfrm>
          <a:off x="0" y="0"/>
          <a:ext cx="0" cy="0"/>
          <a:chOff x="0" y="0"/>
          <a:chExt cx="0" cy="0"/>
        </a:xfrm>
      </p:grpSpPr>
      <p:sp>
        <p:nvSpPr>
          <p:cNvPr id="2" name="Hộp Văn bản 1">
            <a:extLst>
              <a:ext uri="{FF2B5EF4-FFF2-40B4-BE49-F238E27FC236}">
                <a16:creationId xmlns:a16="http://schemas.microsoft.com/office/drawing/2014/main" id="{641B2937-0297-FFD5-5FB3-CBF964ABB84A}"/>
              </a:ext>
            </a:extLst>
          </p:cNvPr>
          <p:cNvSpPr txBox="1"/>
          <p:nvPr/>
        </p:nvSpPr>
        <p:spPr>
          <a:xfrm>
            <a:off x="392384" y="148758"/>
            <a:ext cx="5321808" cy="754053"/>
          </a:xfrm>
          <a:prstGeom prst="rect">
            <a:avLst/>
          </a:prstGeom>
          <a:noFill/>
        </p:spPr>
        <p:txBody>
          <a:bodyPr wrap="square" lIns="91440" tIns="45720" rIns="91440" bIns="45720" rtlCol="0">
            <a:spAutoFit/>
          </a:bodyPr>
          <a:lstStyle/>
          <a:p>
            <a:r>
              <a:rPr lang="vi-VN" sz="2500" b="1">
                <a:solidFill>
                  <a:srgbClr val="102A43"/>
                </a:solidFill>
                <a:latin typeface="Noto Sans"/>
                <a:ea typeface="Noto Sans"/>
                <a:cs typeface="Noto Sans"/>
              </a:rPr>
              <a:t>Chứng minh mối nối đạt G²</a:t>
            </a:r>
            <a:endParaRPr lang="en-US" sz="2500" b="1">
              <a:solidFill>
                <a:srgbClr val="102A43"/>
              </a:solidFill>
              <a:latin typeface="Noto Sans"/>
              <a:ea typeface="Noto Sans"/>
              <a:cs typeface="Noto Sans"/>
            </a:endParaRPr>
          </a:p>
          <a:p>
            <a:endParaRPr lang="vi-VN">
              <a:latin typeface="Arial"/>
              <a:cs typeface="Arial"/>
            </a:endParaRPr>
          </a:p>
        </p:txBody>
      </p:sp>
      <p:sp>
        <p:nvSpPr>
          <p:cNvPr id="4" name="Hộp Văn bản 1">
            <a:extLst>
              <a:ext uri="{FF2B5EF4-FFF2-40B4-BE49-F238E27FC236}">
                <a16:creationId xmlns:a16="http://schemas.microsoft.com/office/drawing/2014/main" id="{743CA87C-AE99-CD93-90FB-B1170B3428E9}"/>
              </a:ext>
            </a:extLst>
          </p:cNvPr>
          <p:cNvSpPr txBox="1"/>
          <p:nvPr/>
        </p:nvSpPr>
        <p:spPr>
          <a:xfrm>
            <a:off x="511733" y="828131"/>
            <a:ext cx="5321808" cy="3939540"/>
          </a:xfrm>
          <a:prstGeom prst="rect">
            <a:avLst/>
          </a:prstGeom>
          <a:noFill/>
        </p:spPr>
        <p:txBody>
          <a:bodyPr wrap="square" lIns="91440" tIns="45720" rIns="91440" bIns="45720" rtlCol="0">
            <a:spAutoFit/>
          </a:bodyPr>
          <a:lstStyle/>
          <a:p>
            <a:pPr marL="342900" indent="-342900">
              <a:buAutoNum type="arabicPeriod"/>
            </a:pPr>
            <a:r>
              <a:rPr lang="vi-VN">
                <a:latin typeface="Arial"/>
                <a:ea typeface="+mn-lt"/>
                <a:cs typeface="Arial"/>
              </a:rPr>
              <a:t>Khớp vị trí</a:t>
            </a:r>
            <a:br>
              <a:rPr lang="vi-VN">
                <a:latin typeface="Arial"/>
                <a:ea typeface="+mn-lt"/>
                <a:cs typeface="Arial"/>
              </a:rPr>
            </a:br>
            <a:r>
              <a:rPr lang="vi-VN" sz="2000" b="1">
                <a:latin typeface="Noto Sans"/>
                <a:ea typeface="Noto Sans"/>
                <a:cs typeface="Noto Sans"/>
              </a:rPr>
              <a:t>B(0)=P₀=A</a:t>
            </a:r>
            <a:br>
              <a:rPr lang="vi-VN" sz="2000" b="1">
                <a:latin typeface="Noto Sans"/>
                <a:ea typeface="Noto Sans"/>
                <a:cs typeface="Noto Sans"/>
              </a:rPr>
            </a:br>
            <a:r>
              <a:rPr lang="vi-VN" sz="2000" b="1">
                <a:latin typeface="Noto Sans"/>
                <a:ea typeface="Noto Sans"/>
                <a:cs typeface="Noto Sans"/>
              </a:rPr>
              <a:t> B(1)=P₅=B</a:t>
            </a:r>
            <a:endParaRPr lang="en-US" sz="2000"/>
          </a:p>
          <a:p>
            <a:r>
              <a:rPr lang="vi-VN">
                <a:latin typeface="Arial"/>
                <a:ea typeface="+mn-lt"/>
                <a:cs typeface="Arial"/>
              </a:rPr>
              <a:t>2. Khớp tiếp tuyến</a:t>
            </a:r>
          </a:p>
          <a:p>
            <a:pPr algn="ctr"/>
            <a:r>
              <a:rPr lang="vi-VN" sz="2000" b="1">
                <a:latin typeface="Noto Sans"/>
                <a:ea typeface="Noto Sans"/>
                <a:cs typeface="Noto Sans"/>
              </a:rPr>
              <a:t>B′(0)=5q·u</a:t>
            </a:r>
            <a:br>
              <a:rPr lang="vi-VN" sz="2000" b="1">
                <a:latin typeface="Noto Sans"/>
                <a:ea typeface="Noto Sans"/>
                <a:cs typeface="Noto Sans"/>
              </a:rPr>
            </a:br>
            <a:r>
              <a:rPr lang="vi-VN" sz="2000" b="1">
                <a:latin typeface="Noto Sans"/>
                <a:ea typeface="Noto Sans"/>
                <a:cs typeface="Noto Sans"/>
              </a:rPr>
              <a:t> B′(1)=5q·v</a:t>
            </a:r>
            <a:endParaRPr lang="vi-VN" sz="2000">
              <a:latin typeface="Arial"/>
              <a:cs typeface="Arial"/>
            </a:endParaRPr>
          </a:p>
          <a:p>
            <a:r>
              <a:rPr lang="vi-VN">
                <a:latin typeface="Arial"/>
                <a:ea typeface="+mn-lt"/>
                <a:cs typeface="Arial"/>
              </a:rPr>
              <a:t>3. Triệt đạo hàm bậc hai</a:t>
            </a:r>
          </a:p>
          <a:p>
            <a:pPr algn="ctr"/>
            <a:r>
              <a:rPr lang="vi-VN" sz="2000" b="1">
                <a:latin typeface="Noto Sans"/>
                <a:ea typeface="Noto Sans"/>
                <a:cs typeface="Noto Sans"/>
              </a:rPr>
              <a:t>B″(0)=20(P₂−2P₁+P₀)=0</a:t>
            </a:r>
            <a:br>
              <a:rPr lang="vi-VN" sz="2000" b="1">
                <a:latin typeface="Noto Sans"/>
                <a:ea typeface="Noto Sans"/>
                <a:cs typeface="Noto Sans"/>
              </a:rPr>
            </a:br>
            <a:r>
              <a:rPr lang="vi-VN" sz="2000" b="1">
                <a:latin typeface="Noto Sans"/>
                <a:ea typeface="Noto Sans"/>
                <a:cs typeface="Noto Sans"/>
              </a:rPr>
              <a:t> B″(1)=20(P₅−2P₄+P₃)=0</a:t>
            </a:r>
            <a:endParaRPr lang="vi-VN" sz="3200">
              <a:latin typeface="Arial"/>
              <a:cs typeface="Arial"/>
            </a:endParaRPr>
          </a:p>
          <a:p>
            <a:endParaRPr lang="vi-VN">
              <a:latin typeface="Arial"/>
              <a:ea typeface="+mn-lt"/>
              <a:cs typeface="Arial"/>
            </a:endParaRPr>
          </a:p>
          <a:p>
            <a:pPr algn="ctr"/>
            <a:r>
              <a:rPr lang="vi-VN" sz="2200" b="1">
                <a:solidFill>
                  <a:srgbClr val="0F766E"/>
                </a:solidFill>
                <a:latin typeface="Noto Sans"/>
                <a:ea typeface="Noto Sans"/>
                <a:cs typeface="Noto Sans"/>
              </a:rPr>
              <a:t>κ = (B′ × B″) / ‖B′‖³   ⇒   κ(0)=κ(1)=0</a:t>
            </a:r>
            <a:endParaRPr lang="vi-VN"/>
          </a:p>
          <a:p>
            <a:endParaRPr lang="vi-VN">
              <a:effectLst/>
              <a:latin typeface="Arial"/>
              <a:cs typeface="Arial"/>
            </a:endParaRPr>
          </a:p>
          <a:p>
            <a:endParaRPr lang="vi-VN"/>
          </a:p>
        </p:txBody>
      </p:sp>
    </p:spTree>
    <p:extLst>
      <p:ext uri="{BB962C8B-B14F-4D97-AF65-F5344CB8AC3E}">
        <p14:creationId xmlns:p14="http://schemas.microsoft.com/office/powerpoint/2010/main" val="1168013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5ED53-7D12-B996-A70C-7DB674425637}"/>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5F0DA964-1555-507D-6542-E00EA2D615EA}"/>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FF9E59DF-3495-6A80-46DB-510F811D77A7}"/>
              </a:ext>
            </a:extLst>
          </p:cNvPr>
          <p:cNvSpPr txBox="1"/>
          <p:nvPr/>
        </p:nvSpPr>
        <p:spPr>
          <a:xfrm>
            <a:off x="594360" y="1232083"/>
            <a:ext cx="5321808" cy="646331"/>
          </a:xfrm>
          <a:prstGeom prst="rect">
            <a:avLst/>
          </a:prstGeom>
          <a:noFill/>
        </p:spPr>
        <p:txBody>
          <a:bodyPr wrap="square" rtlCol="0">
            <a:spAutoFit/>
          </a:bodyPr>
          <a:lstStyle/>
          <a:p>
            <a:r>
              <a:rPr lang="vi-VN"/>
              <a:t>4. Mô hình chuyển tiếp </a:t>
            </a:r>
            <a:r>
              <a:rPr lang="vi-VN" err="1"/>
              <a:t>Bézier</a:t>
            </a:r>
            <a:r>
              <a:rPr lang="vi-VN"/>
              <a:t> bậc năm G²</a:t>
            </a:r>
            <a:endParaRPr lang="vi-VN">
              <a:effectLst/>
            </a:endParaRPr>
          </a:p>
          <a:p>
            <a:endParaRPr lang="vi-VN"/>
          </a:p>
        </p:txBody>
      </p:sp>
      <p:pic>
        <p:nvPicPr>
          <p:cNvPr id="4" name="Picture 8" descr="image25.png">
            <a:extLst>
              <a:ext uri="{FF2B5EF4-FFF2-40B4-BE49-F238E27FC236}">
                <a16:creationId xmlns:a16="http://schemas.microsoft.com/office/drawing/2014/main" id="{C06B8888-224A-6EFC-666B-F2ADB50A3E24}"/>
              </a:ext>
            </a:extLst>
          </p:cNvPr>
          <p:cNvPicPr>
            <a:picLocks noChangeAspect="1"/>
          </p:cNvPicPr>
          <p:nvPr/>
        </p:nvPicPr>
        <p:blipFill>
          <a:blip r:embed="rId2"/>
          <a:stretch>
            <a:fillRect/>
          </a:stretch>
        </p:blipFill>
        <p:spPr>
          <a:xfrm>
            <a:off x="1449095" y="1700784"/>
            <a:ext cx="4224891" cy="3456432"/>
          </a:xfrm>
          <a:prstGeom prst="rect">
            <a:avLst/>
          </a:prstGeom>
        </p:spPr>
      </p:pic>
      <p:pic>
        <p:nvPicPr>
          <p:cNvPr id="9" name="Picture 12" descr="image26.png">
            <a:extLst>
              <a:ext uri="{FF2B5EF4-FFF2-40B4-BE49-F238E27FC236}">
                <a16:creationId xmlns:a16="http://schemas.microsoft.com/office/drawing/2014/main" id="{D256ACD5-FE21-C745-801B-56FB565C0786}"/>
              </a:ext>
            </a:extLst>
          </p:cNvPr>
          <p:cNvPicPr>
            <a:picLocks noChangeAspect="1"/>
          </p:cNvPicPr>
          <p:nvPr/>
        </p:nvPicPr>
        <p:blipFill>
          <a:blip r:embed="rId3"/>
          <a:stretch>
            <a:fillRect/>
          </a:stretch>
        </p:blipFill>
        <p:spPr>
          <a:xfrm>
            <a:off x="6798517" y="2064273"/>
            <a:ext cx="4681728" cy="2729453"/>
          </a:xfrm>
          <a:prstGeom prst="rect">
            <a:avLst/>
          </a:prstGeom>
        </p:spPr>
      </p:pic>
      <p:sp>
        <p:nvSpPr>
          <p:cNvPr id="13" name="TextBox 9">
            <a:extLst>
              <a:ext uri="{FF2B5EF4-FFF2-40B4-BE49-F238E27FC236}">
                <a16:creationId xmlns:a16="http://schemas.microsoft.com/office/drawing/2014/main" id="{3661F009-02A6-DD29-A899-0AD4A973C531}"/>
              </a:ext>
            </a:extLst>
          </p:cNvPr>
          <p:cNvSpPr txBox="1"/>
          <p:nvPr/>
        </p:nvSpPr>
        <p:spPr>
          <a:xfrm>
            <a:off x="1581912" y="5351597"/>
            <a:ext cx="1188720" cy="274320"/>
          </a:xfrm>
          <a:prstGeom prst="rect">
            <a:avLst/>
          </a:prstGeom>
          <a:noFill/>
        </p:spPr>
        <p:txBody>
          <a:bodyPr wrap="square" lIns="27432" tIns="27432" rIns="27432" bIns="27432" anchor="t">
            <a:spAutoFit/>
          </a:bodyPr>
          <a:lstStyle/>
          <a:p>
            <a:pPr algn="l">
              <a:spcBef>
                <a:spcPts val="0"/>
              </a:spcBef>
              <a:spcAft>
                <a:spcPts val="0"/>
              </a:spcAft>
              <a:defRPr sz="1500" b="1" i="0">
                <a:solidFill>
                  <a:srgbClr val="2F6FED"/>
                </a:solidFill>
                <a:latin typeface="Arial"/>
              </a:defRPr>
            </a:pPr>
            <a:r>
              <a:t>Thay d</a:t>
            </a:r>
          </a:p>
        </p:txBody>
      </p:sp>
      <p:sp>
        <p:nvSpPr>
          <p:cNvPr id="17" name="TextBox 10">
            <a:extLst>
              <a:ext uri="{FF2B5EF4-FFF2-40B4-BE49-F238E27FC236}">
                <a16:creationId xmlns:a16="http://schemas.microsoft.com/office/drawing/2014/main" id="{B6610376-264B-6A62-33C9-16794E872BD7}"/>
              </a:ext>
            </a:extLst>
          </p:cNvPr>
          <p:cNvSpPr txBox="1"/>
          <p:nvPr/>
        </p:nvSpPr>
        <p:spPr>
          <a:xfrm>
            <a:off x="2606040" y="5351597"/>
            <a:ext cx="3310128" cy="274320"/>
          </a:xfrm>
          <a:prstGeom prst="rect">
            <a:avLst/>
          </a:prstGeom>
          <a:noFill/>
        </p:spPr>
        <p:txBody>
          <a:bodyPr wrap="square" lIns="27432" tIns="27432" rIns="27432" bIns="27432" anchor="t">
            <a:spAutoFit/>
          </a:bodyPr>
          <a:lstStyle/>
          <a:p>
            <a:pPr algn="l">
              <a:spcBef>
                <a:spcPts val="0"/>
              </a:spcBef>
              <a:spcAft>
                <a:spcPts val="0"/>
              </a:spcAft>
              <a:defRPr sz="1300" b="0" i="0">
                <a:solidFill>
                  <a:srgbClr val="172B3A"/>
                </a:solidFill>
                <a:latin typeface="Arial"/>
              </a:defRPr>
            </a:pPr>
            <a:r>
              <a:rPr err="1"/>
              <a:t>thay</a:t>
            </a:r>
            <a:r>
              <a:t> </a:t>
            </a:r>
            <a:r>
              <a:rPr err="1"/>
              <a:t>kích</a:t>
            </a:r>
            <a:r>
              <a:t> </a:t>
            </a:r>
            <a:r>
              <a:rPr err="1"/>
              <a:t>thước</a:t>
            </a:r>
            <a:r>
              <a:t> transition</a:t>
            </a:r>
          </a:p>
        </p:txBody>
      </p:sp>
      <p:sp>
        <p:nvSpPr>
          <p:cNvPr id="21" name="TextBox 13">
            <a:extLst>
              <a:ext uri="{FF2B5EF4-FFF2-40B4-BE49-F238E27FC236}">
                <a16:creationId xmlns:a16="http://schemas.microsoft.com/office/drawing/2014/main" id="{7277F94A-378C-573E-F93A-FC25994EC722}"/>
              </a:ext>
            </a:extLst>
          </p:cNvPr>
          <p:cNvSpPr txBox="1"/>
          <p:nvPr/>
        </p:nvSpPr>
        <p:spPr>
          <a:xfrm>
            <a:off x="7388352" y="5351597"/>
            <a:ext cx="1188720" cy="274320"/>
          </a:xfrm>
          <a:prstGeom prst="rect">
            <a:avLst/>
          </a:prstGeom>
          <a:noFill/>
        </p:spPr>
        <p:txBody>
          <a:bodyPr wrap="square" lIns="27432" tIns="27432" rIns="27432" bIns="27432" anchor="t">
            <a:spAutoFit/>
          </a:bodyPr>
          <a:lstStyle/>
          <a:p>
            <a:pPr algn="l">
              <a:spcBef>
                <a:spcPts val="0"/>
              </a:spcBef>
              <a:spcAft>
                <a:spcPts val="0"/>
              </a:spcAft>
              <a:defRPr sz="1500" b="1" i="0">
                <a:solidFill>
                  <a:srgbClr val="0B7A75"/>
                </a:solidFill>
                <a:latin typeface="Arial"/>
              </a:defRPr>
            </a:pPr>
            <a:r>
              <a:t>Thay α</a:t>
            </a:r>
          </a:p>
        </p:txBody>
      </p:sp>
      <p:sp>
        <p:nvSpPr>
          <p:cNvPr id="24" name="TextBox 14">
            <a:extLst>
              <a:ext uri="{FF2B5EF4-FFF2-40B4-BE49-F238E27FC236}">
                <a16:creationId xmlns:a16="http://schemas.microsoft.com/office/drawing/2014/main" id="{CAC4CF38-B913-743E-4577-001684F146DA}"/>
              </a:ext>
            </a:extLst>
          </p:cNvPr>
          <p:cNvSpPr txBox="1"/>
          <p:nvPr/>
        </p:nvSpPr>
        <p:spPr>
          <a:xfrm>
            <a:off x="8467344" y="5351597"/>
            <a:ext cx="2926080" cy="274320"/>
          </a:xfrm>
          <a:prstGeom prst="rect">
            <a:avLst/>
          </a:prstGeom>
          <a:noFill/>
        </p:spPr>
        <p:txBody>
          <a:bodyPr wrap="square" lIns="27432" tIns="27432" rIns="27432" bIns="27432" anchor="t">
            <a:spAutoFit/>
          </a:bodyPr>
          <a:lstStyle/>
          <a:p>
            <a:pPr algn="l">
              <a:spcBef>
                <a:spcPts val="0"/>
              </a:spcBef>
              <a:spcAft>
                <a:spcPts val="0"/>
              </a:spcAft>
              <a:defRPr sz="1300" b="0" i="0">
                <a:solidFill>
                  <a:srgbClr val="172B3A"/>
                </a:solidFill>
                <a:latin typeface="Arial"/>
              </a:defRPr>
            </a:pPr>
            <a:r>
              <a:t>thay profile curvature và Eκ</a:t>
            </a:r>
          </a:p>
        </p:txBody>
      </p:sp>
      <p:sp>
        <p:nvSpPr>
          <p:cNvPr id="27" name="Hộp Văn bản 26">
            <a:extLst>
              <a:ext uri="{FF2B5EF4-FFF2-40B4-BE49-F238E27FC236}">
                <a16:creationId xmlns:a16="http://schemas.microsoft.com/office/drawing/2014/main" id="{4D6CF640-CCCE-2268-49BA-B22BD0EB38DA}"/>
              </a:ext>
            </a:extLst>
          </p:cNvPr>
          <p:cNvSpPr txBox="1"/>
          <p:nvPr/>
        </p:nvSpPr>
        <p:spPr>
          <a:xfrm>
            <a:off x="3561540" y="5883706"/>
            <a:ext cx="6094428" cy="300082"/>
          </a:xfrm>
          <a:prstGeom prst="rect">
            <a:avLst/>
          </a:prstGeom>
          <a:noFill/>
        </p:spPr>
        <p:txBody>
          <a:bodyPr wrap="square">
            <a:spAutoFit/>
          </a:bodyPr>
          <a:lstStyle/>
          <a:p>
            <a:pPr algn="l">
              <a:spcBef>
                <a:spcPts val="0"/>
              </a:spcBef>
              <a:spcAft>
                <a:spcPts val="0"/>
              </a:spcAft>
              <a:defRPr sz="1350" b="0" i="0">
                <a:solidFill>
                  <a:srgbClr val="526777"/>
                </a:solidFill>
                <a:latin typeface="Arial"/>
              </a:defRPr>
            </a:pPr>
            <a:r>
              <a:rPr lang="vi-VN" sz="1350"/>
              <a:t>d thay quy mô vùng cong; </a:t>
            </a:r>
            <a:r>
              <a:rPr lang="el-GR" sz="1350"/>
              <a:t>α </a:t>
            </a:r>
            <a:r>
              <a:rPr lang="vi-VN" sz="1350"/>
              <a:t>thay hình dạng bên trong vùng đó.</a:t>
            </a:r>
          </a:p>
        </p:txBody>
      </p:sp>
    </p:spTree>
    <p:extLst>
      <p:ext uri="{BB962C8B-B14F-4D97-AF65-F5344CB8AC3E}">
        <p14:creationId xmlns:p14="http://schemas.microsoft.com/office/powerpoint/2010/main" val="1390461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41CEE-DC95-FF63-2794-7CB00E61D1FD}"/>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9A673851-27C8-E14E-D5BF-CA18E57F9435}"/>
              </a:ext>
            </a:extLst>
          </p:cNvPr>
          <p:cNvSpPr txBox="1"/>
          <p:nvPr/>
        </p:nvSpPr>
        <p:spPr>
          <a:xfrm>
            <a:off x="594360" y="530352"/>
            <a:ext cx="10698480"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6" name="Hộp Văn bản 5">
            <a:extLst>
              <a:ext uri="{FF2B5EF4-FFF2-40B4-BE49-F238E27FC236}">
                <a16:creationId xmlns:a16="http://schemas.microsoft.com/office/drawing/2014/main" id="{5B2F3A22-BEF6-5BAB-9285-ED7C436FA207}"/>
              </a:ext>
            </a:extLst>
          </p:cNvPr>
          <p:cNvSpPr txBox="1"/>
          <p:nvPr/>
        </p:nvSpPr>
        <p:spPr>
          <a:xfrm>
            <a:off x="594360" y="1403711"/>
            <a:ext cx="7386066" cy="507831"/>
          </a:xfrm>
          <a:prstGeom prst="rect">
            <a:avLst/>
          </a:prstGeom>
          <a:noFill/>
        </p:spPr>
        <p:txBody>
          <a:bodyPr wrap="square">
            <a:spAutoFit/>
          </a:bodyPr>
          <a:lstStyle/>
          <a:p>
            <a:pPr algn="l">
              <a:spcBef>
                <a:spcPts val="0"/>
              </a:spcBef>
              <a:spcAft>
                <a:spcPts val="0"/>
              </a:spcAft>
              <a:defRPr sz="2700" b="1" i="0">
                <a:solidFill>
                  <a:srgbClr val="102A43"/>
                </a:solidFill>
                <a:latin typeface="Arial"/>
              </a:defRPr>
            </a:pPr>
            <a:r>
              <a:rPr lang="vi-VN"/>
              <a:t>Tìm </a:t>
            </a:r>
            <a:r>
              <a:rPr lang="el-GR"/>
              <a:t>α </a:t>
            </a:r>
            <a:r>
              <a:rPr lang="vi-VN"/>
              <a:t>theo </a:t>
            </a:r>
            <a:r>
              <a:rPr lang="vi-VN" err="1"/>
              <a:t>coarse</a:t>
            </a:r>
            <a:r>
              <a:rPr lang="vi-VN"/>
              <a:t> → </a:t>
            </a:r>
            <a:r>
              <a:rPr lang="vi-VN" err="1"/>
              <a:t>recovery</a:t>
            </a:r>
            <a:r>
              <a:rPr lang="vi-VN"/>
              <a:t> → </a:t>
            </a:r>
            <a:r>
              <a:rPr lang="vi-VN" err="1"/>
              <a:t>refinement</a:t>
            </a:r>
            <a:endParaRPr lang="vi-VN"/>
          </a:p>
        </p:txBody>
      </p:sp>
      <p:pic>
        <p:nvPicPr>
          <p:cNvPr id="9" name="Picture 8" descr="figure_05_alpha_search.png">
            <a:extLst>
              <a:ext uri="{FF2B5EF4-FFF2-40B4-BE49-F238E27FC236}">
                <a16:creationId xmlns:a16="http://schemas.microsoft.com/office/drawing/2014/main" id="{30A5CE8C-30AC-EEA4-DE3F-AB3E8EC54EF9}"/>
              </a:ext>
            </a:extLst>
          </p:cNvPr>
          <p:cNvPicPr>
            <a:picLocks noChangeAspect="1"/>
          </p:cNvPicPr>
          <p:nvPr/>
        </p:nvPicPr>
        <p:blipFill>
          <a:blip r:embed="rId2"/>
          <a:stretch>
            <a:fillRect/>
          </a:stretch>
        </p:blipFill>
        <p:spPr>
          <a:xfrm>
            <a:off x="43562" y="2400562"/>
            <a:ext cx="9018142" cy="3283064"/>
          </a:xfrm>
          <a:prstGeom prst="rect">
            <a:avLst/>
          </a:prstGeom>
        </p:spPr>
      </p:pic>
      <p:sp>
        <p:nvSpPr>
          <p:cNvPr id="11" name="TextBox 10">
            <a:extLst>
              <a:ext uri="{FF2B5EF4-FFF2-40B4-BE49-F238E27FC236}">
                <a16:creationId xmlns:a16="http://schemas.microsoft.com/office/drawing/2014/main" id="{6A52E1DD-ECC6-0656-2EB9-982886ABEFFF}"/>
              </a:ext>
            </a:extLst>
          </p:cNvPr>
          <p:cNvSpPr txBox="1"/>
          <p:nvPr/>
        </p:nvSpPr>
        <p:spPr>
          <a:xfrm>
            <a:off x="9061704" y="1892807"/>
            <a:ext cx="2002536" cy="256032"/>
          </a:xfrm>
          <a:prstGeom prst="rect">
            <a:avLst/>
          </a:prstGeom>
          <a:noFill/>
        </p:spPr>
        <p:txBody>
          <a:bodyPr wrap="square" lIns="27432" tIns="27432" rIns="27432" bIns="27432" anchor="t">
            <a:spAutoFit/>
          </a:bodyPr>
          <a:lstStyle/>
          <a:p>
            <a:pPr algn="ctr">
              <a:spcBef>
                <a:spcPts val="0"/>
              </a:spcBef>
              <a:spcAft>
                <a:spcPts val="0"/>
              </a:spcAft>
              <a:defRPr sz="1350" b="1" i="0">
                <a:solidFill>
                  <a:srgbClr val="2F6FED"/>
                </a:solidFill>
                <a:latin typeface="Arial"/>
              </a:defRPr>
            </a:pPr>
            <a:r>
              <a:t>Coarse</a:t>
            </a:r>
          </a:p>
        </p:txBody>
      </p:sp>
      <p:sp>
        <p:nvSpPr>
          <p:cNvPr id="13" name="TextBox 11">
            <a:extLst>
              <a:ext uri="{FF2B5EF4-FFF2-40B4-BE49-F238E27FC236}">
                <a16:creationId xmlns:a16="http://schemas.microsoft.com/office/drawing/2014/main" id="{4358AE47-5261-CFA4-5684-6998716CE239}"/>
              </a:ext>
            </a:extLst>
          </p:cNvPr>
          <p:cNvSpPr txBox="1"/>
          <p:nvPr/>
        </p:nvSpPr>
        <p:spPr>
          <a:xfrm>
            <a:off x="9061704" y="2231136"/>
            <a:ext cx="2002536" cy="246888"/>
          </a:xfrm>
          <a:prstGeom prst="rect">
            <a:avLst/>
          </a:prstGeom>
          <a:noFill/>
        </p:spPr>
        <p:txBody>
          <a:bodyPr wrap="square" lIns="27432" tIns="27432" rIns="27432" bIns="27432" anchor="t">
            <a:spAutoFit/>
          </a:bodyPr>
          <a:lstStyle/>
          <a:p>
            <a:pPr algn="ctr">
              <a:spcBef>
                <a:spcPts val="0"/>
              </a:spcBef>
              <a:spcAft>
                <a:spcPts val="0"/>
              </a:spcAft>
              <a:defRPr sz="1080" b="0" i="0">
                <a:solidFill>
                  <a:srgbClr val="172B3A"/>
                </a:solidFill>
                <a:latin typeface="Arial"/>
              </a:defRPr>
            </a:pPr>
            <a:r>
              <a:t>0,1; 0,2; …; 0,5</a:t>
            </a:r>
          </a:p>
        </p:txBody>
      </p:sp>
      <p:sp>
        <p:nvSpPr>
          <p:cNvPr id="15" name="TextBox 13">
            <a:extLst>
              <a:ext uri="{FF2B5EF4-FFF2-40B4-BE49-F238E27FC236}">
                <a16:creationId xmlns:a16="http://schemas.microsoft.com/office/drawing/2014/main" id="{76C4F655-8EAF-3438-40EF-D89606766F79}"/>
              </a:ext>
            </a:extLst>
          </p:cNvPr>
          <p:cNvSpPr txBox="1"/>
          <p:nvPr/>
        </p:nvSpPr>
        <p:spPr>
          <a:xfrm>
            <a:off x="9061704" y="3099816"/>
            <a:ext cx="2002536" cy="256032"/>
          </a:xfrm>
          <a:prstGeom prst="rect">
            <a:avLst/>
          </a:prstGeom>
          <a:noFill/>
        </p:spPr>
        <p:txBody>
          <a:bodyPr wrap="square" lIns="27432" tIns="27432" rIns="27432" bIns="27432" anchor="t">
            <a:spAutoFit/>
          </a:bodyPr>
          <a:lstStyle/>
          <a:p>
            <a:pPr algn="ctr">
              <a:spcBef>
                <a:spcPts val="0"/>
              </a:spcBef>
              <a:spcAft>
                <a:spcPts val="0"/>
              </a:spcAft>
              <a:defRPr sz="1350" b="1" i="0">
                <a:solidFill>
                  <a:srgbClr val="C84B4B"/>
                </a:solidFill>
                <a:latin typeface="Arial"/>
              </a:defRPr>
            </a:pPr>
            <a:r>
              <a:t>Recovery</a:t>
            </a:r>
          </a:p>
        </p:txBody>
      </p:sp>
      <p:sp>
        <p:nvSpPr>
          <p:cNvPr id="17" name="TextBox 14">
            <a:extLst>
              <a:ext uri="{FF2B5EF4-FFF2-40B4-BE49-F238E27FC236}">
                <a16:creationId xmlns:a16="http://schemas.microsoft.com/office/drawing/2014/main" id="{BB4FF4D6-ABA5-7A94-BDC4-93DBC40DED1B}"/>
              </a:ext>
            </a:extLst>
          </p:cNvPr>
          <p:cNvSpPr txBox="1"/>
          <p:nvPr/>
        </p:nvSpPr>
        <p:spPr>
          <a:xfrm>
            <a:off x="9061704" y="3438144"/>
            <a:ext cx="2002536" cy="246888"/>
          </a:xfrm>
          <a:prstGeom prst="rect">
            <a:avLst/>
          </a:prstGeom>
          <a:noFill/>
        </p:spPr>
        <p:txBody>
          <a:bodyPr wrap="square" lIns="27432" tIns="27432" rIns="27432" bIns="27432" anchor="t">
            <a:spAutoFit/>
          </a:bodyPr>
          <a:lstStyle/>
          <a:p>
            <a:pPr algn="ctr">
              <a:spcBef>
                <a:spcPts val="0"/>
              </a:spcBef>
              <a:spcAft>
                <a:spcPts val="0"/>
              </a:spcAft>
              <a:defRPr sz="1080" b="0" i="0">
                <a:solidFill>
                  <a:srgbClr val="172B3A"/>
                </a:solidFill>
                <a:latin typeface="Arial"/>
              </a:defRPr>
            </a:pPr>
            <a:r>
              <a:t>midpoint </a:t>
            </a:r>
            <a:r>
              <a:rPr err="1"/>
              <a:t>nếu</a:t>
            </a:r>
            <a:r>
              <a:t> coarse fail</a:t>
            </a:r>
          </a:p>
        </p:txBody>
      </p:sp>
      <p:sp>
        <p:nvSpPr>
          <p:cNvPr id="19" name="TextBox 16">
            <a:extLst>
              <a:ext uri="{FF2B5EF4-FFF2-40B4-BE49-F238E27FC236}">
                <a16:creationId xmlns:a16="http://schemas.microsoft.com/office/drawing/2014/main" id="{15CA2EBA-DBCE-8912-1CCF-65DC11ADC660}"/>
              </a:ext>
            </a:extLst>
          </p:cNvPr>
          <p:cNvSpPr txBox="1"/>
          <p:nvPr/>
        </p:nvSpPr>
        <p:spPr>
          <a:xfrm>
            <a:off x="9061704" y="4306824"/>
            <a:ext cx="2002536" cy="256032"/>
          </a:xfrm>
          <a:prstGeom prst="rect">
            <a:avLst/>
          </a:prstGeom>
          <a:noFill/>
        </p:spPr>
        <p:txBody>
          <a:bodyPr wrap="square" lIns="27432" tIns="27432" rIns="27432" bIns="27432" anchor="t">
            <a:spAutoFit/>
          </a:bodyPr>
          <a:lstStyle/>
          <a:p>
            <a:pPr algn="ctr">
              <a:spcBef>
                <a:spcPts val="0"/>
              </a:spcBef>
              <a:spcAft>
                <a:spcPts val="0"/>
              </a:spcAft>
              <a:defRPr sz="1350" b="1" i="0">
                <a:solidFill>
                  <a:srgbClr val="2E8B57"/>
                </a:solidFill>
                <a:latin typeface="Arial"/>
              </a:defRPr>
            </a:pPr>
            <a:r>
              <a:t>Refine</a:t>
            </a:r>
          </a:p>
        </p:txBody>
      </p:sp>
      <p:sp>
        <p:nvSpPr>
          <p:cNvPr id="21" name="TextBox 17">
            <a:extLst>
              <a:ext uri="{FF2B5EF4-FFF2-40B4-BE49-F238E27FC236}">
                <a16:creationId xmlns:a16="http://schemas.microsoft.com/office/drawing/2014/main" id="{42DE66E7-9F09-1C2C-7ACA-28F362385AFA}"/>
              </a:ext>
            </a:extLst>
          </p:cNvPr>
          <p:cNvSpPr txBox="1"/>
          <p:nvPr/>
        </p:nvSpPr>
        <p:spPr>
          <a:xfrm>
            <a:off x="9061704" y="4645152"/>
            <a:ext cx="2002536" cy="246888"/>
          </a:xfrm>
          <a:prstGeom prst="rect">
            <a:avLst/>
          </a:prstGeom>
          <a:noFill/>
        </p:spPr>
        <p:txBody>
          <a:bodyPr wrap="square" lIns="27432" tIns="27432" rIns="27432" bIns="27432" anchor="t">
            <a:spAutoFit/>
          </a:bodyPr>
          <a:lstStyle/>
          <a:p>
            <a:pPr algn="ctr">
              <a:spcBef>
                <a:spcPts val="0"/>
              </a:spcBef>
              <a:spcAft>
                <a:spcPts val="0"/>
              </a:spcAft>
              <a:defRPr sz="1080" b="0" i="0">
                <a:solidFill>
                  <a:srgbClr val="172B3A"/>
                </a:solidFill>
                <a:latin typeface="Arial"/>
              </a:defRPr>
            </a:pPr>
            <a:r>
              <a:t>chia </a:t>
            </a:r>
            <a:r>
              <a:rPr err="1"/>
              <a:t>nhỏ</a:t>
            </a:r>
            <a:r>
              <a:t> </a:t>
            </a:r>
            <a:r>
              <a:rPr err="1"/>
              <a:t>quanh</a:t>
            </a:r>
            <a:r>
              <a:t> winner</a:t>
            </a:r>
          </a:p>
        </p:txBody>
      </p:sp>
      <p:sp>
        <p:nvSpPr>
          <p:cNvPr id="23" name="TextBox 19">
            <a:extLst>
              <a:ext uri="{FF2B5EF4-FFF2-40B4-BE49-F238E27FC236}">
                <a16:creationId xmlns:a16="http://schemas.microsoft.com/office/drawing/2014/main" id="{66A119C4-824F-76DF-CEBE-3F0AE3E777BF}"/>
              </a:ext>
            </a:extLst>
          </p:cNvPr>
          <p:cNvSpPr txBox="1"/>
          <p:nvPr/>
        </p:nvSpPr>
        <p:spPr>
          <a:xfrm>
            <a:off x="8997696" y="5486400"/>
            <a:ext cx="2139696" cy="256032"/>
          </a:xfrm>
          <a:prstGeom prst="rect">
            <a:avLst/>
          </a:prstGeom>
          <a:noFill/>
        </p:spPr>
        <p:txBody>
          <a:bodyPr wrap="square" lIns="27432" tIns="27432" rIns="27432" bIns="27432" anchor="t">
            <a:spAutoFit/>
          </a:bodyPr>
          <a:lstStyle/>
          <a:p>
            <a:pPr algn="ctr">
              <a:spcBef>
                <a:spcPts val="0"/>
              </a:spcBef>
              <a:spcAft>
                <a:spcPts val="0"/>
              </a:spcAft>
              <a:defRPr sz="1300" b="1" i="0">
                <a:solidFill>
                  <a:srgbClr val="075D59"/>
                </a:solidFill>
                <a:latin typeface="Arial"/>
              </a:defRPr>
            </a:pPr>
            <a:r>
              <a:t>Chọn Eκ nhỏ nhất trong các ứng viên feasible.</a:t>
            </a:r>
          </a:p>
        </p:txBody>
      </p:sp>
    </p:spTree>
    <p:extLst>
      <p:ext uri="{BB962C8B-B14F-4D97-AF65-F5344CB8AC3E}">
        <p14:creationId xmlns:p14="http://schemas.microsoft.com/office/powerpoint/2010/main" val="136912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04E17-EDF4-0166-4059-3124C5A67FA1}"/>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0AAC55D3-AAB4-1B5A-47B4-17F559D7C0EA}"/>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C64FF4C5-DE0F-C987-7D6B-DDE6E49B2545}"/>
              </a:ext>
            </a:extLst>
          </p:cNvPr>
          <p:cNvSpPr txBox="1"/>
          <p:nvPr/>
        </p:nvSpPr>
        <p:spPr>
          <a:xfrm>
            <a:off x="594360" y="1232083"/>
            <a:ext cx="7176314" cy="646331"/>
          </a:xfrm>
          <a:prstGeom prst="rect">
            <a:avLst/>
          </a:prstGeom>
          <a:noFill/>
        </p:spPr>
        <p:txBody>
          <a:bodyPr wrap="square" lIns="91440" tIns="45720" rIns="91440" bIns="45720" rtlCol="0">
            <a:spAutoFit/>
          </a:bodyPr>
          <a:lstStyle/>
          <a:p>
            <a:r>
              <a:rPr lang="vi-VN">
                <a:latin typeface="Arial"/>
                <a:cs typeface="Arial"/>
              </a:rPr>
              <a:t>5. Sinh và tìm kiếm </a:t>
            </a:r>
            <a:r>
              <a:rPr lang="vi-VN">
                <a:latin typeface="Arial"/>
                <a:ea typeface="+mn-lt"/>
                <a:cs typeface="Arial"/>
              </a:rPr>
              <a:t>phương </a:t>
            </a:r>
            <a:r>
              <a:rPr lang="vi-VN">
                <a:ea typeface="+mn-lt"/>
                <a:cs typeface="+mn-lt"/>
              </a:rPr>
              <a:t>án </a:t>
            </a:r>
            <a:r>
              <a:rPr lang="vi-VN">
                <a:latin typeface="Arial"/>
                <a:ea typeface="+mn-lt"/>
                <a:cs typeface="Arial"/>
              </a:rPr>
              <a:t>xử lý tại góc</a:t>
            </a:r>
            <a:r>
              <a:rPr lang="vi-VN">
                <a:latin typeface="Arial"/>
                <a:cs typeface="Arial"/>
              </a:rPr>
              <a:t> chuyển tiếp</a:t>
            </a:r>
            <a:endParaRPr lang="vi-VN">
              <a:effectLst/>
              <a:latin typeface="Arial"/>
              <a:cs typeface="Arial"/>
            </a:endParaRPr>
          </a:p>
          <a:p>
            <a:endParaRPr lang="vi-VN"/>
          </a:p>
        </p:txBody>
      </p:sp>
      <p:pic>
        <p:nvPicPr>
          <p:cNvPr id="5" name="Picture 8" descr="figure_06_two_trim_dp.png">
            <a:extLst>
              <a:ext uri="{FF2B5EF4-FFF2-40B4-BE49-F238E27FC236}">
                <a16:creationId xmlns:a16="http://schemas.microsoft.com/office/drawing/2014/main" id="{5D99C803-EDF1-02F1-C509-11EDD7331B07}"/>
              </a:ext>
            </a:extLst>
          </p:cNvPr>
          <p:cNvPicPr>
            <a:picLocks noChangeAspect="1"/>
          </p:cNvPicPr>
          <p:nvPr/>
        </p:nvPicPr>
        <p:blipFill>
          <a:blip r:embed="rId2"/>
          <a:stretch>
            <a:fillRect/>
          </a:stretch>
        </p:blipFill>
        <p:spPr>
          <a:xfrm>
            <a:off x="594109" y="1553787"/>
            <a:ext cx="10404355" cy="3778960"/>
          </a:xfrm>
          <a:prstGeom prst="rect">
            <a:avLst/>
          </a:prstGeom>
        </p:spPr>
      </p:pic>
      <p:sp>
        <p:nvSpPr>
          <p:cNvPr id="11" name="Hộp Văn bản 10">
            <a:extLst>
              <a:ext uri="{FF2B5EF4-FFF2-40B4-BE49-F238E27FC236}">
                <a16:creationId xmlns:a16="http://schemas.microsoft.com/office/drawing/2014/main" id="{E289922A-ED90-DA69-6588-66613A4AF031}"/>
              </a:ext>
            </a:extLst>
          </p:cNvPr>
          <p:cNvSpPr txBox="1"/>
          <p:nvPr/>
        </p:nvSpPr>
        <p:spPr>
          <a:xfrm>
            <a:off x="788480" y="5133069"/>
            <a:ext cx="4831435" cy="1200329"/>
          </a:xfrm>
          <a:prstGeom prst="rect">
            <a:avLst/>
          </a:prstGeom>
          <a:noFill/>
        </p:spPr>
        <p:txBody>
          <a:bodyPr wrap="square" lIns="91440" tIns="45720" rIns="91440" bIns="45720" anchor="t">
            <a:spAutoFit/>
          </a:bodyPr>
          <a:lstStyle/>
          <a:p>
            <a:r>
              <a:rPr lang="vi-VN">
                <a:latin typeface="Arial"/>
                <a:cs typeface="Arial"/>
              </a:rPr>
              <a:t>Mỗi góc sinh ra tối đa 3 trạng thái xử lí :</a:t>
            </a:r>
          </a:p>
          <a:p>
            <a:pPr lvl="1"/>
            <a:r>
              <a:rPr lang="vi-VN">
                <a:latin typeface="Arial"/>
                <a:cs typeface="Arial"/>
              </a:rPr>
              <a:t>dpref​: ứng viên ưu tiên;</a:t>
            </a:r>
            <a:endParaRPr lang="en-US">
              <a:latin typeface="Arial"/>
              <a:cs typeface="Arial"/>
            </a:endParaRPr>
          </a:p>
          <a:p>
            <a:pPr lvl="1"/>
            <a:r>
              <a:rPr lang="vi-VN">
                <a:latin typeface="Arial"/>
                <a:cs typeface="Arial"/>
              </a:rPr>
              <a:t>dcompat​: giảm trim để tránh chồng lấn;</a:t>
            </a:r>
          </a:p>
          <a:p>
            <a:pPr lvl="1"/>
            <a:r>
              <a:rPr lang="vi-VN">
                <a:latin typeface="Arial"/>
                <a:cs typeface="Arial"/>
              </a:rPr>
              <a:t>Pivot: phương án dự phòng.</a:t>
            </a:r>
            <a:endParaRPr lang="vi-VN">
              <a:cs typeface="Arial" panose="020B0604020202020204" pitchFamily="34" charset="0"/>
            </a:endParaRPr>
          </a:p>
        </p:txBody>
      </p:sp>
      <p:sp>
        <p:nvSpPr>
          <p:cNvPr id="3" name="TextBox 2">
            <a:extLst>
              <a:ext uri="{FF2B5EF4-FFF2-40B4-BE49-F238E27FC236}">
                <a16:creationId xmlns:a16="http://schemas.microsoft.com/office/drawing/2014/main" id="{FB5787DC-2A65-485F-6437-304D2A963E9C}"/>
              </a:ext>
            </a:extLst>
          </p:cNvPr>
          <p:cNvSpPr txBox="1"/>
          <p:nvPr/>
        </p:nvSpPr>
        <p:spPr>
          <a:xfrm>
            <a:off x="6096880" y="5271397"/>
            <a:ext cx="608347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mn-lt"/>
                <a:cs typeface="+mn-lt"/>
              </a:rPr>
              <a:t>dpref</a:t>
            </a:r>
            <a:r>
              <a:rPr lang="en-US">
                <a:ea typeface="+mn-lt"/>
                <a:cs typeface="+mn-lt"/>
              </a:rPr>
              <a:t> =min(0,8;Lin ;Lout )            </a:t>
            </a:r>
            <a:endParaRPr lang="en-US"/>
          </a:p>
          <a:p>
            <a:r>
              <a:rPr lang="en-US" err="1">
                <a:ea typeface="+mn-lt"/>
                <a:cs typeface="+mn-lt"/>
              </a:rPr>
              <a:t>dmax</a:t>
            </a:r>
            <a:r>
              <a:rPr lang="en-US">
                <a:ea typeface="+mn-lt"/>
                <a:cs typeface="+mn-lt"/>
              </a:rPr>
              <a:t> =0,8m : </a:t>
            </a:r>
            <a:r>
              <a:rPr lang="en-US" err="1">
                <a:ea typeface="+mn-lt"/>
                <a:cs typeface="+mn-lt"/>
              </a:rPr>
              <a:t>Sử</a:t>
            </a:r>
            <a:r>
              <a:rPr lang="en-US">
                <a:ea typeface="+mn-lt"/>
                <a:cs typeface="+mn-lt"/>
              </a:rPr>
              <a:t> </a:t>
            </a:r>
            <a:r>
              <a:rPr lang="en-US" err="1">
                <a:ea typeface="+mn-lt"/>
                <a:cs typeface="+mn-lt"/>
              </a:rPr>
              <a:t>dụng</a:t>
            </a:r>
            <a:r>
              <a:rPr lang="en-US">
                <a:ea typeface="+mn-lt"/>
                <a:cs typeface="+mn-lt"/>
              </a:rPr>
              <a:t> </a:t>
            </a:r>
            <a:r>
              <a:rPr lang="en-US" err="1">
                <a:ea typeface="+mn-lt"/>
                <a:cs typeface="+mn-lt"/>
              </a:rPr>
              <a:t>vùng</a:t>
            </a:r>
            <a:r>
              <a:rPr lang="en-US">
                <a:ea typeface="+mn-lt"/>
                <a:cs typeface="+mn-lt"/>
              </a:rPr>
              <a:t> </a:t>
            </a:r>
            <a:r>
              <a:rPr lang="en-US" err="1">
                <a:ea typeface="+mn-lt"/>
                <a:cs typeface="+mn-lt"/>
              </a:rPr>
              <a:t>chuyển</a:t>
            </a:r>
            <a:r>
              <a:rPr lang="en-US">
                <a:ea typeface="+mn-lt"/>
                <a:cs typeface="+mn-lt"/>
              </a:rPr>
              <a:t> </a:t>
            </a:r>
            <a:r>
              <a:rPr lang="en-US" err="1">
                <a:ea typeface="+mn-lt"/>
                <a:cs typeface="+mn-lt"/>
              </a:rPr>
              <a:t>tiếp</a:t>
            </a:r>
            <a:r>
              <a:rPr lang="en-US">
                <a:ea typeface="+mn-lt"/>
                <a:cs typeface="+mn-lt"/>
              </a:rPr>
              <a:t> </a:t>
            </a:r>
            <a:r>
              <a:rPr lang="en-US" err="1">
                <a:ea typeface="+mn-lt"/>
                <a:cs typeface="+mn-lt"/>
              </a:rPr>
              <a:t>lớn</a:t>
            </a:r>
            <a:r>
              <a:rPr lang="en-US">
                <a:ea typeface="+mn-lt"/>
                <a:cs typeface="+mn-lt"/>
              </a:rPr>
              <a:t> </a:t>
            </a:r>
            <a:r>
              <a:rPr lang="en-US" err="1">
                <a:ea typeface="+mn-lt"/>
                <a:cs typeface="+mn-lt"/>
              </a:rPr>
              <a:t>nhất</a:t>
            </a:r>
            <a:r>
              <a:rPr lang="en-US">
                <a:ea typeface="+mn-lt"/>
                <a:cs typeface="+mn-lt"/>
              </a:rPr>
              <a:t> </a:t>
            </a:r>
            <a:r>
              <a:rPr lang="en-US" err="1">
                <a:ea typeface="+mn-lt"/>
                <a:cs typeface="+mn-lt"/>
              </a:rPr>
              <a:t>trong</a:t>
            </a:r>
            <a:r>
              <a:rPr lang="en-US">
                <a:ea typeface="+mn-lt"/>
                <a:cs typeface="+mn-lt"/>
              </a:rPr>
              <a:t> </a:t>
            </a:r>
            <a:r>
              <a:rPr lang="en-US" err="1">
                <a:ea typeface="+mn-lt"/>
                <a:cs typeface="+mn-lt"/>
              </a:rPr>
              <a:t>giới</a:t>
            </a:r>
            <a:r>
              <a:rPr lang="en-US">
                <a:ea typeface="+mn-lt"/>
                <a:cs typeface="+mn-lt"/>
              </a:rPr>
              <a:t> </a:t>
            </a:r>
            <a:r>
              <a:rPr lang="en-US" err="1">
                <a:ea typeface="+mn-lt"/>
                <a:cs typeface="+mn-lt"/>
              </a:rPr>
              <a:t>hạn</a:t>
            </a:r>
            <a:r>
              <a:rPr lang="en-US">
                <a:ea typeface="+mn-lt"/>
                <a:cs typeface="+mn-lt"/>
              </a:rPr>
              <a:t> </a:t>
            </a:r>
            <a:r>
              <a:rPr lang="en-US" err="1">
                <a:ea typeface="+mn-lt"/>
                <a:cs typeface="+mn-lt"/>
              </a:rPr>
              <a:t>hình</a:t>
            </a:r>
            <a:r>
              <a:rPr lang="en-US">
                <a:ea typeface="+mn-lt"/>
                <a:cs typeface="+mn-lt"/>
              </a:rPr>
              <a:t> </a:t>
            </a:r>
            <a:r>
              <a:rPr lang="en-US" err="1">
                <a:ea typeface="+mn-lt"/>
                <a:cs typeface="+mn-lt"/>
              </a:rPr>
              <a:t>học</a:t>
            </a:r>
            <a:r>
              <a:rPr lang="en-US">
                <a:ea typeface="+mn-lt"/>
                <a:cs typeface="+mn-lt"/>
              </a:rPr>
              <a:t> </a:t>
            </a:r>
            <a:r>
              <a:rPr lang="en-US" err="1">
                <a:ea typeface="+mn-lt"/>
                <a:cs typeface="+mn-lt"/>
              </a:rPr>
              <a:t>cho</a:t>
            </a:r>
            <a:r>
              <a:rPr lang="en-US">
                <a:ea typeface="+mn-lt"/>
                <a:cs typeface="+mn-lt"/>
              </a:rPr>
              <a:t> </a:t>
            </a:r>
            <a:r>
              <a:rPr lang="en-US" err="1">
                <a:ea typeface="+mn-lt"/>
                <a:cs typeface="+mn-lt"/>
              </a:rPr>
              <a:t>phép</a:t>
            </a:r>
            <a:r>
              <a:rPr lang="en-US">
                <a:ea typeface="+mn-lt"/>
                <a:cs typeface="+mn-lt"/>
              </a:rPr>
              <a:t>.</a:t>
            </a:r>
          </a:p>
          <a:p>
            <a:r>
              <a:rPr lang="en-US" err="1">
                <a:ea typeface="+mn-lt"/>
                <a:cs typeface="+mn-lt"/>
              </a:rPr>
              <a:t>dcompat</a:t>
            </a:r>
            <a:r>
              <a:rPr lang="en-US">
                <a:ea typeface="+mn-lt"/>
                <a:cs typeface="+mn-lt"/>
              </a:rPr>
              <a:t> : </a:t>
            </a:r>
            <a:r>
              <a:rPr lang="en-US" err="1">
                <a:ea typeface="+mn-lt"/>
                <a:cs typeface="+mn-lt"/>
              </a:rPr>
              <a:t>giảm</a:t>
            </a:r>
            <a:r>
              <a:rPr lang="en-US">
                <a:ea typeface="+mn-lt"/>
                <a:cs typeface="+mn-lt"/>
              </a:rPr>
              <a:t> d </a:t>
            </a:r>
            <a:r>
              <a:rPr lang="en-US" err="1">
                <a:ea typeface="+mn-lt"/>
                <a:cs typeface="+mn-lt"/>
              </a:rPr>
              <a:t>khi</a:t>
            </a:r>
            <a:r>
              <a:rPr lang="en-US">
                <a:ea typeface="+mn-lt"/>
                <a:cs typeface="+mn-lt"/>
              </a:rPr>
              <a:t> </a:t>
            </a:r>
            <a:r>
              <a:rPr lang="en-US" err="1">
                <a:ea typeface="+mn-lt"/>
                <a:cs typeface="+mn-lt"/>
              </a:rPr>
              <a:t>cần</a:t>
            </a:r>
            <a:r>
              <a:rPr lang="en-US">
                <a:ea typeface="+mn-lt"/>
                <a:cs typeface="+mn-lt"/>
              </a:rPr>
              <a:t> </a:t>
            </a:r>
            <a:r>
              <a:rPr lang="en-US" err="1">
                <a:ea typeface="+mn-lt"/>
                <a:cs typeface="+mn-lt"/>
              </a:rPr>
              <a:t>để</a:t>
            </a:r>
            <a:r>
              <a:rPr lang="en-US">
                <a:ea typeface="+mn-lt"/>
                <a:cs typeface="+mn-lt"/>
              </a:rPr>
              <a:t> </a:t>
            </a:r>
            <a:r>
              <a:rPr lang="en-US" err="1">
                <a:ea typeface="+mn-lt"/>
                <a:cs typeface="+mn-lt"/>
              </a:rPr>
              <a:t>bảo</a:t>
            </a:r>
            <a:r>
              <a:rPr lang="en-US">
                <a:ea typeface="+mn-lt"/>
                <a:cs typeface="+mn-lt"/>
              </a:rPr>
              <a:t> </a:t>
            </a:r>
            <a:r>
              <a:rPr lang="en-US" err="1">
                <a:ea typeface="+mn-lt"/>
                <a:cs typeface="+mn-lt"/>
              </a:rPr>
              <a:t>đảm</a:t>
            </a:r>
            <a:r>
              <a:rPr lang="en-US">
                <a:ea typeface="+mn-lt"/>
                <a:cs typeface="+mn-lt"/>
              </a:rPr>
              <a:t> </a:t>
            </a:r>
            <a:r>
              <a:rPr lang="en-US" err="1">
                <a:ea typeface="+mn-lt"/>
                <a:cs typeface="+mn-lt"/>
              </a:rPr>
              <a:t>tương</a:t>
            </a:r>
            <a:r>
              <a:rPr lang="en-US">
                <a:ea typeface="+mn-lt"/>
                <a:cs typeface="+mn-lt"/>
              </a:rPr>
              <a:t> </a:t>
            </a:r>
            <a:r>
              <a:rPr lang="en-US" err="1">
                <a:ea typeface="+mn-lt"/>
                <a:cs typeface="+mn-lt"/>
              </a:rPr>
              <a:t>thích</a:t>
            </a:r>
            <a:r>
              <a:rPr lang="en-US">
                <a:ea typeface="+mn-lt"/>
                <a:cs typeface="+mn-lt"/>
              </a:rPr>
              <a:t> </a:t>
            </a:r>
            <a:r>
              <a:rPr lang="en-US" err="1">
                <a:ea typeface="+mn-lt"/>
                <a:cs typeface="+mn-lt"/>
              </a:rPr>
              <a:t>với</a:t>
            </a:r>
            <a:r>
              <a:rPr lang="en-US">
                <a:ea typeface="+mn-lt"/>
                <a:cs typeface="+mn-lt"/>
              </a:rPr>
              <a:t> </a:t>
            </a:r>
            <a:r>
              <a:rPr lang="en-US" err="1">
                <a:ea typeface="+mn-lt"/>
                <a:cs typeface="+mn-lt"/>
              </a:rPr>
              <a:t>góc</a:t>
            </a:r>
            <a:r>
              <a:rPr lang="en-US">
                <a:ea typeface="+mn-lt"/>
                <a:cs typeface="+mn-lt"/>
              </a:rPr>
              <a:t> </a:t>
            </a:r>
            <a:r>
              <a:rPr lang="en-US" err="1">
                <a:ea typeface="+mn-lt"/>
                <a:cs typeface="+mn-lt"/>
              </a:rPr>
              <a:t>lân</a:t>
            </a:r>
            <a:r>
              <a:rPr lang="en-US">
                <a:ea typeface="+mn-lt"/>
                <a:cs typeface="+mn-lt"/>
              </a:rPr>
              <a:t> </a:t>
            </a:r>
            <a:r>
              <a:rPr lang="en-US" err="1">
                <a:ea typeface="+mn-lt"/>
                <a:cs typeface="+mn-lt"/>
              </a:rPr>
              <a:t>cận</a:t>
            </a:r>
            <a:r>
              <a:rPr lang="en-US">
                <a:ea typeface="+mn-lt"/>
                <a:cs typeface="+mn-lt"/>
              </a:rPr>
              <a:t>.</a:t>
            </a:r>
            <a:endParaRPr lang="en-US"/>
          </a:p>
        </p:txBody>
      </p:sp>
    </p:spTree>
    <p:extLst>
      <p:ext uri="{BB962C8B-B14F-4D97-AF65-F5344CB8AC3E}">
        <p14:creationId xmlns:p14="http://schemas.microsoft.com/office/powerpoint/2010/main" val="1966940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52976-ACE6-77F1-DC70-336E52EC5140}"/>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333298A0-1CD4-CB45-4768-84165DC5FF3A}"/>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9588588D-4A20-6AFA-0586-D809A8C55841}"/>
              </a:ext>
            </a:extLst>
          </p:cNvPr>
          <p:cNvSpPr txBox="1"/>
          <p:nvPr/>
        </p:nvSpPr>
        <p:spPr>
          <a:xfrm>
            <a:off x="684597" y="1282215"/>
            <a:ext cx="5967236" cy="646331"/>
          </a:xfrm>
          <a:prstGeom prst="rect">
            <a:avLst/>
          </a:prstGeom>
          <a:noFill/>
        </p:spPr>
        <p:txBody>
          <a:bodyPr wrap="square" lIns="91440" tIns="45720" rIns="91440" bIns="45720" rtlCol="0">
            <a:spAutoFit/>
          </a:bodyPr>
          <a:lstStyle/>
          <a:p>
            <a:r>
              <a:rPr lang="vi-VN">
                <a:latin typeface="Arial"/>
                <a:cs typeface="Arial"/>
              </a:rPr>
              <a:t>6. Đánh giá tính khả thi của </a:t>
            </a:r>
            <a:r>
              <a:rPr lang="vi-VN">
                <a:latin typeface="Arial"/>
                <a:ea typeface="+mn-lt"/>
                <a:cs typeface="Arial"/>
              </a:rPr>
              <a:t>phương án xử lý tại góc</a:t>
            </a:r>
            <a:endParaRPr lang="vi-VN">
              <a:effectLst/>
              <a:latin typeface="Arial"/>
              <a:ea typeface="+mn-lt"/>
              <a:cs typeface="Arial"/>
            </a:endParaRPr>
          </a:p>
          <a:p>
            <a:endParaRPr lang="vi-VN"/>
          </a:p>
        </p:txBody>
      </p:sp>
      <p:sp>
        <p:nvSpPr>
          <p:cNvPr id="4" name="TextBox 10">
            <a:extLst>
              <a:ext uri="{FF2B5EF4-FFF2-40B4-BE49-F238E27FC236}">
                <a16:creationId xmlns:a16="http://schemas.microsoft.com/office/drawing/2014/main" id="{E85502AE-1E38-050D-1812-E5CF76057513}"/>
              </a:ext>
            </a:extLst>
          </p:cNvPr>
          <p:cNvSpPr txBox="1"/>
          <p:nvPr/>
        </p:nvSpPr>
        <p:spPr>
          <a:xfrm>
            <a:off x="1481328" y="1783080"/>
            <a:ext cx="2304288" cy="283464"/>
          </a:xfrm>
          <a:prstGeom prst="rect">
            <a:avLst/>
          </a:prstGeom>
          <a:noFill/>
        </p:spPr>
        <p:txBody>
          <a:bodyPr wrap="square" lIns="27432" tIns="27432" rIns="27432" bIns="27432" anchor="t">
            <a:spAutoFit/>
          </a:bodyPr>
          <a:lstStyle/>
          <a:p>
            <a:pPr algn="l">
              <a:spcBef>
                <a:spcPts val="0"/>
              </a:spcBef>
              <a:spcAft>
                <a:spcPts val="0"/>
              </a:spcAft>
              <a:defRPr sz="1500" b="1" i="0">
                <a:solidFill>
                  <a:srgbClr val="102A43"/>
                </a:solidFill>
                <a:latin typeface="Arial"/>
              </a:defRPr>
            </a:pPr>
            <a:r>
              <a:t>Miền tham số</a:t>
            </a:r>
          </a:p>
        </p:txBody>
      </p:sp>
      <p:sp>
        <p:nvSpPr>
          <p:cNvPr id="9" name="TextBox 11">
            <a:extLst>
              <a:ext uri="{FF2B5EF4-FFF2-40B4-BE49-F238E27FC236}">
                <a16:creationId xmlns:a16="http://schemas.microsoft.com/office/drawing/2014/main" id="{A52BF223-F070-1EE9-A388-016EF517AE24}"/>
              </a:ext>
            </a:extLst>
          </p:cNvPr>
          <p:cNvSpPr txBox="1"/>
          <p:nvPr/>
        </p:nvSpPr>
        <p:spPr>
          <a:xfrm>
            <a:off x="941832" y="2414015"/>
            <a:ext cx="2944368" cy="356616"/>
          </a:xfrm>
          <a:prstGeom prst="rect">
            <a:avLst/>
          </a:prstGeom>
          <a:noFill/>
        </p:spPr>
        <p:txBody>
          <a:bodyPr wrap="square" lIns="27432" tIns="27432" rIns="27432" bIns="27432" anchor="t">
            <a:spAutoFit/>
          </a:bodyPr>
          <a:lstStyle/>
          <a:p>
            <a:pPr algn="ctr">
              <a:spcBef>
                <a:spcPts val="0"/>
              </a:spcBef>
              <a:spcAft>
                <a:spcPts val="0"/>
              </a:spcAft>
              <a:defRPr sz="1260" b="0" i="0">
                <a:solidFill>
                  <a:srgbClr val="172B3A"/>
                </a:solidFill>
                <a:latin typeface="Arial"/>
              </a:defRPr>
            </a:pPr>
            <a:r>
              <a:t>d, α hữu hạn</a:t>
            </a:r>
          </a:p>
        </p:txBody>
      </p:sp>
      <p:sp>
        <p:nvSpPr>
          <p:cNvPr id="12" name="TextBox 15">
            <a:extLst>
              <a:ext uri="{FF2B5EF4-FFF2-40B4-BE49-F238E27FC236}">
                <a16:creationId xmlns:a16="http://schemas.microsoft.com/office/drawing/2014/main" id="{B75AD342-569D-720F-5D6B-CF410423C52B}"/>
              </a:ext>
            </a:extLst>
          </p:cNvPr>
          <p:cNvSpPr txBox="1"/>
          <p:nvPr/>
        </p:nvSpPr>
        <p:spPr>
          <a:xfrm>
            <a:off x="5248656" y="1783080"/>
            <a:ext cx="2304288" cy="283464"/>
          </a:xfrm>
          <a:prstGeom prst="rect">
            <a:avLst/>
          </a:prstGeom>
          <a:noFill/>
        </p:spPr>
        <p:txBody>
          <a:bodyPr wrap="square" lIns="27432" tIns="27432" rIns="27432" bIns="27432" anchor="t">
            <a:spAutoFit/>
          </a:bodyPr>
          <a:lstStyle/>
          <a:p>
            <a:pPr algn="l">
              <a:spcBef>
                <a:spcPts val="0"/>
              </a:spcBef>
              <a:spcAft>
                <a:spcPts val="0"/>
              </a:spcAft>
              <a:defRPr sz="1500" b="1" i="0">
                <a:solidFill>
                  <a:srgbClr val="102A43"/>
                </a:solidFill>
                <a:latin typeface="Arial"/>
              </a:defRPr>
            </a:pPr>
            <a:r>
              <a:t>Hình học</a:t>
            </a:r>
          </a:p>
        </p:txBody>
      </p:sp>
      <p:sp>
        <p:nvSpPr>
          <p:cNvPr id="14" name="TextBox 16">
            <a:extLst>
              <a:ext uri="{FF2B5EF4-FFF2-40B4-BE49-F238E27FC236}">
                <a16:creationId xmlns:a16="http://schemas.microsoft.com/office/drawing/2014/main" id="{1E81E14B-8EAE-A054-828C-F59AC7C52709}"/>
              </a:ext>
            </a:extLst>
          </p:cNvPr>
          <p:cNvSpPr txBox="1"/>
          <p:nvPr/>
        </p:nvSpPr>
        <p:spPr>
          <a:xfrm>
            <a:off x="4709160" y="2414015"/>
            <a:ext cx="2944368" cy="356616"/>
          </a:xfrm>
          <a:prstGeom prst="rect">
            <a:avLst/>
          </a:prstGeom>
          <a:noFill/>
        </p:spPr>
        <p:txBody>
          <a:bodyPr wrap="square" lIns="27432" tIns="27432" rIns="27432" bIns="27432" anchor="t">
            <a:spAutoFit/>
          </a:bodyPr>
          <a:lstStyle/>
          <a:p>
            <a:pPr algn="ctr">
              <a:spcBef>
                <a:spcPts val="0"/>
              </a:spcBef>
              <a:spcAft>
                <a:spcPts val="0"/>
              </a:spcAft>
              <a:defRPr sz="1260" b="0" i="0">
                <a:solidFill>
                  <a:srgbClr val="172B3A"/>
                </a:solidFill>
                <a:latin typeface="Arial"/>
              </a:defRPr>
            </a:pPr>
            <a:r>
              <a:rPr err="1"/>
              <a:t>đạo</a:t>
            </a:r>
            <a:r>
              <a:t> </a:t>
            </a:r>
            <a:r>
              <a:rPr err="1"/>
              <a:t>hàm</a:t>
            </a:r>
            <a:r>
              <a:t> </a:t>
            </a:r>
            <a:r>
              <a:rPr err="1"/>
              <a:t>không</a:t>
            </a:r>
            <a:r>
              <a:t> </a:t>
            </a:r>
            <a:r>
              <a:rPr err="1"/>
              <a:t>suy</a:t>
            </a:r>
            <a:r>
              <a:t> </a:t>
            </a:r>
            <a:r>
              <a:rPr err="1"/>
              <a:t>biến</a:t>
            </a:r>
            <a:endParaRPr/>
          </a:p>
        </p:txBody>
      </p:sp>
      <p:sp>
        <p:nvSpPr>
          <p:cNvPr id="16" name="TextBox 20">
            <a:extLst>
              <a:ext uri="{FF2B5EF4-FFF2-40B4-BE49-F238E27FC236}">
                <a16:creationId xmlns:a16="http://schemas.microsoft.com/office/drawing/2014/main" id="{F6949714-6F1C-5FCC-2FD0-6B19D279F04D}"/>
              </a:ext>
            </a:extLst>
          </p:cNvPr>
          <p:cNvSpPr txBox="1"/>
          <p:nvPr/>
        </p:nvSpPr>
        <p:spPr>
          <a:xfrm>
            <a:off x="9015984" y="1783080"/>
            <a:ext cx="2304288" cy="283464"/>
          </a:xfrm>
          <a:prstGeom prst="rect">
            <a:avLst/>
          </a:prstGeom>
          <a:noFill/>
        </p:spPr>
        <p:txBody>
          <a:bodyPr wrap="square" lIns="27432" tIns="27432" rIns="27432" bIns="27432" anchor="t">
            <a:spAutoFit/>
          </a:bodyPr>
          <a:lstStyle/>
          <a:p>
            <a:pPr algn="l">
              <a:spcBef>
                <a:spcPts val="0"/>
              </a:spcBef>
              <a:spcAft>
                <a:spcPts val="0"/>
              </a:spcAft>
              <a:defRPr sz="1500" b="1" i="0">
                <a:solidFill>
                  <a:srgbClr val="102A43"/>
                </a:solidFill>
                <a:latin typeface="Arial"/>
              </a:defRPr>
            </a:pPr>
            <a:r>
              <a:t>Curvature</a:t>
            </a:r>
          </a:p>
        </p:txBody>
      </p:sp>
      <p:sp>
        <p:nvSpPr>
          <p:cNvPr id="18" name="TextBox 21">
            <a:extLst>
              <a:ext uri="{FF2B5EF4-FFF2-40B4-BE49-F238E27FC236}">
                <a16:creationId xmlns:a16="http://schemas.microsoft.com/office/drawing/2014/main" id="{32891FBA-E341-6BBD-CD0A-0FCE08C602C2}"/>
              </a:ext>
            </a:extLst>
          </p:cNvPr>
          <p:cNvSpPr txBox="1"/>
          <p:nvPr/>
        </p:nvSpPr>
        <p:spPr>
          <a:xfrm>
            <a:off x="8476488" y="2414015"/>
            <a:ext cx="2944368" cy="356616"/>
          </a:xfrm>
          <a:prstGeom prst="rect">
            <a:avLst/>
          </a:prstGeom>
          <a:noFill/>
        </p:spPr>
        <p:txBody>
          <a:bodyPr wrap="square" lIns="27432" tIns="27432" rIns="27432" bIns="27432" anchor="t">
            <a:spAutoFit/>
          </a:bodyPr>
          <a:lstStyle/>
          <a:p>
            <a:pPr algn="ctr">
              <a:spcBef>
                <a:spcPts val="0"/>
              </a:spcBef>
              <a:spcAft>
                <a:spcPts val="0"/>
              </a:spcAft>
              <a:defRPr sz="1260" b="0" i="0">
                <a:solidFill>
                  <a:srgbClr val="172B3A"/>
                </a:solidFill>
                <a:latin typeface="Arial"/>
              </a:defRPr>
            </a:pPr>
            <a:r>
              <a:t>không đổi dấu bất thường</a:t>
            </a:r>
          </a:p>
        </p:txBody>
      </p:sp>
      <p:sp>
        <p:nvSpPr>
          <p:cNvPr id="20" name="TextBox 25">
            <a:extLst>
              <a:ext uri="{FF2B5EF4-FFF2-40B4-BE49-F238E27FC236}">
                <a16:creationId xmlns:a16="http://schemas.microsoft.com/office/drawing/2014/main" id="{D90E7BB4-8DE9-45CA-4FDE-8E3BB513184A}"/>
              </a:ext>
            </a:extLst>
          </p:cNvPr>
          <p:cNvSpPr txBox="1"/>
          <p:nvPr/>
        </p:nvSpPr>
        <p:spPr>
          <a:xfrm>
            <a:off x="1481328" y="3813048"/>
            <a:ext cx="2304288" cy="283464"/>
          </a:xfrm>
          <a:prstGeom prst="rect">
            <a:avLst/>
          </a:prstGeom>
          <a:noFill/>
        </p:spPr>
        <p:txBody>
          <a:bodyPr wrap="square" lIns="27432" tIns="27432" rIns="27432" bIns="27432" anchor="t">
            <a:spAutoFit/>
          </a:bodyPr>
          <a:lstStyle/>
          <a:p>
            <a:pPr algn="l">
              <a:spcBef>
                <a:spcPts val="0"/>
              </a:spcBef>
              <a:spcAft>
                <a:spcPts val="0"/>
              </a:spcAft>
              <a:defRPr sz="1500" b="1" i="0">
                <a:solidFill>
                  <a:srgbClr val="102A43"/>
                </a:solidFill>
                <a:latin typeface="Arial"/>
              </a:defRPr>
            </a:pPr>
            <a:r>
              <a:t>Robot vi sai</a:t>
            </a:r>
          </a:p>
        </p:txBody>
      </p:sp>
      <p:sp>
        <p:nvSpPr>
          <p:cNvPr id="22" name="TextBox 26">
            <a:extLst>
              <a:ext uri="{FF2B5EF4-FFF2-40B4-BE49-F238E27FC236}">
                <a16:creationId xmlns:a16="http://schemas.microsoft.com/office/drawing/2014/main" id="{56E260BF-9C57-8216-754A-1B24868B1CFD}"/>
              </a:ext>
            </a:extLst>
          </p:cNvPr>
          <p:cNvSpPr txBox="1"/>
          <p:nvPr/>
        </p:nvSpPr>
        <p:spPr>
          <a:xfrm>
            <a:off x="941832" y="4443983"/>
            <a:ext cx="2944368" cy="356616"/>
          </a:xfrm>
          <a:prstGeom prst="rect">
            <a:avLst/>
          </a:prstGeom>
          <a:noFill/>
        </p:spPr>
        <p:txBody>
          <a:bodyPr wrap="square" lIns="27432" tIns="27432" rIns="27432" bIns="27432" anchor="t">
            <a:spAutoFit/>
          </a:bodyPr>
          <a:lstStyle/>
          <a:p>
            <a:pPr algn="ctr">
              <a:spcBef>
                <a:spcPts val="0"/>
              </a:spcBef>
              <a:spcAft>
                <a:spcPts val="0"/>
              </a:spcAft>
              <a:defRPr sz="1260" b="0" i="0">
                <a:solidFill>
                  <a:srgbClr val="172B3A"/>
                </a:solidFill>
                <a:latin typeface="Arial"/>
              </a:defRPr>
            </a:pPr>
            <a:r>
              <a:t>không đảo bánh trong</a:t>
            </a:r>
          </a:p>
        </p:txBody>
      </p:sp>
      <p:sp>
        <p:nvSpPr>
          <p:cNvPr id="24" name="TextBox 30">
            <a:extLst>
              <a:ext uri="{FF2B5EF4-FFF2-40B4-BE49-F238E27FC236}">
                <a16:creationId xmlns:a16="http://schemas.microsoft.com/office/drawing/2014/main" id="{7907657C-DD82-2D7B-BB56-CE56D19DAE18}"/>
              </a:ext>
            </a:extLst>
          </p:cNvPr>
          <p:cNvSpPr txBox="1"/>
          <p:nvPr/>
        </p:nvSpPr>
        <p:spPr>
          <a:xfrm>
            <a:off x="5248656" y="3813048"/>
            <a:ext cx="2304288" cy="283464"/>
          </a:xfrm>
          <a:prstGeom prst="rect">
            <a:avLst/>
          </a:prstGeom>
          <a:noFill/>
        </p:spPr>
        <p:txBody>
          <a:bodyPr wrap="square" lIns="27432" tIns="27432" rIns="27432" bIns="27432" anchor="t">
            <a:spAutoFit/>
          </a:bodyPr>
          <a:lstStyle/>
          <a:p>
            <a:pPr algn="l">
              <a:spcBef>
                <a:spcPts val="0"/>
              </a:spcBef>
              <a:spcAft>
                <a:spcPts val="0"/>
              </a:spcAft>
              <a:defRPr sz="1500" b="1" i="0">
                <a:solidFill>
                  <a:srgbClr val="102A43"/>
                </a:solidFill>
                <a:latin typeface="Arial"/>
              </a:defRPr>
            </a:pPr>
            <a:r>
              <a:t>Footprint</a:t>
            </a:r>
          </a:p>
        </p:txBody>
      </p:sp>
      <p:sp>
        <p:nvSpPr>
          <p:cNvPr id="26" name="TextBox 31">
            <a:extLst>
              <a:ext uri="{FF2B5EF4-FFF2-40B4-BE49-F238E27FC236}">
                <a16:creationId xmlns:a16="http://schemas.microsoft.com/office/drawing/2014/main" id="{08F59F09-4225-F3F6-423C-E3BF30216B36}"/>
              </a:ext>
            </a:extLst>
          </p:cNvPr>
          <p:cNvSpPr txBox="1"/>
          <p:nvPr/>
        </p:nvSpPr>
        <p:spPr>
          <a:xfrm>
            <a:off x="4709160" y="4443983"/>
            <a:ext cx="2944368" cy="356616"/>
          </a:xfrm>
          <a:prstGeom prst="rect">
            <a:avLst/>
          </a:prstGeom>
          <a:noFill/>
        </p:spPr>
        <p:txBody>
          <a:bodyPr wrap="square" lIns="27432" tIns="27432" rIns="27432" bIns="27432" anchor="t">
            <a:spAutoFit/>
          </a:bodyPr>
          <a:lstStyle/>
          <a:p>
            <a:pPr algn="ctr">
              <a:spcBef>
                <a:spcPts val="0"/>
              </a:spcBef>
              <a:spcAft>
                <a:spcPts val="0"/>
              </a:spcAft>
              <a:defRPr sz="1260" b="0" i="0">
                <a:solidFill>
                  <a:srgbClr val="172B3A"/>
                </a:solidFill>
                <a:latin typeface="Arial"/>
              </a:defRPr>
            </a:pPr>
            <a:r>
              <a:t>sweep không va chạm</a:t>
            </a:r>
          </a:p>
        </p:txBody>
      </p:sp>
      <p:sp>
        <p:nvSpPr>
          <p:cNvPr id="28" name="TextBox 35">
            <a:extLst>
              <a:ext uri="{FF2B5EF4-FFF2-40B4-BE49-F238E27FC236}">
                <a16:creationId xmlns:a16="http://schemas.microsoft.com/office/drawing/2014/main" id="{0E4DA11F-0104-84AF-B606-67A8EC7FFF59}"/>
              </a:ext>
            </a:extLst>
          </p:cNvPr>
          <p:cNvSpPr txBox="1"/>
          <p:nvPr/>
        </p:nvSpPr>
        <p:spPr>
          <a:xfrm>
            <a:off x="9015984" y="3813048"/>
            <a:ext cx="2304288" cy="283464"/>
          </a:xfrm>
          <a:prstGeom prst="rect">
            <a:avLst/>
          </a:prstGeom>
          <a:noFill/>
        </p:spPr>
        <p:txBody>
          <a:bodyPr wrap="square" lIns="27432" tIns="27432" rIns="27432" bIns="27432" anchor="t">
            <a:spAutoFit/>
          </a:bodyPr>
          <a:lstStyle/>
          <a:p>
            <a:pPr algn="l">
              <a:spcBef>
                <a:spcPts val="0"/>
              </a:spcBef>
              <a:spcAft>
                <a:spcPts val="0"/>
              </a:spcAft>
              <a:defRPr sz="1500" b="1" i="0">
                <a:solidFill>
                  <a:srgbClr val="102A43"/>
                </a:solidFill>
                <a:latin typeface="Arial"/>
              </a:defRPr>
            </a:pPr>
            <a:r>
              <a:t>Thời gian</a:t>
            </a:r>
          </a:p>
        </p:txBody>
      </p:sp>
      <p:sp>
        <p:nvSpPr>
          <p:cNvPr id="30" name="TextBox 36">
            <a:extLst>
              <a:ext uri="{FF2B5EF4-FFF2-40B4-BE49-F238E27FC236}">
                <a16:creationId xmlns:a16="http://schemas.microsoft.com/office/drawing/2014/main" id="{536374F9-4ADD-E731-2F33-B357D781BCA7}"/>
              </a:ext>
            </a:extLst>
          </p:cNvPr>
          <p:cNvSpPr txBox="1"/>
          <p:nvPr/>
        </p:nvSpPr>
        <p:spPr>
          <a:xfrm>
            <a:off x="8476488" y="4443983"/>
            <a:ext cx="2944368" cy="356616"/>
          </a:xfrm>
          <a:prstGeom prst="rect">
            <a:avLst/>
          </a:prstGeom>
          <a:noFill/>
        </p:spPr>
        <p:txBody>
          <a:bodyPr wrap="square" lIns="27432" tIns="27432" rIns="27432" bIns="27432" anchor="t">
            <a:spAutoFit/>
          </a:bodyPr>
          <a:lstStyle/>
          <a:p>
            <a:pPr algn="ctr">
              <a:spcBef>
                <a:spcPts val="0"/>
              </a:spcBef>
              <a:spcAft>
                <a:spcPts val="0"/>
              </a:spcAft>
              <a:defRPr sz="1260" b="0" i="0">
                <a:solidFill>
                  <a:srgbClr val="172B3A"/>
                </a:solidFill>
                <a:latin typeface="Arial"/>
              </a:defRPr>
            </a:pPr>
            <a:r>
              <a:t>profile hội tụ, có lợi</a:t>
            </a:r>
          </a:p>
        </p:txBody>
      </p:sp>
    </p:spTree>
    <p:extLst>
      <p:ext uri="{BB962C8B-B14F-4D97-AF65-F5344CB8AC3E}">
        <p14:creationId xmlns:p14="http://schemas.microsoft.com/office/powerpoint/2010/main" val="2165686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7A662-EEA0-4E8D-3E5E-D532747391D7}"/>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E4CA9D6E-8337-6EB6-F0C8-2148CB9B8B97}"/>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EFFA0C3B-28D1-0484-41A3-4017639A02BB}"/>
              </a:ext>
            </a:extLst>
          </p:cNvPr>
          <p:cNvSpPr txBox="1"/>
          <p:nvPr/>
        </p:nvSpPr>
        <p:spPr>
          <a:xfrm>
            <a:off x="594360" y="1232083"/>
            <a:ext cx="5979799" cy="646331"/>
          </a:xfrm>
          <a:prstGeom prst="rect">
            <a:avLst/>
          </a:prstGeom>
          <a:noFill/>
        </p:spPr>
        <p:txBody>
          <a:bodyPr wrap="square" lIns="91440" tIns="45720" rIns="91440" bIns="45720" rtlCol="0">
            <a:spAutoFit/>
          </a:bodyPr>
          <a:lstStyle/>
          <a:p>
            <a:r>
              <a:rPr lang="vi-VN">
                <a:latin typeface="Arial"/>
                <a:cs typeface="Arial"/>
              </a:rPr>
              <a:t>6. Đánh giá tính khả thi của </a:t>
            </a:r>
            <a:r>
              <a:rPr lang="vi-VN">
                <a:latin typeface="Arial"/>
                <a:ea typeface="+mn-lt"/>
                <a:cs typeface="Arial"/>
              </a:rPr>
              <a:t>phương </a:t>
            </a:r>
            <a:r>
              <a:rPr lang="vi-VN">
                <a:ea typeface="+mn-lt"/>
                <a:cs typeface="+mn-lt"/>
              </a:rPr>
              <a:t>án </a:t>
            </a:r>
            <a:r>
              <a:rPr lang="vi-VN">
                <a:latin typeface="Arial"/>
                <a:ea typeface="+mn-lt"/>
                <a:cs typeface="Arial"/>
              </a:rPr>
              <a:t>xử lý tại góc</a:t>
            </a:r>
            <a:endParaRPr lang="en-US">
              <a:effectLst/>
              <a:latin typeface="Arial"/>
              <a:cs typeface="Arial"/>
            </a:endParaRPr>
          </a:p>
          <a:p>
            <a:endParaRPr lang="vi-VN"/>
          </a:p>
        </p:txBody>
      </p:sp>
      <p:sp>
        <p:nvSpPr>
          <p:cNvPr id="5" name="Hộp Văn bản 4">
            <a:extLst>
              <a:ext uri="{FF2B5EF4-FFF2-40B4-BE49-F238E27FC236}">
                <a16:creationId xmlns:a16="http://schemas.microsoft.com/office/drawing/2014/main" id="{01EC7057-4872-0DAD-2327-9FA160B6FB98}"/>
              </a:ext>
            </a:extLst>
          </p:cNvPr>
          <p:cNvSpPr txBox="1"/>
          <p:nvPr/>
        </p:nvSpPr>
        <p:spPr>
          <a:xfrm>
            <a:off x="594360" y="1878414"/>
            <a:ext cx="6094476" cy="507831"/>
          </a:xfrm>
          <a:prstGeom prst="rect">
            <a:avLst/>
          </a:prstGeom>
          <a:noFill/>
        </p:spPr>
        <p:txBody>
          <a:bodyPr wrap="square">
            <a:spAutoFit/>
          </a:bodyPr>
          <a:lstStyle/>
          <a:p>
            <a:pPr algn="l">
              <a:spcBef>
                <a:spcPts val="0"/>
              </a:spcBef>
              <a:spcAft>
                <a:spcPts val="0"/>
              </a:spcAft>
              <a:defRPr sz="2700" b="1" i="0">
                <a:solidFill>
                  <a:srgbClr val="102A43"/>
                </a:solidFill>
                <a:latin typeface="Arial"/>
              </a:defRPr>
            </a:pPr>
            <a:r>
              <a:rPr lang="vi-VN" sz="2700"/>
              <a:t>Cổng hình học và </a:t>
            </a:r>
            <a:r>
              <a:rPr lang="vi-VN" sz="2700" err="1"/>
              <a:t>curvature</a:t>
            </a:r>
            <a:endParaRPr lang="vi-VN" sz="2700"/>
          </a:p>
        </p:txBody>
      </p:sp>
      <p:pic>
        <p:nvPicPr>
          <p:cNvPr id="8" name="Picture 8" descr="figure_04_bezier_g2.png">
            <a:extLst>
              <a:ext uri="{FF2B5EF4-FFF2-40B4-BE49-F238E27FC236}">
                <a16:creationId xmlns:a16="http://schemas.microsoft.com/office/drawing/2014/main" id="{800838D1-88E9-0F36-9441-90D08BB459C6}"/>
              </a:ext>
            </a:extLst>
          </p:cNvPr>
          <p:cNvPicPr>
            <a:picLocks noChangeAspect="1"/>
          </p:cNvPicPr>
          <p:nvPr/>
        </p:nvPicPr>
        <p:blipFill>
          <a:blip r:embed="rId2"/>
          <a:stretch>
            <a:fillRect/>
          </a:stretch>
        </p:blipFill>
        <p:spPr>
          <a:xfrm>
            <a:off x="594360" y="2755578"/>
            <a:ext cx="8107691" cy="3375605"/>
          </a:xfrm>
          <a:prstGeom prst="rect">
            <a:avLst/>
          </a:prstGeom>
        </p:spPr>
      </p:pic>
      <p:sp>
        <p:nvSpPr>
          <p:cNvPr id="11" name="TextBox 11">
            <a:extLst>
              <a:ext uri="{FF2B5EF4-FFF2-40B4-BE49-F238E27FC236}">
                <a16:creationId xmlns:a16="http://schemas.microsoft.com/office/drawing/2014/main" id="{493B2186-7A9E-2FEB-EDBD-FA04335A20C3}"/>
              </a:ext>
            </a:extLst>
          </p:cNvPr>
          <p:cNvSpPr txBox="1"/>
          <p:nvPr/>
        </p:nvSpPr>
        <p:spPr>
          <a:xfrm>
            <a:off x="7748016" y="360510"/>
            <a:ext cx="1298448" cy="265176"/>
          </a:xfrm>
          <a:prstGeom prst="rect">
            <a:avLst/>
          </a:prstGeom>
          <a:noFill/>
        </p:spPr>
        <p:txBody>
          <a:bodyPr wrap="square" lIns="27432" tIns="27432" rIns="27432" bIns="27432" anchor="t">
            <a:spAutoFit/>
          </a:bodyPr>
          <a:lstStyle/>
          <a:p>
            <a:pPr algn="l">
              <a:spcBef>
                <a:spcPts val="0"/>
              </a:spcBef>
              <a:spcAft>
                <a:spcPts val="0"/>
              </a:spcAft>
              <a:defRPr sz="1400" b="1" i="0">
                <a:solidFill>
                  <a:srgbClr val="102A43"/>
                </a:solidFill>
                <a:latin typeface="Arial"/>
              </a:defRPr>
            </a:pPr>
            <a:r>
              <a:t>Đạo hàm</a:t>
            </a:r>
          </a:p>
        </p:txBody>
      </p:sp>
      <p:sp>
        <p:nvSpPr>
          <p:cNvPr id="15" name="TextBox 12">
            <a:extLst>
              <a:ext uri="{FF2B5EF4-FFF2-40B4-BE49-F238E27FC236}">
                <a16:creationId xmlns:a16="http://schemas.microsoft.com/office/drawing/2014/main" id="{9830331B-C516-763A-7959-6F540D255EFB}"/>
              </a:ext>
            </a:extLst>
          </p:cNvPr>
          <p:cNvSpPr txBox="1"/>
          <p:nvPr/>
        </p:nvSpPr>
        <p:spPr>
          <a:xfrm>
            <a:off x="9055608" y="360510"/>
            <a:ext cx="2542032" cy="329184"/>
          </a:xfrm>
          <a:prstGeom prst="rect">
            <a:avLst/>
          </a:prstGeom>
          <a:noFill/>
        </p:spPr>
        <p:txBody>
          <a:bodyPr wrap="square" lIns="27432" tIns="27432" rIns="27432" bIns="27432" anchor="t">
            <a:spAutoFit/>
          </a:bodyPr>
          <a:lstStyle/>
          <a:p>
            <a:pPr algn="l">
              <a:spcBef>
                <a:spcPts val="0"/>
              </a:spcBef>
              <a:spcAft>
                <a:spcPts val="0"/>
              </a:spcAft>
              <a:defRPr sz="1240" b="0" i="0">
                <a:solidFill>
                  <a:srgbClr val="172B3A"/>
                </a:solidFill>
                <a:latin typeface="Arial"/>
              </a:defRPr>
            </a:pPr>
            <a:r>
              <a:t>‖B′(u)‖ &gt; ε </a:t>
            </a:r>
            <a:r>
              <a:rPr err="1"/>
              <a:t>trên</a:t>
            </a:r>
            <a:r>
              <a:t> </a:t>
            </a:r>
            <a:r>
              <a:rPr err="1"/>
              <a:t>mọi</a:t>
            </a:r>
            <a:r>
              <a:t> </a:t>
            </a:r>
            <a:r>
              <a:rPr err="1"/>
              <a:t>mẫu</a:t>
            </a:r>
            <a:endParaRPr/>
          </a:p>
        </p:txBody>
      </p:sp>
      <p:sp>
        <p:nvSpPr>
          <p:cNvPr id="19" name="TextBox 15">
            <a:extLst>
              <a:ext uri="{FF2B5EF4-FFF2-40B4-BE49-F238E27FC236}">
                <a16:creationId xmlns:a16="http://schemas.microsoft.com/office/drawing/2014/main" id="{FE87396D-56C1-1E76-ED9A-406043278167}"/>
              </a:ext>
            </a:extLst>
          </p:cNvPr>
          <p:cNvSpPr txBox="1"/>
          <p:nvPr/>
        </p:nvSpPr>
        <p:spPr>
          <a:xfrm>
            <a:off x="7748016" y="1384638"/>
            <a:ext cx="1298448" cy="265176"/>
          </a:xfrm>
          <a:prstGeom prst="rect">
            <a:avLst/>
          </a:prstGeom>
          <a:noFill/>
        </p:spPr>
        <p:txBody>
          <a:bodyPr wrap="square" lIns="27432" tIns="27432" rIns="27432" bIns="27432" anchor="t">
            <a:spAutoFit/>
          </a:bodyPr>
          <a:lstStyle/>
          <a:p>
            <a:pPr algn="l">
              <a:spcBef>
                <a:spcPts val="0"/>
              </a:spcBef>
              <a:spcAft>
                <a:spcPts val="0"/>
              </a:spcAft>
              <a:defRPr sz="1400" b="1" i="0">
                <a:solidFill>
                  <a:srgbClr val="102A43"/>
                </a:solidFill>
                <a:latin typeface="Arial"/>
              </a:defRPr>
            </a:pPr>
            <a:r>
              <a:t>Curvature</a:t>
            </a:r>
          </a:p>
        </p:txBody>
      </p:sp>
      <p:sp>
        <p:nvSpPr>
          <p:cNvPr id="23" name="TextBox 16">
            <a:extLst>
              <a:ext uri="{FF2B5EF4-FFF2-40B4-BE49-F238E27FC236}">
                <a16:creationId xmlns:a16="http://schemas.microsoft.com/office/drawing/2014/main" id="{2F876616-90CC-A6C5-1507-242CF890B06F}"/>
              </a:ext>
            </a:extLst>
          </p:cNvPr>
          <p:cNvSpPr txBox="1"/>
          <p:nvPr/>
        </p:nvSpPr>
        <p:spPr>
          <a:xfrm>
            <a:off x="9055608" y="1384638"/>
            <a:ext cx="2542032" cy="329184"/>
          </a:xfrm>
          <a:prstGeom prst="rect">
            <a:avLst/>
          </a:prstGeom>
          <a:noFill/>
        </p:spPr>
        <p:txBody>
          <a:bodyPr wrap="square" lIns="27432" tIns="27432" rIns="27432" bIns="27432" anchor="t">
            <a:spAutoFit/>
          </a:bodyPr>
          <a:lstStyle/>
          <a:p>
            <a:pPr algn="l">
              <a:spcBef>
                <a:spcPts val="0"/>
              </a:spcBef>
              <a:spcAft>
                <a:spcPts val="0"/>
              </a:spcAft>
              <a:defRPr sz="1240" b="0" i="0">
                <a:solidFill>
                  <a:srgbClr val="172B3A"/>
                </a:solidFill>
                <a:latin typeface="Arial"/>
              </a:defRPr>
            </a:pPr>
            <a:r>
              <a:t>κ hữu hạn; peak được ghi nhận</a:t>
            </a:r>
          </a:p>
        </p:txBody>
      </p:sp>
      <p:sp>
        <p:nvSpPr>
          <p:cNvPr id="27" name="TextBox 19">
            <a:extLst>
              <a:ext uri="{FF2B5EF4-FFF2-40B4-BE49-F238E27FC236}">
                <a16:creationId xmlns:a16="http://schemas.microsoft.com/office/drawing/2014/main" id="{C8A20E14-3FF3-5C4A-3321-59E5C4231760}"/>
              </a:ext>
            </a:extLst>
          </p:cNvPr>
          <p:cNvSpPr txBox="1"/>
          <p:nvPr/>
        </p:nvSpPr>
        <p:spPr>
          <a:xfrm>
            <a:off x="7748016" y="2408766"/>
            <a:ext cx="1298448" cy="265176"/>
          </a:xfrm>
          <a:prstGeom prst="rect">
            <a:avLst/>
          </a:prstGeom>
          <a:noFill/>
        </p:spPr>
        <p:txBody>
          <a:bodyPr wrap="square" lIns="27432" tIns="27432" rIns="27432" bIns="27432" anchor="t">
            <a:spAutoFit/>
          </a:bodyPr>
          <a:lstStyle/>
          <a:p>
            <a:pPr algn="l">
              <a:spcBef>
                <a:spcPts val="0"/>
              </a:spcBef>
              <a:spcAft>
                <a:spcPts val="0"/>
              </a:spcAft>
              <a:defRPr sz="1400" b="1" i="0">
                <a:solidFill>
                  <a:srgbClr val="102A43"/>
                </a:solidFill>
                <a:latin typeface="Arial"/>
              </a:defRPr>
            </a:pPr>
            <a:r>
              <a:t>Dấu quay</a:t>
            </a:r>
          </a:p>
        </p:txBody>
      </p:sp>
      <p:sp>
        <p:nvSpPr>
          <p:cNvPr id="31" name="TextBox 20">
            <a:extLst>
              <a:ext uri="{FF2B5EF4-FFF2-40B4-BE49-F238E27FC236}">
                <a16:creationId xmlns:a16="http://schemas.microsoft.com/office/drawing/2014/main" id="{461931C2-BBC6-6C7C-E310-D9A5348F7CBA}"/>
              </a:ext>
            </a:extLst>
          </p:cNvPr>
          <p:cNvSpPr txBox="1"/>
          <p:nvPr/>
        </p:nvSpPr>
        <p:spPr>
          <a:xfrm>
            <a:off x="9055608" y="2408766"/>
            <a:ext cx="2542032" cy="329184"/>
          </a:xfrm>
          <a:prstGeom prst="rect">
            <a:avLst/>
          </a:prstGeom>
          <a:noFill/>
        </p:spPr>
        <p:txBody>
          <a:bodyPr wrap="square" lIns="27432" tIns="27432" rIns="27432" bIns="27432" anchor="t">
            <a:spAutoFit/>
          </a:bodyPr>
          <a:lstStyle/>
          <a:p>
            <a:pPr algn="l">
              <a:spcBef>
                <a:spcPts val="0"/>
              </a:spcBef>
              <a:spcAft>
                <a:spcPts val="0"/>
              </a:spcAft>
              <a:defRPr sz="1240" b="0" i="0">
                <a:solidFill>
                  <a:srgbClr val="172B3A"/>
                </a:solidFill>
                <a:latin typeface="Arial"/>
              </a:defRPr>
            </a:pPr>
            <a:r>
              <a:t>sign(κ) không ngược sign(θ)</a:t>
            </a:r>
          </a:p>
        </p:txBody>
      </p:sp>
    </p:spTree>
    <p:extLst>
      <p:ext uri="{BB962C8B-B14F-4D97-AF65-F5344CB8AC3E}">
        <p14:creationId xmlns:p14="http://schemas.microsoft.com/office/powerpoint/2010/main" val="911925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5CB8D-A45D-5B1A-BE5B-BAF25CAAB219}"/>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028FA397-21FD-6241-A1E0-14B8441F898A}"/>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4315CC2A-7D85-1502-458B-F91448B8190D}"/>
              </a:ext>
            </a:extLst>
          </p:cNvPr>
          <p:cNvSpPr txBox="1"/>
          <p:nvPr/>
        </p:nvSpPr>
        <p:spPr>
          <a:xfrm>
            <a:off x="634465" y="1282214"/>
            <a:ext cx="5853203" cy="646331"/>
          </a:xfrm>
          <a:prstGeom prst="rect">
            <a:avLst/>
          </a:prstGeom>
          <a:noFill/>
        </p:spPr>
        <p:txBody>
          <a:bodyPr wrap="square" lIns="91440" tIns="45720" rIns="91440" bIns="45720" rtlCol="0">
            <a:spAutoFit/>
          </a:bodyPr>
          <a:lstStyle/>
          <a:p>
            <a:r>
              <a:rPr lang="vi-VN">
                <a:latin typeface="Arial"/>
                <a:cs typeface="Arial"/>
              </a:rPr>
              <a:t>6. Đánh giá tính khả thi của </a:t>
            </a:r>
            <a:r>
              <a:rPr lang="vi-VN">
                <a:latin typeface="Arial"/>
                <a:ea typeface="+mn-lt"/>
                <a:cs typeface="Arial"/>
              </a:rPr>
              <a:t>phương </a:t>
            </a:r>
            <a:r>
              <a:rPr lang="vi-VN">
                <a:ea typeface="+mn-lt"/>
                <a:cs typeface="+mn-lt"/>
              </a:rPr>
              <a:t>án </a:t>
            </a:r>
            <a:r>
              <a:rPr lang="vi-VN">
                <a:latin typeface="Arial"/>
                <a:ea typeface="+mn-lt"/>
                <a:cs typeface="Arial"/>
              </a:rPr>
              <a:t>xử lý tại góc</a:t>
            </a:r>
            <a:endParaRPr lang="vi-VN">
              <a:effectLst/>
              <a:latin typeface="Arial"/>
              <a:cs typeface="Arial"/>
            </a:endParaRPr>
          </a:p>
          <a:p>
            <a:endParaRPr lang="vi-VN"/>
          </a:p>
        </p:txBody>
      </p:sp>
      <p:pic>
        <p:nvPicPr>
          <p:cNvPr id="4" name="Picture 8" descr="image18.png">
            <a:extLst>
              <a:ext uri="{FF2B5EF4-FFF2-40B4-BE49-F238E27FC236}">
                <a16:creationId xmlns:a16="http://schemas.microsoft.com/office/drawing/2014/main" id="{1DB2E781-61DB-E7EE-748F-E15219BB9C8D}"/>
              </a:ext>
            </a:extLst>
          </p:cNvPr>
          <p:cNvPicPr>
            <a:picLocks noChangeAspect="1"/>
          </p:cNvPicPr>
          <p:nvPr/>
        </p:nvPicPr>
        <p:blipFill>
          <a:blip r:embed="rId2"/>
          <a:stretch>
            <a:fillRect/>
          </a:stretch>
        </p:blipFill>
        <p:spPr>
          <a:xfrm>
            <a:off x="345416" y="2348425"/>
            <a:ext cx="6478212" cy="3838798"/>
          </a:xfrm>
          <a:prstGeom prst="rect">
            <a:avLst/>
          </a:prstGeom>
        </p:spPr>
      </p:pic>
      <p:sp>
        <p:nvSpPr>
          <p:cNvPr id="9" name="TextBox 10">
            <a:extLst>
              <a:ext uri="{FF2B5EF4-FFF2-40B4-BE49-F238E27FC236}">
                <a16:creationId xmlns:a16="http://schemas.microsoft.com/office/drawing/2014/main" id="{6B8B2234-4D03-8E34-2999-45420354DFF9}"/>
              </a:ext>
            </a:extLst>
          </p:cNvPr>
          <p:cNvSpPr txBox="1"/>
          <p:nvPr/>
        </p:nvSpPr>
        <p:spPr>
          <a:xfrm>
            <a:off x="7325042" y="2765454"/>
            <a:ext cx="3968496" cy="384048"/>
          </a:xfrm>
          <a:prstGeom prst="rect">
            <a:avLst/>
          </a:prstGeom>
          <a:noFill/>
        </p:spPr>
        <p:txBody>
          <a:bodyPr wrap="square" lIns="27432" tIns="27432" rIns="27432" bIns="27432" anchor="t">
            <a:spAutoFit/>
          </a:bodyPr>
          <a:lstStyle/>
          <a:p>
            <a:pPr algn="ctr">
              <a:spcBef>
                <a:spcPts val="0"/>
              </a:spcBef>
              <a:spcAft>
                <a:spcPts val="0"/>
              </a:spcAft>
              <a:defRPr sz="2000" b="1" i="0">
                <a:solidFill>
                  <a:srgbClr val="102A43"/>
                </a:solidFill>
                <a:latin typeface="Arial"/>
              </a:defRPr>
            </a:pPr>
            <a:r>
              <a:t>vL = v(1 − bκ/2)</a:t>
            </a:r>
          </a:p>
        </p:txBody>
      </p:sp>
      <p:sp>
        <p:nvSpPr>
          <p:cNvPr id="12" name="TextBox 11">
            <a:extLst>
              <a:ext uri="{FF2B5EF4-FFF2-40B4-BE49-F238E27FC236}">
                <a16:creationId xmlns:a16="http://schemas.microsoft.com/office/drawing/2014/main" id="{958EE63A-9497-CF30-51EE-38A4682CC682}"/>
              </a:ext>
            </a:extLst>
          </p:cNvPr>
          <p:cNvSpPr txBox="1"/>
          <p:nvPr/>
        </p:nvSpPr>
        <p:spPr>
          <a:xfrm>
            <a:off x="7325042" y="3314094"/>
            <a:ext cx="3968496" cy="384048"/>
          </a:xfrm>
          <a:prstGeom prst="rect">
            <a:avLst/>
          </a:prstGeom>
          <a:noFill/>
        </p:spPr>
        <p:txBody>
          <a:bodyPr wrap="square" lIns="27432" tIns="27432" rIns="27432" bIns="27432" anchor="t">
            <a:spAutoFit/>
          </a:bodyPr>
          <a:lstStyle/>
          <a:p>
            <a:pPr algn="ctr">
              <a:spcBef>
                <a:spcPts val="0"/>
              </a:spcBef>
              <a:spcAft>
                <a:spcPts val="0"/>
              </a:spcAft>
              <a:defRPr sz="2000" b="1" i="0">
                <a:solidFill>
                  <a:srgbClr val="102A43"/>
                </a:solidFill>
                <a:latin typeface="Arial"/>
              </a:defRPr>
            </a:pPr>
            <a:r>
              <a:t>vR = v(1 + bκ/2)</a:t>
            </a:r>
          </a:p>
        </p:txBody>
      </p:sp>
      <p:sp>
        <p:nvSpPr>
          <p:cNvPr id="14" name="TextBox 12">
            <a:extLst>
              <a:ext uri="{FF2B5EF4-FFF2-40B4-BE49-F238E27FC236}">
                <a16:creationId xmlns:a16="http://schemas.microsoft.com/office/drawing/2014/main" id="{7E4B851D-8D7D-62F7-8887-99DD302A3DF9}"/>
              </a:ext>
            </a:extLst>
          </p:cNvPr>
          <p:cNvSpPr txBox="1"/>
          <p:nvPr/>
        </p:nvSpPr>
        <p:spPr>
          <a:xfrm>
            <a:off x="7133018" y="4393086"/>
            <a:ext cx="1143000" cy="292608"/>
          </a:xfrm>
          <a:prstGeom prst="rect">
            <a:avLst/>
          </a:prstGeom>
          <a:noFill/>
        </p:spPr>
        <p:txBody>
          <a:bodyPr wrap="square" lIns="27432" tIns="27432" rIns="27432" bIns="27432" anchor="t">
            <a:spAutoFit/>
          </a:bodyPr>
          <a:lstStyle/>
          <a:p>
            <a:pPr algn="l">
              <a:spcBef>
                <a:spcPts val="0"/>
              </a:spcBef>
              <a:spcAft>
                <a:spcPts val="0"/>
              </a:spcAft>
              <a:defRPr sz="1500" b="1" i="0">
                <a:solidFill>
                  <a:srgbClr val="E07A2F"/>
                </a:solidFill>
                <a:latin typeface="Arial"/>
              </a:defRPr>
            </a:pPr>
            <a:r>
              <a:rPr lang="en-US" b="1">
                <a:solidFill>
                  <a:srgbClr val="000000"/>
                </a:solidFill>
              </a:rPr>
              <a:t>Điều kiện</a:t>
            </a:r>
          </a:p>
        </p:txBody>
      </p:sp>
      <p:sp>
        <p:nvSpPr>
          <p:cNvPr id="17" name="TextBox 13">
            <a:extLst>
              <a:ext uri="{FF2B5EF4-FFF2-40B4-BE49-F238E27FC236}">
                <a16:creationId xmlns:a16="http://schemas.microsoft.com/office/drawing/2014/main" id="{69AA6A32-D5D9-9882-6156-91B8DAF0282E}"/>
              </a:ext>
            </a:extLst>
          </p:cNvPr>
          <p:cNvSpPr txBox="1"/>
          <p:nvPr/>
        </p:nvSpPr>
        <p:spPr>
          <a:xfrm>
            <a:off x="8321738" y="4347366"/>
            <a:ext cx="2514600" cy="347788"/>
          </a:xfrm>
          <a:prstGeom prst="rect">
            <a:avLst/>
          </a:prstGeom>
          <a:noFill/>
        </p:spPr>
        <p:txBody>
          <a:bodyPr wrap="square" lIns="27432" tIns="27432" rIns="27432" bIns="27432" anchor="t">
            <a:spAutoFit/>
          </a:bodyPr>
          <a:lstStyle/>
          <a:p>
            <a:pPr algn="ctr">
              <a:spcBef>
                <a:spcPts val="0"/>
              </a:spcBef>
              <a:spcAft>
                <a:spcPts val="0"/>
              </a:spcAft>
              <a:defRPr sz="1900" b="1" i="0">
                <a:solidFill>
                  <a:srgbClr val="E07A2F"/>
                </a:solidFill>
                <a:latin typeface="Arial"/>
              </a:defRPr>
            </a:pPr>
            <a:r>
              <a:rPr lang="en-US" b="1">
                <a:solidFill>
                  <a:srgbClr val="000000"/>
                </a:solidFill>
              </a:rPr>
              <a:t>1 − |</a:t>
            </a:r>
            <a:r>
              <a:rPr lang="en-US" b="1" err="1">
                <a:solidFill>
                  <a:srgbClr val="000000"/>
                </a:solidFill>
              </a:rPr>
              <a:t>b</a:t>
            </a:r>
            <a:r>
              <a:rPr lang="el-GR" b="1" err="1">
                <a:solidFill>
                  <a:srgbClr val="000000"/>
                </a:solidFill>
              </a:rPr>
              <a:t>κ</a:t>
            </a:r>
            <a:r>
              <a:rPr lang="el-GR" b="1">
                <a:solidFill>
                  <a:srgbClr val="000000"/>
                </a:solidFill>
              </a:rPr>
              <a:t>|/2 ≥ 0</a:t>
            </a:r>
          </a:p>
        </p:txBody>
      </p:sp>
      <p:sp>
        <p:nvSpPr>
          <p:cNvPr id="20" name="TextBox 14">
            <a:extLst>
              <a:ext uri="{FF2B5EF4-FFF2-40B4-BE49-F238E27FC236}">
                <a16:creationId xmlns:a16="http://schemas.microsoft.com/office/drawing/2014/main" id="{5DF6604A-7B31-FE35-2262-F635925F79E8}"/>
              </a:ext>
            </a:extLst>
          </p:cNvPr>
          <p:cNvSpPr txBox="1"/>
          <p:nvPr/>
        </p:nvSpPr>
        <p:spPr>
          <a:xfrm>
            <a:off x="7151306" y="5088030"/>
            <a:ext cx="3950208" cy="806439"/>
          </a:xfrm>
          <a:prstGeom prst="rect">
            <a:avLst/>
          </a:prstGeom>
          <a:noFill/>
        </p:spPr>
        <p:txBody>
          <a:bodyPr wrap="square" lIns="18288" tIns="18288" rIns="18288" bIns="18288">
            <a:spAutoFit/>
          </a:bodyPr>
          <a:lstStyle/>
          <a:p>
            <a:pPr algn="l">
              <a:lnSpc>
                <a:spcPct val="105000"/>
              </a:lnSpc>
              <a:spcBef>
                <a:spcPts val="0"/>
              </a:spcBef>
              <a:spcAft>
                <a:spcPts val="600"/>
              </a:spcAft>
            </a:pPr>
            <a:r>
              <a:rPr lang="en-US" sz="1300" b="1">
                <a:solidFill>
                  <a:srgbClr val="000000"/>
                </a:solidFill>
                <a:latin typeface="Arial"/>
              </a:rPr>
              <a:t>• b = 0,2548 m</a:t>
            </a:r>
          </a:p>
          <a:p>
            <a:pPr algn="l">
              <a:lnSpc>
                <a:spcPct val="105000"/>
              </a:lnSpc>
              <a:spcBef>
                <a:spcPts val="0"/>
              </a:spcBef>
              <a:spcAft>
                <a:spcPts val="600"/>
              </a:spcAft>
            </a:pPr>
            <a:r>
              <a:rPr lang="en-US" sz="1300" b="1">
                <a:solidFill>
                  <a:srgbClr val="000000"/>
                </a:solidFill>
                <a:latin typeface="Arial"/>
              </a:rPr>
              <a:t>• |vwheel| ≤ 0,36 m/s</a:t>
            </a:r>
          </a:p>
          <a:p>
            <a:pPr algn="l">
              <a:lnSpc>
                <a:spcPct val="105000"/>
              </a:lnSpc>
              <a:spcBef>
                <a:spcPts val="0"/>
              </a:spcBef>
              <a:spcAft>
                <a:spcPts val="600"/>
              </a:spcAft>
            </a:pPr>
            <a:r>
              <a:rPr lang="en-US" sz="1300" b="1">
                <a:solidFill>
                  <a:srgbClr val="000000"/>
                </a:solidFill>
                <a:latin typeface="Arial"/>
              </a:rPr>
              <a:t>• |</a:t>
            </a:r>
            <a:r>
              <a:rPr lang="el-GR" sz="1300" b="1">
                <a:solidFill>
                  <a:srgbClr val="000000"/>
                </a:solidFill>
                <a:latin typeface="Arial"/>
              </a:rPr>
              <a:t>ω| ≤ 0,80 </a:t>
            </a:r>
            <a:r>
              <a:rPr lang="en-US" sz="1300" b="1">
                <a:solidFill>
                  <a:srgbClr val="000000"/>
                </a:solidFill>
                <a:latin typeface="Arial"/>
              </a:rPr>
              <a:t>rad/s</a:t>
            </a:r>
          </a:p>
        </p:txBody>
      </p:sp>
      <p:sp>
        <p:nvSpPr>
          <p:cNvPr id="22" name="TextBox 3">
            <a:extLst>
              <a:ext uri="{FF2B5EF4-FFF2-40B4-BE49-F238E27FC236}">
                <a16:creationId xmlns:a16="http://schemas.microsoft.com/office/drawing/2014/main" id="{4C327898-6FD5-03F4-0661-63BDE102D7A8}"/>
              </a:ext>
            </a:extLst>
          </p:cNvPr>
          <p:cNvSpPr txBox="1"/>
          <p:nvPr/>
        </p:nvSpPr>
        <p:spPr>
          <a:xfrm>
            <a:off x="633984" y="1696194"/>
            <a:ext cx="10698480" cy="475488"/>
          </a:xfrm>
          <a:prstGeom prst="rect">
            <a:avLst/>
          </a:prstGeom>
          <a:noFill/>
        </p:spPr>
        <p:txBody>
          <a:bodyPr wrap="square" lIns="27432" tIns="27432" rIns="27432" bIns="27432" anchor="t">
            <a:spAutoFit/>
          </a:bodyPr>
          <a:lstStyle/>
          <a:p>
            <a:pPr algn="l">
              <a:spcBef>
                <a:spcPts val="0"/>
              </a:spcBef>
              <a:spcAft>
                <a:spcPts val="0"/>
              </a:spcAft>
              <a:defRPr sz="2700" b="1" i="0">
                <a:solidFill>
                  <a:srgbClr val="102A43"/>
                </a:solidFill>
                <a:latin typeface="Arial"/>
              </a:defRPr>
            </a:pPr>
            <a:r>
              <a:rPr err="1"/>
              <a:t>Cổng</a:t>
            </a:r>
            <a:r>
              <a:t> </a:t>
            </a:r>
            <a:r>
              <a:rPr err="1"/>
              <a:t>động</a:t>
            </a:r>
            <a:r>
              <a:t> </a:t>
            </a:r>
            <a:r>
              <a:rPr err="1"/>
              <a:t>học</a:t>
            </a:r>
            <a:r>
              <a:t> robot vi </a:t>
            </a:r>
            <a:r>
              <a:rPr err="1"/>
              <a:t>sai</a:t>
            </a:r>
            <a:endParaRPr/>
          </a:p>
        </p:txBody>
      </p:sp>
      <p:sp>
        <p:nvSpPr>
          <p:cNvPr id="25" name="TextBox 16">
            <a:extLst>
              <a:ext uri="{FF2B5EF4-FFF2-40B4-BE49-F238E27FC236}">
                <a16:creationId xmlns:a16="http://schemas.microsoft.com/office/drawing/2014/main" id="{D84E773E-3C27-5BB1-27FA-399DEB32C008}"/>
              </a:ext>
            </a:extLst>
          </p:cNvPr>
          <p:cNvSpPr txBox="1"/>
          <p:nvPr/>
        </p:nvSpPr>
        <p:spPr>
          <a:xfrm>
            <a:off x="7234786" y="6187635"/>
            <a:ext cx="3867911" cy="455509"/>
          </a:xfrm>
          <a:prstGeom prst="rect">
            <a:avLst/>
          </a:prstGeom>
          <a:noFill/>
        </p:spPr>
        <p:txBody>
          <a:bodyPr wrap="square" lIns="27432" tIns="27432" rIns="27432" bIns="27432" anchor="t">
            <a:spAutoFit/>
          </a:bodyPr>
          <a:lstStyle/>
          <a:p>
            <a:pPr algn="ctr">
              <a:spcBef>
                <a:spcPts val="0"/>
              </a:spcBef>
              <a:spcAft>
                <a:spcPts val="0"/>
              </a:spcAft>
              <a:defRPr sz="1300" b="1" i="0">
                <a:solidFill>
                  <a:srgbClr val="E07A2F"/>
                </a:solidFill>
                <a:latin typeface="Arial"/>
              </a:defRPr>
            </a:pPr>
            <a:r>
              <a:rPr lang="vi-VN" b="1" err="1">
                <a:solidFill>
                  <a:srgbClr val="000000"/>
                </a:solidFill>
              </a:rPr>
              <a:t>Không</a:t>
            </a:r>
            <a:r>
              <a:rPr lang="vi-VN" b="1">
                <a:solidFill>
                  <a:srgbClr val="000000"/>
                </a:solidFill>
              </a:rPr>
              <a:t> </a:t>
            </a:r>
            <a:r>
              <a:rPr lang="vi-VN" b="1" err="1">
                <a:solidFill>
                  <a:srgbClr val="000000"/>
                </a:solidFill>
              </a:rPr>
              <a:t>đạt</a:t>
            </a:r>
            <a:r>
              <a:rPr lang="vi-VN" b="1">
                <a:solidFill>
                  <a:srgbClr val="000000"/>
                </a:solidFill>
              </a:rPr>
              <a:t> → </a:t>
            </a:r>
            <a:r>
              <a:rPr lang="vi-VN" b="1" err="1">
                <a:solidFill>
                  <a:srgbClr val="000000"/>
                </a:solidFill>
              </a:rPr>
              <a:t>giữ</a:t>
            </a:r>
            <a:r>
              <a:rPr lang="vi-VN" b="1">
                <a:solidFill>
                  <a:srgbClr val="000000"/>
                </a:solidFill>
              </a:rPr>
              <a:t> pivot state </a:t>
            </a:r>
            <a:r>
              <a:rPr lang="vi-VN" b="1" err="1">
                <a:solidFill>
                  <a:srgbClr val="000000"/>
                </a:solidFill>
              </a:rPr>
              <a:t>thay</a:t>
            </a:r>
            <a:r>
              <a:rPr lang="vi-VN" b="1">
                <a:solidFill>
                  <a:srgbClr val="000000"/>
                </a:solidFill>
              </a:rPr>
              <a:t> </a:t>
            </a:r>
            <a:r>
              <a:rPr lang="vi-VN" b="1" err="1">
                <a:solidFill>
                  <a:srgbClr val="000000"/>
                </a:solidFill>
              </a:rPr>
              <a:t>vì</a:t>
            </a:r>
            <a:r>
              <a:rPr lang="vi-VN" b="1">
                <a:solidFill>
                  <a:srgbClr val="000000"/>
                </a:solidFill>
              </a:rPr>
              <a:t> </a:t>
            </a:r>
            <a:r>
              <a:rPr lang="vi-VN" b="1" err="1">
                <a:solidFill>
                  <a:srgbClr val="000000"/>
                </a:solidFill>
              </a:rPr>
              <a:t>ép</a:t>
            </a:r>
            <a:r>
              <a:rPr lang="vi-VN" b="1">
                <a:solidFill>
                  <a:srgbClr val="000000"/>
                </a:solidFill>
              </a:rPr>
              <a:t> </a:t>
            </a:r>
            <a:r>
              <a:rPr lang="vi-VN" b="1" err="1">
                <a:solidFill>
                  <a:srgbClr val="000000"/>
                </a:solidFill>
              </a:rPr>
              <a:t>đường</a:t>
            </a:r>
            <a:r>
              <a:rPr lang="vi-VN" b="1">
                <a:solidFill>
                  <a:srgbClr val="000000"/>
                </a:solidFill>
              </a:rPr>
              <a:t> cong.</a:t>
            </a:r>
          </a:p>
        </p:txBody>
      </p:sp>
      <p:pic>
        <p:nvPicPr>
          <p:cNvPr id="3" name="Picture 2">
            <a:extLst>
              <a:ext uri="{FF2B5EF4-FFF2-40B4-BE49-F238E27FC236}">
                <a16:creationId xmlns:a16="http://schemas.microsoft.com/office/drawing/2014/main" id="{90A8275C-E4EC-663C-F40C-5431CB34E602}"/>
              </a:ext>
            </a:extLst>
          </p:cNvPr>
          <p:cNvPicPr>
            <a:picLocks noChangeAspect="1"/>
          </p:cNvPicPr>
          <p:nvPr/>
        </p:nvPicPr>
        <p:blipFill>
          <a:blip r:embed="rId3"/>
          <a:stretch>
            <a:fillRect/>
          </a:stretch>
        </p:blipFill>
        <p:spPr>
          <a:xfrm>
            <a:off x="9578249" y="-1836"/>
            <a:ext cx="2510010" cy="2574275"/>
          </a:xfrm>
          <a:prstGeom prst="rect">
            <a:avLst/>
          </a:prstGeom>
        </p:spPr>
      </p:pic>
      <p:sp>
        <p:nvSpPr>
          <p:cNvPr id="5" name="TextBox 4">
            <a:extLst>
              <a:ext uri="{FF2B5EF4-FFF2-40B4-BE49-F238E27FC236}">
                <a16:creationId xmlns:a16="http://schemas.microsoft.com/office/drawing/2014/main" id="{60F3320C-CE84-78C1-4FFF-97E076C6752F}"/>
              </a:ext>
            </a:extLst>
          </p:cNvPr>
          <p:cNvSpPr txBox="1"/>
          <p:nvPr/>
        </p:nvSpPr>
        <p:spPr>
          <a:xfrm>
            <a:off x="8740047" y="3630976"/>
            <a:ext cx="140465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i="0" kern="1200">
                <a:solidFill>
                  <a:srgbClr val="000000"/>
                </a:solidFill>
                <a:latin typeface="Noto Sans"/>
                <a:ea typeface="+mn-ea"/>
                <a:cs typeface="+mn-cs"/>
              </a:rPr>
              <a:t>ω = vκ</a:t>
            </a:r>
            <a:endParaRPr lang="en-US" b="1">
              <a:solidFill>
                <a:srgbClr val="000000"/>
              </a:solidFill>
            </a:endParaRPr>
          </a:p>
          <a:p>
            <a:pPr algn="ctr"/>
            <a:endParaRPr lang="en-US" b="1">
              <a:solidFill>
                <a:srgbClr val="000000"/>
              </a:solidFill>
            </a:endParaRPr>
          </a:p>
        </p:txBody>
      </p:sp>
    </p:spTree>
    <p:extLst>
      <p:ext uri="{BB962C8B-B14F-4D97-AF65-F5344CB8AC3E}">
        <p14:creationId xmlns:p14="http://schemas.microsoft.com/office/powerpoint/2010/main" val="498000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E797-4F3B-6E8A-DDFE-6FFF80355963}"/>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86A1F5FD-E88A-67B2-D4C0-8DAE6E444882}"/>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D3AEBBB6-58B2-0BC1-EF95-98F967A1BF82}"/>
              </a:ext>
            </a:extLst>
          </p:cNvPr>
          <p:cNvSpPr txBox="1"/>
          <p:nvPr/>
        </p:nvSpPr>
        <p:spPr>
          <a:xfrm>
            <a:off x="596896" y="1232083"/>
            <a:ext cx="6099995" cy="646331"/>
          </a:xfrm>
          <a:prstGeom prst="rect">
            <a:avLst/>
          </a:prstGeom>
          <a:noFill/>
        </p:spPr>
        <p:txBody>
          <a:bodyPr wrap="square" lIns="91440" tIns="45720" rIns="91440" bIns="45720" rtlCol="0">
            <a:spAutoFit/>
          </a:bodyPr>
          <a:lstStyle/>
          <a:p>
            <a:r>
              <a:rPr lang="vi-VN">
                <a:latin typeface="Arial"/>
                <a:cs typeface="Arial"/>
              </a:rPr>
              <a:t>6. Đánh giá tính khả thi của </a:t>
            </a:r>
            <a:r>
              <a:rPr lang="vi-VN">
                <a:latin typeface="Arial"/>
                <a:ea typeface="+mn-lt"/>
                <a:cs typeface="Arial"/>
              </a:rPr>
              <a:t>pphương </a:t>
            </a:r>
            <a:r>
              <a:rPr lang="vi-VN">
                <a:ea typeface="+mn-lt"/>
                <a:cs typeface="+mn-lt"/>
              </a:rPr>
              <a:t>án </a:t>
            </a:r>
            <a:r>
              <a:rPr lang="vi-VN">
                <a:latin typeface="Arial"/>
                <a:ea typeface="+mn-lt"/>
                <a:cs typeface="Arial"/>
              </a:rPr>
              <a:t>xử lý tại góc</a:t>
            </a:r>
            <a:endParaRPr lang="vi-VN">
              <a:effectLst/>
              <a:latin typeface="Arial"/>
              <a:ea typeface="+mn-lt"/>
              <a:cs typeface="Arial"/>
            </a:endParaRPr>
          </a:p>
          <a:p>
            <a:endParaRPr lang="vi-VN"/>
          </a:p>
        </p:txBody>
      </p:sp>
      <p:sp>
        <p:nvSpPr>
          <p:cNvPr id="5" name="TextBox 3">
            <a:extLst>
              <a:ext uri="{FF2B5EF4-FFF2-40B4-BE49-F238E27FC236}">
                <a16:creationId xmlns:a16="http://schemas.microsoft.com/office/drawing/2014/main" id="{F05345DA-9B9B-4AF1-BCA5-C210F49BD3B6}"/>
              </a:ext>
            </a:extLst>
          </p:cNvPr>
          <p:cNvSpPr txBox="1"/>
          <p:nvPr/>
        </p:nvSpPr>
        <p:spPr>
          <a:xfrm>
            <a:off x="566928" y="1640670"/>
            <a:ext cx="10698480" cy="475488"/>
          </a:xfrm>
          <a:prstGeom prst="rect">
            <a:avLst/>
          </a:prstGeom>
          <a:noFill/>
        </p:spPr>
        <p:txBody>
          <a:bodyPr wrap="square" lIns="27432" tIns="27432" rIns="27432" bIns="27432" anchor="t">
            <a:spAutoFit/>
          </a:bodyPr>
          <a:lstStyle/>
          <a:p>
            <a:pPr algn="l">
              <a:spcBef>
                <a:spcPts val="0"/>
              </a:spcBef>
              <a:spcAft>
                <a:spcPts val="0"/>
              </a:spcAft>
              <a:defRPr sz="2700" b="1" i="0">
                <a:solidFill>
                  <a:srgbClr val="102A43"/>
                </a:solidFill>
                <a:latin typeface="Arial"/>
              </a:defRPr>
            </a:pPr>
            <a:r>
              <a:rPr err="1"/>
              <a:t>Cổng</a:t>
            </a:r>
            <a:r>
              <a:t> an </a:t>
            </a:r>
            <a:r>
              <a:rPr err="1"/>
              <a:t>toàn</a:t>
            </a:r>
            <a:r>
              <a:t> footprint</a:t>
            </a:r>
          </a:p>
        </p:txBody>
      </p:sp>
      <p:pic>
        <p:nvPicPr>
          <p:cNvPr id="4" name="Picture 3">
            <a:extLst>
              <a:ext uri="{FF2B5EF4-FFF2-40B4-BE49-F238E27FC236}">
                <a16:creationId xmlns:a16="http://schemas.microsoft.com/office/drawing/2014/main" id="{4D88C7B2-0990-FE05-9848-8A823F8539E1}"/>
              </a:ext>
            </a:extLst>
          </p:cNvPr>
          <p:cNvPicPr>
            <a:picLocks noChangeAspect="1"/>
          </p:cNvPicPr>
          <p:nvPr/>
        </p:nvPicPr>
        <p:blipFill>
          <a:blip r:embed="rId2"/>
          <a:stretch>
            <a:fillRect/>
          </a:stretch>
        </p:blipFill>
        <p:spPr>
          <a:xfrm>
            <a:off x="4907354" y="2313542"/>
            <a:ext cx="3148473" cy="3295879"/>
          </a:xfrm>
          <a:prstGeom prst="rect">
            <a:avLst/>
          </a:prstGeom>
        </p:spPr>
      </p:pic>
      <p:sp>
        <p:nvSpPr>
          <p:cNvPr id="6" name="TextBox 5">
            <a:extLst>
              <a:ext uri="{FF2B5EF4-FFF2-40B4-BE49-F238E27FC236}">
                <a16:creationId xmlns:a16="http://schemas.microsoft.com/office/drawing/2014/main" id="{A8257F43-7954-8916-A1FE-3BDA7F24D25C}"/>
              </a:ext>
            </a:extLst>
          </p:cNvPr>
          <p:cNvSpPr txBox="1"/>
          <p:nvPr/>
        </p:nvSpPr>
        <p:spPr>
          <a:xfrm>
            <a:off x="8391180" y="3429000"/>
            <a:ext cx="363556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1500" b="1" i="0" kern="1200">
                <a:solidFill>
                  <a:srgbClr val="000000"/>
                </a:solidFill>
                <a:latin typeface="Noto Sans"/>
                <a:ea typeface="+mn-ea"/>
                <a:cs typeface="+mn-cs"/>
              </a:rPr>
              <a:t>Chi </a:t>
            </a:r>
            <a:r>
              <a:rPr lang="en-US" sz="1500" b="1" i="0" kern="1200" err="1">
                <a:solidFill>
                  <a:srgbClr val="000000"/>
                </a:solidFill>
                <a:latin typeface="Noto Sans"/>
                <a:ea typeface="+mn-ea"/>
                <a:cs typeface="+mn-cs"/>
              </a:rPr>
              <a:t>phí</a:t>
            </a:r>
            <a:r>
              <a:rPr lang="en-US" sz="1500" b="1" i="0" kern="1200">
                <a:solidFill>
                  <a:srgbClr val="000000"/>
                </a:solidFill>
                <a:latin typeface="Noto Sans"/>
                <a:ea typeface="+mn-ea"/>
                <a:cs typeface="+mn-cs"/>
              </a:rPr>
              <a:t> ô </a:t>
            </a:r>
            <a:r>
              <a:rPr lang="en-US" sz="1500" b="1" i="0" kern="1200" err="1">
                <a:solidFill>
                  <a:srgbClr val="000000"/>
                </a:solidFill>
                <a:latin typeface="Noto Sans"/>
                <a:ea typeface="+mn-ea"/>
                <a:cs typeface="+mn-cs"/>
              </a:rPr>
              <a:t>tại</a:t>
            </a:r>
            <a:r>
              <a:rPr lang="en-US" sz="1500" b="1" i="0" kern="1200">
                <a:solidFill>
                  <a:srgbClr val="000000"/>
                </a:solidFill>
                <a:latin typeface="Noto Sans"/>
                <a:ea typeface="+mn-ea"/>
                <a:cs typeface="+mn-cs"/>
              </a:rPr>
              <a:t> </a:t>
            </a:r>
            <a:r>
              <a:rPr lang="en-US" sz="1500" b="1" i="0" kern="1200" err="1">
                <a:solidFill>
                  <a:srgbClr val="000000"/>
                </a:solidFill>
                <a:latin typeface="Noto Sans"/>
                <a:ea typeface="+mn-ea"/>
                <a:cs typeface="+mn-cs"/>
              </a:rPr>
              <a:t>tâm</a:t>
            </a:r>
            <a:r>
              <a:rPr lang="en-US" sz="1500" b="1" i="0" kern="1200">
                <a:solidFill>
                  <a:srgbClr val="000000"/>
                </a:solidFill>
                <a:latin typeface="Noto Sans"/>
                <a:ea typeface="+mn-ea"/>
                <a:cs typeface="+mn-cs"/>
              </a:rPr>
              <a:t> ≤252  </a:t>
            </a:r>
            <a:r>
              <a:rPr lang="vi-VN" sz="1500" b="1" i="0" kern="1200">
                <a:solidFill>
                  <a:srgbClr val="000000"/>
                </a:solidFill>
                <a:latin typeface="Noto Sans"/>
                <a:ea typeface="+mn-ea"/>
                <a:cs typeface="+mn-cs"/>
              </a:rPr>
              <a:t>và</a:t>
            </a:r>
            <a:r>
              <a:rPr lang="en-US" sz="1500" b="1" i="0" kern="1200">
                <a:solidFill>
                  <a:srgbClr val="000000"/>
                </a:solidFill>
                <a:latin typeface="Noto Sans"/>
                <a:ea typeface="+mn-ea"/>
                <a:cs typeface="+mn-cs"/>
              </a:rPr>
              <a:t>  </a:t>
            </a:r>
            <a:r>
              <a:rPr lang="en-US" sz="1500" b="1" i="0" kern="1200" err="1">
                <a:solidFill>
                  <a:srgbClr val="000000"/>
                </a:solidFill>
                <a:latin typeface="Noto Sans"/>
                <a:ea typeface="+mn-ea"/>
                <a:cs typeface="+mn-cs"/>
              </a:rPr>
              <a:t>hình</a:t>
            </a:r>
            <a:r>
              <a:rPr lang="en-US" sz="1500" b="1" i="0" kern="1200">
                <a:solidFill>
                  <a:srgbClr val="000000"/>
                </a:solidFill>
                <a:latin typeface="Noto Sans"/>
                <a:ea typeface="+mn-ea"/>
                <a:cs typeface="+mn-cs"/>
              </a:rPr>
              <a:t> bao </a:t>
            </a:r>
            <a:r>
              <a:rPr lang="en-US" sz="1500" b="1" i="0" kern="1200" err="1">
                <a:solidFill>
                  <a:srgbClr val="000000"/>
                </a:solidFill>
                <a:latin typeface="Noto Sans"/>
                <a:ea typeface="+mn-ea"/>
                <a:cs typeface="+mn-cs"/>
              </a:rPr>
              <a:t>không</a:t>
            </a:r>
            <a:r>
              <a:rPr lang="en-US" sz="1500" b="1" i="0" kern="1200">
                <a:solidFill>
                  <a:srgbClr val="000000"/>
                </a:solidFill>
                <a:latin typeface="Noto Sans"/>
                <a:ea typeface="+mn-ea"/>
                <a:cs typeface="+mn-cs"/>
              </a:rPr>
              <a:t> </a:t>
            </a:r>
            <a:r>
              <a:rPr lang="en-US" sz="1500" b="1" i="0" kern="1200" err="1">
                <a:solidFill>
                  <a:srgbClr val="000000"/>
                </a:solidFill>
                <a:latin typeface="Noto Sans"/>
                <a:ea typeface="+mn-ea"/>
                <a:cs typeface="+mn-cs"/>
              </a:rPr>
              <a:t>va</a:t>
            </a:r>
            <a:r>
              <a:rPr lang="en-US" sz="1500" b="1" i="0" kern="1200">
                <a:solidFill>
                  <a:srgbClr val="000000"/>
                </a:solidFill>
                <a:latin typeface="Noto Sans"/>
                <a:ea typeface="+mn-ea"/>
                <a:cs typeface="+mn-cs"/>
              </a:rPr>
              <a:t> </a:t>
            </a:r>
            <a:r>
              <a:rPr lang="en-US" sz="1500" b="1" i="0" kern="1200" err="1">
                <a:solidFill>
                  <a:srgbClr val="000000"/>
                </a:solidFill>
                <a:latin typeface="Noto Sans"/>
                <a:ea typeface="+mn-ea"/>
                <a:cs typeface="+mn-cs"/>
              </a:rPr>
              <a:t>chạm</a:t>
            </a:r>
            <a:endParaRPr lang="en-US" sz="1500" b="1" i="0" kern="1200" err="1">
              <a:solidFill>
                <a:srgbClr val="000000"/>
              </a:solidFill>
              <a:latin typeface="Noto Sans"/>
              <a:ea typeface="Noto Sans"/>
              <a:cs typeface="Noto Sans"/>
            </a:endParaRPr>
          </a:p>
          <a:p>
            <a:pPr algn="ctr"/>
            <a:endParaRPr lang="en-US">
              <a:solidFill>
                <a:srgbClr val="000000"/>
              </a:solidFill>
            </a:endParaRPr>
          </a:p>
        </p:txBody>
      </p:sp>
      <p:sp>
        <p:nvSpPr>
          <p:cNvPr id="9" name="TextBox 8">
            <a:extLst>
              <a:ext uri="{FF2B5EF4-FFF2-40B4-BE49-F238E27FC236}">
                <a16:creationId xmlns:a16="http://schemas.microsoft.com/office/drawing/2014/main" id="{6FEB7FB2-E695-9FC2-88B1-3CE4C82A88F8}"/>
              </a:ext>
            </a:extLst>
          </p:cNvPr>
          <p:cNvSpPr txBox="1"/>
          <p:nvPr/>
        </p:nvSpPr>
        <p:spPr>
          <a:xfrm>
            <a:off x="2864385" y="5999603"/>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1400" b="0" i="0" kern="1200">
                <a:solidFill>
                  <a:srgbClr val="000000"/>
                </a:solidFill>
                <a:latin typeface="Noto Sans"/>
                <a:ea typeface="+mn-ea"/>
                <a:cs typeface="+mn-cs"/>
              </a:rPr>
              <a:t>Hình bao thử nghiệm: 0,44 × 0,34 m · độ phân giải bản đồ chi phí: 0,05 m</a:t>
            </a:r>
          </a:p>
          <a:p>
            <a:pPr algn="ctr"/>
            <a:endParaRPr lang="en-US" sz="2800">
              <a:solidFill>
                <a:srgbClr val="000000"/>
              </a:solidFill>
            </a:endParaRPr>
          </a:p>
        </p:txBody>
      </p:sp>
      <p:pic>
        <p:nvPicPr>
          <p:cNvPr id="12" name="Picture 11">
            <a:extLst>
              <a:ext uri="{FF2B5EF4-FFF2-40B4-BE49-F238E27FC236}">
                <a16:creationId xmlns:a16="http://schemas.microsoft.com/office/drawing/2014/main" id="{E26D137C-6E97-1F20-2B53-0868E75AA940}"/>
              </a:ext>
            </a:extLst>
          </p:cNvPr>
          <p:cNvPicPr>
            <a:picLocks noChangeAspect="1"/>
          </p:cNvPicPr>
          <p:nvPr/>
        </p:nvPicPr>
        <p:blipFill>
          <a:blip r:embed="rId3"/>
          <a:stretch>
            <a:fillRect/>
          </a:stretch>
        </p:blipFill>
        <p:spPr>
          <a:xfrm>
            <a:off x="377270" y="2313886"/>
            <a:ext cx="4377484" cy="3414541"/>
          </a:xfrm>
          <a:prstGeom prst="rect">
            <a:avLst/>
          </a:prstGeom>
        </p:spPr>
      </p:pic>
    </p:spTree>
    <p:extLst>
      <p:ext uri="{BB962C8B-B14F-4D97-AF65-F5344CB8AC3E}">
        <p14:creationId xmlns:p14="http://schemas.microsoft.com/office/powerpoint/2010/main" val="2019280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8B31D-E4B9-0D6F-50BD-B10D1E28D61D}"/>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60F6E821-CC54-4FB4-025C-A3A9F86A99CF}"/>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4305810D-CFF2-9173-F0D0-560B7D246BD2}"/>
              </a:ext>
            </a:extLst>
          </p:cNvPr>
          <p:cNvSpPr txBox="1"/>
          <p:nvPr/>
        </p:nvSpPr>
        <p:spPr>
          <a:xfrm>
            <a:off x="594360" y="1232083"/>
            <a:ext cx="3926339" cy="923330"/>
          </a:xfrm>
          <a:prstGeom prst="rect">
            <a:avLst/>
          </a:prstGeom>
          <a:noFill/>
        </p:spPr>
        <p:txBody>
          <a:bodyPr wrap="square" lIns="91440" tIns="45720" rIns="91440" bIns="45720" rtlCol="0">
            <a:spAutoFit/>
          </a:bodyPr>
          <a:lstStyle/>
          <a:p>
            <a:r>
              <a:rPr lang="vi-VN">
                <a:latin typeface="Arial"/>
                <a:cs typeface="Arial"/>
              </a:rPr>
              <a:t>6. Đánh giá tính khả thi của </a:t>
            </a:r>
            <a:r>
              <a:rPr lang="vi-VN">
                <a:latin typeface="Arial"/>
                <a:ea typeface="+mn-lt"/>
                <a:cs typeface="Arial"/>
              </a:rPr>
              <a:t>phương </a:t>
            </a:r>
            <a:r>
              <a:rPr lang="vi-VN">
                <a:ea typeface="+mn-lt"/>
                <a:cs typeface="+mn-lt"/>
              </a:rPr>
              <a:t>án </a:t>
            </a:r>
            <a:r>
              <a:rPr lang="vi-VN">
                <a:latin typeface="Arial"/>
                <a:ea typeface="+mn-lt"/>
                <a:cs typeface="Arial"/>
              </a:rPr>
              <a:t>xử lý tại góc</a:t>
            </a:r>
            <a:endParaRPr lang="vi-VN">
              <a:effectLst/>
              <a:latin typeface="Arial"/>
              <a:ea typeface="+mn-lt"/>
              <a:cs typeface="Arial"/>
            </a:endParaRPr>
          </a:p>
          <a:p>
            <a:endParaRPr lang="vi-VN"/>
          </a:p>
        </p:txBody>
      </p:sp>
      <p:sp>
        <p:nvSpPr>
          <p:cNvPr id="6" name="TextBox 3">
            <a:extLst>
              <a:ext uri="{FF2B5EF4-FFF2-40B4-BE49-F238E27FC236}">
                <a16:creationId xmlns:a16="http://schemas.microsoft.com/office/drawing/2014/main" id="{4FF566C9-784D-40FD-3CD0-1CD0D414368E}"/>
              </a:ext>
            </a:extLst>
          </p:cNvPr>
          <p:cNvSpPr txBox="1"/>
          <p:nvPr/>
        </p:nvSpPr>
        <p:spPr>
          <a:xfrm>
            <a:off x="4634319" y="1117369"/>
            <a:ext cx="10698480" cy="440120"/>
          </a:xfrm>
          <a:prstGeom prst="rect">
            <a:avLst/>
          </a:prstGeom>
          <a:noFill/>
        </p:spPr>
        <p:txBody>
          <a:bodyPr wrap="square" lIns="27432" tIns="27432" rIns="27432" bIns="27432" anchor="t">
            <a:spAutoFit/>
          </a:bodyPr>
          <a:lstStyle/>
          <a:p>
            <a:pPr>
              <a:defRPr sz="2700" b="1" i="0">
                <a:solidFill>
                  <a:srgbClr val="102A43"/>
                </a:solidFill>
                <a:latin typeface="Arial"/>
              </a:defRPr>
            </a:pPr>
            <a:r>
              <a:rPr lang="en-US" sz="2500" err="1">
                <a:latin typeface="Noto Sans"/>
                <a:ea typeface="Noto Sans"/>
                <a:cs typeface="Noto Sans"/>
              </a:rPr>
              <a:t>Từ</a:t>
            </a:r>
            <a:r>
              <a:rPr lang="en-US" sz="2500">
                <a:latin typeface="Noto Sans"/>
                <a:ea typeface="Noto Sans"/>
                <a:cs typeface="Noto Sans"/>
              </a:rPr>
              <a:t> </a:t>
            </a:r>
            <a:r>
              <a:rPr lang="en-US" sz="2500" err="1">
                <a:latin typeface="Noto Sans"/>
                <a:ea typeface="Noto Sans"/>
                <a:cs typeface="Noto Sans"/>
              </a:rPr>
              <a:t>độ</a:t>
            </a:r>
            <a:r>
              <a:rPr lang="en-US" sz="2500">
                <a:latin typeface="Noto Sans"/>
                <a:ea typeface="Noto Sans"/>
                <a:cs typeface="Noto Sans"/>
              </a:rPr>
              <a:t> </a:t>
            </a:r>
            <a:r>
              <a:rPr lang="en-US" sz="2500" err="1">
                <a:latin typeface="Noto Sans"/>
                <a:ea typeface="Noto Sans"/>
                <a:cs typeface="Noto Sans"/>
              </a:rPr>
              <a:t>cong</a:t>
            </a:r>
            <a:r>
              <a:rPr lang="en-US" sz="2500">
                <a:latin typeface="Noto Sans"/>
                <a:ea typeface="Noto Sans"/>
                <a:cs typeface="Noto Sans"/>
              </a:rPr>
              <a:t> </a:t>
            </a:r>
            <a:r>
              <a:rPr lang="en-US" sz="2500" err="1">
                <a:latin typeface="Noto Sans"/>
                <a:ea typeface="Noto Sans"/>
                <a:cs typeface="Noto Sans"/>
              </a:rPr>
              <a:t>tới</a:t>
            </a:r>
            <a:r>
              <a:rPr lang="en-US" sz="2500">
                <a:latin typeface="Noto Sans"/>
                <a:ea typeface="Noto Sans"/>
                <a:cs typeface="Noto Sans"/>
              </a:rPr>
              <a:t> </a:t>
            </a:r>
            <a:r>
              <a:rPr lang="en-US" sz="2500" err="1">
                <a:latin typeface="Noto Sans"/>
                <a:ea typeface="Noto Sans"/>
                <a:cs typeface="Noto Sans"/>
              </a:rPr>
              <a:t>giới</a:t>
            </a:r>
            <a:r>
              <a:rPr lang="en-US" sz="2500">
                <a:latin typeface="Noto Sans"/>
                <a:ea typeface="Noto Sans"/>
                <a:cs typeface="Noto Sans"/>
              </a:rPr>
              <a:t> </a:t>
            </a:r>
            <a:r>
              <a:rPr lang="en-US" sz="2500" err="1">
                <a:latin typeface="Noto Sans"/>
                <a:ea typeface="Noto Sans"/>
                <a:cs typeface="Noto Sans"/>
              </a:rPr>
              <a:t>hạn</a:t>
            </a:r>
            <a:r>
              <a:rPr lang="en-US" sz="2500">
                <a:latin typeface="Noto Sans"/>
                <a:ea typeface="Noto Sans"/>
                <a:cs typeface="Noto Sans"/>
              </a:rPr>
              <a:t> </a:t>
            </a:r>
            <a:r>
              <a:rPr lang="en-US" sz="2500" err="1">
                <a:latin typeface="Noto Sans"/>
                <a:ea typeface="Noto Sans"/>
                <a:cs typeface="Noto Sans"/>
              </a:rPr>
              <a:t>vận</a:t>
            </a:r>
            <a:r>
              <a:rPr lang="en-US" sz="2500">
                <a:latin typeface="Noto Sans"/>
                <a:ea typeface="Noto Sans"/>
                <a:cs typeface="Noto Sans"/>
              </a:rPr>
              <a:t> </a:t>
            </a:r>
            <a:r>
              <a:rPr lang="en-US" sz="2500" err="1">
                <a:latin typeface="Noto Sans"/>
                <a:ea typeface="Noto Sans"/>
                <a:cs typeface="Noto Sans"/>
              </a:rPr>
              <a:t>tốc</a:t>
            </a:r>
            <a:endParaRPr lang="en-US" err="1"/>
          </a:p>
        </p:txBody>
      </p:sp>
      <p:pic>
        <p:nvPicPr>
          <p:cNvPr id="10" name="Picture 8" descr="figure_07_kinematic_time_gate.png">
            <a:extLst>
              <a:ext uri="{FF2B5EF4-FFF2-40B4-BE49-F238E27FC236}">
                <a16:creationId xmlns:a16="http://schemas.microsoft.com/office/drawing/2014/main" id="{8978B485-FD5B-F753-B027-9B417623CC03}"/>
              </a:ext>
            </a:extLst>
          </p:cNvPr>
          <p:cNvPicPr>
            <a:picLocks noChangeAspect="1"/>
          </p:cNvPicPr>
          <p:nvPr/>
        </p:nvPicPr>
        <p:blipFill>
          <a:blip r:embed="rId2"/>
          <a:stretch>
            <a:fillRect/>
          </a:stretch>
        </p:blipFill>
        <p:spPr>
          <a:xfrm>
            <a:off x="965842" y="1997816"/>
            <a:ext cx="9651956" cy="3395352"/>
          </a:xfrm>
          <a:prstGeom prst="rect">
            <a:avLst/>
          </a:prstGeom>
        </p:spPr>
      </p:pic>
      <p:sp>
        <p:nvSpPr>
          <p:cNvPr id="3" name="TextBox 2">
            <a:extLst>
              <a:ext uri="{FF2B5EF4-FFF2-40B4-BE49-F238E27FC236}">
                <a16:creationId xmlns:a16="http://schemas.microsoft.com/office/drawing/2014/main" id="{3E94EE36-C65F-B180-29F1-709502CD9150}"/>
              </a:ext>
            </a:extLst>
          </p:cNvPr>
          <p:cNvSpPr txBox="1"/>
          <p:nvPr/>
        </p:nvSpPr>
        <p:spPr>
          <a:xfrm>
            <a:off x="1063168" y="5509147"/>
            <a:ext cx="84639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Đảm</a:t>
            </a:r>
            <a:r>
              <a:rPr lang="en-US"/>
              <a:t> </a:t>
            </a:r>
            <a:r>
              <a:rPr lang="en-US" err="1"/>
              <a:t>bảo</a:t>
            </a:r>
            <a:r>
              <a:rPr lang="en-US"/>
              <a:t> </a:t>
            </a:r>
            <a:r>
              <a:rPr lang="en-US" err="1"/>
              <a:t>tính</a:t>
            </a:r>
            <a:r>
              <a:rPr lang="en-US"/>
              <a:t> an </a:t>
            </a:r>
            <a:r>
              <a:rPr lang="en-US" err="1"/>
              <a:t>toàn</a:t>
            </a:r>
            <a:r>
              <a:rPr lang="en-US"/>
              <a:t>: </a:t>
            </a:r>
            <a:r>
              <a:rPr lang="en-US" err="1"/>
              <a:t>Độ</a:t>
            </a:r>
            <a:r>
              <a:rPr lang="en-US"/>
              <a:t> </a:t>
            </a:r>
            <a:r>
              <a:rPr lang="en-US" err="1"/>
              <a:t>cong</a:t>
            </a:r>
            <a:r>
              <a:rPr lang="en-US"/>
              <a:t> </a:t>
            </a:r>
            <a:r>
              <a:rPr lang="en-US" err="1"/>
              <a:t>càng</a:t>
            </a:r>
            <a:r>
              <a:rPr lang="en-US"/>
              <a:t> </a:t>
            </a:r>
            <a:r>
              <a:rPr lang="en-US" err="1"/>
              <a:t>lớn</a:t>
            </a:r>
            <a:r>
              <a:rPr lang="en-US"/>
              <a:t> </a:t>
            </a:r>
            <a:r>
              <a:rPr lang="en-US" err="1"/>
              <a:t>thì</a:t>
            </a:r>
            <a:r>
              <a:rPr lang="en-US"/>
              <a:t> </a:t>
            </a:r>
            <a:r>
              <a:rPr lang="en-US" err="1"/>
              <a:t>vận</a:t>
            </a:r>
            <a:r>
              <a:rPr lang="en-US"/>
              <a:t> </a:t>
            </a:r>
            <a:r>
              <a:rPr lang="en-US" err="1"/>
              <a:t>tốc</a:t>
            </a:r>
            <a:r>
              <a:rPr lang="en-US"/>
              <a:t> </a:t>
            </a:r>
            <a:r>
              <a:rPr lang="en-US" err="1"/>
              <a:t>càng</a:t>
            </a:r>
            <a:r>
              <a:rPr lang="en-US"/>
              <a:t> </a:t>
            </a:r>
            <a:r>
              <a:rPr lang="en-US" err="1"/>
              <a:t>phải</a:t>
            </a:r>
            <a:r>
              <a:rPr lang="en-US"/>
              <a:t> </a:t>
            </a:r>
            <a:r>
              <a:rPr lang="en-US" err="1"/>
              <a:t>giảm</a:t>
            </a:r>
            <a:endParaRPr lang="en-US"/>
          </a:p>
        </p:txBody>
      </p:sp>
      <p:sp>
        <p:nvSpPr>
          <p:cNvPr id="4" name="TextBox 3">
            <a:extLst>
              <a:ext uri="{FF2B5EF4-FFF2-40B4-BE49-F238E27FC236}">
                <a16:creationId xmlns:a16="http://schemas.microsoft.com/office/drawing/2014/main" id="{49200E21-C69F-05C0-B52A-335045B7C402}"/>
              </a:ext>
            </a:extLst>
          </p:cNvPr>
          <p:cNvSpPr txBox="1"/>
          <p:nvPr/>
        </p:nvSpPr>
        <p:spPr>
          <a:xfrm>
            <a:off x="780361" y="5990422"/>
            <a:ext cx="5811398"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1650" b="1" i="0" kern="1200">
                <a:solidFill>
                  <a:srgbClr val="102A43"/>
                </a:solidFill>
                <a:latin typeface="Noto Sans"/>
                <a:ea typeface="+mn-ea"/>
                <a:cs typeface="+mn-cs"/>
              </a:rPr>
              <a:t>v_limit(κ)=min{ v_max,  ω_max/|κ|,  √(a_y,max/|κ|),</a:t>
            </a:r>
            <a:br>
              <a:rPr lang="en-US" sz="1800" kern="1200">
                <a:solidFill>
                  <a:schemeClr val="tx1"/>
                </a:solidFill>
                <a:latin typeface="Calibri"/>
                <a:ea typeface="+mn-ea"/>
                <a:cs typeface="+mn-cs"/>
              </a:rPr>
            </a:br>
            <a:r>
              <a:rPr lang="en-US" sz="1650" b="1" i="0" kern="1200">
                <a:solidFill>
                  <a:srgbClr val="102A43"/>
                </a:solidFill>
                <a:latin typeface="Noto Sans"/>
                <a:ea typeface="+mn-ea"/>
                <a:cs typeface="+mn-cs"/>
              </a:rPr>
              <a:t> v_w,max / max(|1−bκ/2|, |1+bκ/2|) }</a:t>
            </a:r>
          </a:p>
          <a:p>
            <a:pPr algn="ctr"/>
            <a:endParaRPr lang="en-US"/>
          </a:p>
        </p:txBody>
      </p:sp>
      <p:sp>
        <p:nvSpPr>
          <p:cNvPr id="5" name="TextBox 4">
            <a:extLst>
              <a:ext uri="{FF2B5EF4-FFF2-40B4-BE49-F238E27FC236}">
                <a16:creationId xmlns:a16="http://schemas.microsoft.com/office/drawing/2014/main" id="{629F3D0A-E0DA-5440-1EBC-D9ED315A97B3}"/>
              </a:ext>
            </a:extLst>
          </p:cNvPr>
          <p:cNvSpPr txBox="1"/>
          <p:nvPr/>
        </p:nvSpPr>
        <p:spPr>
          <a:xfrm>
            <a:off x="5297277" y="5990422"/>
            <a:ext cx="6096000"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1650" b="1" i="0" kern="1200">
                <a:solidFill>
                  <a:srgbClr val="102A43"/>
                </a:solidFill>
                <a:latin typeface="Noto Sans"/>
                <a:ea typeface="+mn-ea"/>
                <a:cs typeface="+mn-cs"/>
              </a:rPr>
              <a:t>Quét tiến:  vᵢ ≤ √(vᵢ₋₁² + 2a_accΔs)</a:t>
            </a:r>
            <a:br>
              <a:rPr lang="en-US" sz="1800" kern="1200">
                <a:solidFill>
                  <a:schemeClr val="tx1"/>
                </a:solidFill>
                <a:latin typeface="Calibri"/>
                <a:ea typeface="+mn-ea"/>
                <a:cs typeface="+mn-cs"/>
              </a:rPr>
            </a:br>
            <a:r>
              <a:rPr lang="en-US" sz="1650" b="1" i="0" kern="1200">
                <a:solidFill>
                  <a:srgbClr val="102A43"/>
                </a:solidFill>
                <a:latin typeface="Noto Sans"/>
                <a:ea typeface="+mn-ea"/>
                <a:cs typeface="+mn-cs"/>
              </a:rPr>
              <a:t>Quét lùi:   vᵢ₋₁ ≤ √(vᵢ² + 2a_decΔs)</a:t>
            </a:r>
          </a:p>
          <a:p>
            <a:pPr algn="ctr"/>
            <a:endParaRPr lang="en-US"/>
          </a:p>
        </p:txBody>
      </p:sp>
    </p:spTree>
    <p:extLst>
      <p:ext uri="{BB962C8B-B14F-4D97-AF65-F5344CB8AC3E}">
        <p14:creationId xmlns:p14="http://schemas.microsoft.com/office/powerpoint/2010/main" val="3975056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58279-3A42-9321-6DEB-CE35262093D9}"/>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E2E72AA1-2857-CA24-4727-0864FCA6EADF}"/>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08B92741-62D3-89CE-5D1C-0BF3455AAE37}"/>
              </a:ext>
            </a:extLst>
          </p:cNvPr>
          <p:cNvSpPr txBox="1"/>
          <p:nvPr/>
        </p:nvSpPr>
        <p:spPr>
          <a:xfrm>
            <a:off x="484191" y="1085191"/>
            <a:ext cx="5826747" cy="646331"/>
          </a:xfrm>
          <a:prstGeom prst="rect">
            <a:avLst/>
          </a:prstGeom>
          <a:noFill/>
        </p:spPr>
        <p:txBody>
          <a:bodyPr wrap="square" lIns="91440" tIns="45720" rIns="91440" bIns="45720" rtlCol="0">
            <a:spAutoFit/>
          </a:bodyPr>
          <a:lstStyle/>
          <a:p>
            <a:r>
              <a:rPr lang="vi-VN">
                <a:latin typeface="Arial"/>
                <a:cs typeface="Arial"/>
              </a:rPr>
              <a:t>6. Đánh giá tính khả thi của </a:t>
            </a:r>
            <a:r>
              <a:rPr lang="vi-VN">
                <a:latin typeface="Arial"/>
                <a:ea typeface="+mn-lt"/>
                <a:cs typeface="Arial"/>
              </a:rPr>
              <a:t>phương </a:t>
            </a:r>
            <a:r>
              <a:rPr lang="vi-VN">
                <a:ea typeface="+mn-lt"/>
                <a:cs typeface="+mn-lt"/>
              </a:rPr>
              <a:t>án </a:t>
            </a:r>
            <a:r>
              <a:rPr lang="vi-VN">
                <a:latin typeface="Arial"/>
                <a:ea typeface="+mn-lt"/>
                <a:cs typeface="Arial"/>
              </a:rPr>
              <a:t>xử lý tại góc</a:t>
            </a:r>
            <a:endParaRPr lang="vi-VN">
              <a:effectLst/>
              <a:latin typeface="Arial"/>
              <a:ea typeface="+mn-lt"/>
              <a:cs typeface="Arial"/>
            </a:endParaRPr>
          </a:p>
          <a:p>
            <a:endParaRPr lang="vi-VN"/>
          </a:p>
        </p:txBody>
      </p:sp>
      <p:sp>
        <p:nvSpPr>
          <p:cNvPr id="4" name="TextBox 3">
            <a:extLst>
              <a:ext uri="{FF2B5EF4-FFF2-40B4-BE49-F238E27FC236}">
                <a16:creationId xmlns:a16="http://schemas.microsoft.com/office/drawing/2014/main" id="{4CF29FFF-C3C8-8B58-328F-85438C1B4AE8}"/>
              </a:ext>
            </a:extLst>
          </p:cNvPr>
          <p:cNvSpPr txBox="1"/>
          <p:nvPr/>
        </p:nvSpPr>
        <p:spPr>
          <a:xfrm>
            <a:off x="566928" y="1633759"/>
            <a:ext cx="10698480" cy="1625060"/>
          </a:xfrm>
          <a:prstGeom prst="rect">
            <a:avLst/>
          </a:prstGeom>
          <a:noFill/>
        </p:spPr>
        <p:txBody>
          <a:bodyPr wrap="square" lIns="27432" tIns="27432" rIns="27432" bIns="27432" anchor="t">
            <a:spAutoFit/>
          </a:bodyPr>
          <a:lstStyle/>
          <a:p>
            <a:pPr>
              <a:defRPr sz="2700" b="1" i="0">
                <a:solidFill>
                  <a:srgbClr val="102A43"/>
                </a:solidFill>
                <a:latin typeface="Arial"/>
              </a:defRPr>
            </a:pPr>
            <a:r>
              <a:rPr lang="en-US" sz="2500">
                <a:latin typeface="Noto Sans"/>
                <a:ea typeface="Noto Sans"/>
                <a:cs typeface="Noto Sans"/>
              </a:rPr>
              <a:t>So </a:t>
            </a:r>
            <a:r>
              <a:rPr lang="en-US" sz="2500" err="1">
                <a:latin typeface="Noto Sans"/>
                <a:ea typeface="Noto Sans"/>
                <a:cs typeface="Noto Sans"/>
              </a:rPr>
              <a:t>sánh</a:t>
            </a:r>
            <a:r>
              <a:rPr lang="en-US" sz="2500">
                <a:latin typeface="Noto Sans"/>
                <a:ea typeface="Noto Sans"/>
                <a:cs typeface="Noto Sans"/>
              </a:rPr>
              <a:t> </a:t>
            </a:r>
            <a:r>
              <a:rPr lang="en-US" sz="2500" err="1">
                <a:latin typeface="Noto Sans"/>
                <a:ea typeface="Noto Sans"/>
                <a:cs typeface="Noto Sans"/>
              </a:rPr>
              <a:t>đoạn</a:t>
            </a:r>
            <a:r>
              <a:rPr lang="en-US" sz="2500">
                <a:latin typeface="Noto Sans"/>
                <a:ea typeface="Noto Sans"/>
                <a:cs typeface="Noto Sans"/>
              </a:rPr>
              <a:t> </a:t>
            </a:r>
            <a:r>
              <a:rPr lang="en-US" sz="2500" err="1">
                <a:latin typeface="Noto Sans"/>
                <a:ea typeface="Noto Sans"/>
                <a:cs typeface="Noto Sans"/>
              </a:rPr>
              <a:t>chuyển</a:t>
            </a:r>
            <a:r>
              <a:rPr lang="en-US" sz="2500">
                <a:latin typeface="Noto Sans"/>
                <a:ea typeface="Noto Sans"/>
                <a:cs typeface="Noto Sans"/>
              </a:rPr>
              <a:t> </a:t>
            </a:r>
            <a:r>
              <a:rPr lang="en-US" sz="2500" err="1">
                <a:latin typeface="Noto Sans"/>
                <a:ea typeface="Noto Sans"/>
                <a:cs typeface="Noto Sans"/>
              </a:rPr>
              <a:t>tiếp</a:t>
            </a:r>
            <a:r>
              <a:rPr lang="en-US" sz="2500">
                <a:latin typeface="Noto Sans"/>
                <a:ea typeface="Noto Sans"/>
                <a:cs typeface="Noto Sans"/>
              </a:rPr>
              <a:t> </a:t>
            </a:r>
            <a:r>
              <a:rPr lang="en-US" sz="2500" err="1">
                <a:latin typeface="Noto Sans"/>
                <a:ea typeface="Noto Sans"/>
                <a:cs typeface="Noto Sans"/>
              </a:rPr>
              <a:t>với</a:t>
            </a:r>
            <a:r>
              <a:rPr lang="en-US" sz="2500">
                <a:latin typeface="Noto Sans"/>
                <a:ea typeface="Noto Sans"/>
                <a:cs typeface="Noto Sans"/>
              </a:rPr>
              <a:t> quay </a:t>
            </a:r>
            <a:r>
              <a:rPr lang="en-US" sz="2500" err="1">
                <a:latin typeface="Noto Sans"/>
                <a:ea typeface="Noto Sans"/>
                <a:cs typeface="Noto Sans"/>
              </a:rPr>
              <a:t>tại</a:t>
            </a:r>
            <a:r>
              <a:rPr lang="en-US" sz="2500">
                <a:latin typeface="Noto Sans"/>
                <a:ea typeface="Noto Sans"/>
                <a:cs typeface="Noto Sans"/>
              </a:rPr>
              <a:t> </a:t>
            </a:r>
            <a:r>
              <a:rPr lang="en-US" sz="2500" err="1">
                <a:latin typeface="Noto Sans"/>
                <a:ea typeface="Noto Sans"/>
                <a:cs typeface="Noto Sans"/>
              </a:rPr>
              <a:t>chỗ</a:t>
            </a:r>
            <a:r>
              <a:rPr lang="en-US" sz="2500">
                <a:latin typeface="Noto Sans"/>
                <a:ea typeface="Noto Sans"/>
                <a:cs typeface="Noto Sans"/>
              </a:rPr>
              <a:t> </a:t>
            </a:r>
            <a:r>
              <a:rPr lang="en-US" sz="2500" err="1">
                <a:latin typeface="Noto Sans"/>
                <a:ea typeface="Noto Sans"/>
                <a:cs typeface="Noto Sans"/>
              </a:rPr>
              <a:t>với</a:t>
            </a:r>
            <a:r>
              <a:rPr lang="en-US" sz="2500">
                <a:latin typeface="Noto Sans"/>
                <a:ea typeface="Noto Sans"/>
                <a:cs typeface="Noto Sans"/>
              </a:rPr>
              <a:t> </a:t>
            </a:r>
            <a:r>
              <a:rPr lang="en-US" sz="2500" err="1">
                <a:latin typeface="Noto Sans"/>
                <a:ea typeface="Noto Sans"/>
                <a:cs typeface="Noto Sans"/>
              </a:rPr>
              <a:t>đ</a:t>
            </a:r>
            <a:r>
              <a:rPr lang="en-US" sz="2500" err="1">
                <a:ea typeface="+mn-lt"/>
                <a:cs typeface="+mn-lt"/>
              </a:rPr>
              <a:t>iều</a:t>
            </a:r>
            <a:r>
              <a:rPr lang="en-US" sz="2500">
                <a:ea typeface="+mn-lt"/>
                <a:cs typeface="+mn-lt"/>
              </a:rPr>
              <a:t> </a:t>
            </a:r>
            <a:r>
              <a:rPr lang="en-US" sz="2500" err="1">
                <a:ea typeface="+mn-lt"/>
                <a:cs typeface="+mn-lt"/>
              </a:rPr>
              <a:t>kiện</a:t>
            </a:r>
            <a:r>
              <a:rPr lang="en-US" sz="2500">
                <a:ea typeface="+mn-lt"/>
                <a:cs typeface="+mn-lt"/>
              </a:rPr>
              <a:t> </a:t>
            </a:r>
            <a:r>
              <a:rPr lang="en-US" sz="2500" err="1">
                <a:ea typeface="+mn-lt"/>
                <a:cs typeface="+mn-lt"/>
              </a:rPr>
              <a:t>ưu</a:t>
            </a:r>
            <a:r>
              <a:rPr lang="en-US" sz="2500">
                <a:ea typeface="+mn-lt"/>
                <a:cs typeface="+mn-lt"/>
              </a:rPr>
              <a:t> </a:t>
            </a:r>
            <a:r>
              <a:rPr lang="en-US" sz="2500" err="1">
                <a:ea typeface="+mn-lt"/>
                <a:cs typeface="+mn-lt"/>
              </a:rPr>
              <a:t>thế</a:t>
            </a:r>
            <a:r>
              <a:rPr lang="en-US" sz="2500">
                <a:ea typeface="+mn-lt"/>
                <a:cs typeface="+mn-lt"/>
              </a:rPr>
              <a:t> </a:t>
            </a:r>
            <a:r>
              <a:rPr lang="en-US" sz="2500" err="1">
                <a:ea typeface="+mn-lt"/>
                <a:cs typeface="+mn-lt"/>
              </a:rPr>
              <a:t>thời</a:t>
            </a:r>
            <a:r>
              <a:rPr lang="en-US" sz="2500">
                <a:ea typeface="+mn-lt"/>
                <a:cs typeface="+mn-lt"/>
              </a:rPr>
              <a:t> </a:t>
            </a:r>
            <a:r>
              <a:rPr lang="en-US" sz="2500" err="1">
                <a:ea typeface="+mn-lt"/>
                <a:cs typeface="+mn-lt"/>
              </a:rPr>
              <a:t>gian</a:t>
            </a:r>
            <a:r>
              <a:rPr lang="en-US" sz="2500">
                <a:ea typeface="+mn-lt"/>
                <a:cs typeface="+mn-lt"/>
              </a:rPr>
              <a:t> (time gate)</a:t>
            </a:r>
            <a:endParaRPr lang="en-US" sz="2700">
              <a:latin typeface="Arial"/>
              <a:ea typeface="Noto Sans"/>
              <a:cs typeface="Arial"/>
            </a:endParaRPr>
          </a:p>
          <a:p>
            <a:pPr>
              <a:defRPr sz="2700" b="1" i="0">
                <a:solidFill>
                  <a:srgbClr val="102A43"/>
                </a:solidFill>
                <a:latin typeface="Arial"/>
              </a:defRPr>
            </a:pPr>
            <a:endParaRPr lang="en-US" sz="2500">
              <a:latin typeface="Noto Sans"/>
              <a:ea typeface="Noto Sans"/>
              <a:cs typeface="Noto Sans"/>
            </a:endParaRPr>
          </a:p>
          <a:p>
            <a:pPr algn="l">
              <a:spcBef>
                <a:spcPts val="0"/>
              </a:spcBef>
              <a:spcAft>
                <a:spcPts val="0"/>
              </a:spcAft>
              <a:defRPr sz="2700" b="1" i="0">
                <a:solidFill>
                  <a:srgbClr val="102A43"/>
                </a:solidFill>
                <a:latin typeface="Arial"/>
              </a:defRPr>
            </a:pPr>
            <a:endParaRPr>
              <a:cs typeface="Arial"/>
            </a:endParaRPr>
          </a:p>
        </p:txBody>
      </p:sp>
      <p:pic>
        <p:nvPicPr>
          <p:cNvPr id="8" name="Picture 8" descr="image33.png">
            <a:extLst>
              <a:ext uri="{FF2B5EF4-FFF2-40B4-BE49-F238E27FC236}">
                <a16:creationId xmlns:a16="http://schemas.microsoft.com/office/drawing/2014/main" id="{809E01FE-6557-E7F0-E71D-954B4F47F9A8}"/>
              </a:ext>
            </a:extLst>
          </p:cNvPr>
          <p:cNvPicPr>
            <a:picLocks noChangeAspect="1"/>
          </p:cNvPicPr>
          <p:nvPr/>
        </p:nvPicPr>
        <p:blipFill>
          <a:blip r:embed="rId2"/>
          <a:stretch>
            <a:fillRect/>
          </a:stretch>
        </p:blipFill>
        <p:spPr>
          <a:xfrm>
            <a:off x="65420" y="2609597"/>
            <a:ext cx="6381100" cy="2614644"/>
          </a:xfrm>
          <a:prstGeom prst="rect">
            <a:avLst/>
          </a:prstGeom>
        </p:spPr>
      </p:pic>
      <p:pic>
        <p:nvPicPr>
          <p:cNvPr id="11" name="Picture 12" descr="image34.png">
            <a:extLst>
              <a:ext uri="{FF2B5EF4-FFF2-40B4-BE49-F238E27FC236}">
                <a16:creationId xmlns:a16="http://schemas.microsoft.com/office/drawing/2014/main" id="{17232223-16AE-21A9-7802-B341252A7E39}"/>
              </a:ext>
            </a:extLst>
          </p:cNvPr>
          <p:cNvPicPr>
            <a:picLocks noChangeAspect="1"/>
          </p:cNvPicPr>
          <p:nvPr/>
        </p:nvPicPr>
        <p:blipFill>
          <a:blip r:embed="rId3"/>
          <a:stretch>
            <a:fillRect/>
          </a:stretch>
        </p:blipFill>
        <p:spPr>
          <a:xfrm>
            <a:off x="6446520" y="2459736"/>
            <a:ext cx="5546259" cy="2840767"/>
          </a:xfrm>
          <a:prstGeom prst="rect">
            <a:avLst/>
          </a:prstGeom>
        </p:spPr>
      </p:pic>
      <p:sp>
        <p:nvSpPr>
          <p:cNvPr id="3" name="TextBox 2">
            <a:extLst>
              <a:ext uri="{FF2B5EF4-FFF2-40B4-BE49-F238E27FC236}">
                <a16:creationId xmlns:a16="http://schemas.microsoft.com/office/drawing/2014/main" id="{CE3EE432-907D-88A4-6FE8-60A79298ACD3}"/>
              </a:ext>
            </a:extLst>
          </p:cNvPr>
          <p:cNvSpPr txBox="1"/>
          <p:nvPr/>
        </p:nvSpPr>
        <p:spPr>
          <a:xfrm>
            <a:off x="211157" y="5292687"/>
            <a:ext cx="6096000" cy="17389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b="1" i="0" kern="1200">
                <a:solidFill>
                  <a:srgbClr val="E8871E"/>
                </a:solidFill>
                <a:latin typeface="Noto Sans"/>
                <a:ea typeface="+mn-ea"/>
                <a:cs typeface="+mn-cs"/>
              </a:rPr>
              <a:t>PIVOT </a:t>
            </a:r>
            <a:r>
              <a:rPr lang="en-US" sz="1500" err="1">
                <a:solidFill>
                  <a:srgbClr val="17212B"/>
                </a:solidFill>
                <a:latin typeface="Noto Sans"/>
              </a:rPr>
              <a:t>Đi</a:t>
            </a:r>
            <a:r>
              <a:rPr lang="en-US" sz="1500">
                <a:solidFill>
                  <a:srgbClr val="17212B"/>
                </a:solidFill>
                <a:latin typeface="Noto Sans"/>
              </a:rPr>
              <a:t> </a:t>
            </a:r>
            <a:r>
              <a:rPr lang="en-US" sz="1500" err="1">
                <a:solidFill>
                  <a:srgbClr val="17212B"/>
                </a:solidFill>
                <a:latin typeface="Noto Sans"/>
              </a:rPr>
              <a:t>tới</a:t>
            </a:r>
            <a:r>
              <a:rPr lang="en-US" sz="1500">
                <a:solidFill>
                  <a:srgbClr val="17212B"/>
                </a:solidFill>
                <a:latin typeface="Noto Sans"/>
              </a:rPr>
              <a:t> </a:t>
            </a:r>
            <a:r>
              <a:rPr lang="en-US" sz="1500" err="1">
                <a:solidFill>
                  <a:srgbClr val="17212B"/>
                </a:solidFill>
                <a:latin typeface="Noto Sans"/>
              </a:rPr>
              <a:t>đỉnh</a:t>
            </a:r>
            <a:r>
              <a:rPr lang="en-US" sz="1500">
                <a:solidFill>
                  <a:srgbClr val="17212B"/>
                </a:solidFill>
                <a:latin typeface="Noto Sans"/>
              </a:rPr>
              <a:t> → </a:t>
            </a:r>
            <a:r>
              <a:rPr lang="en-US" sz="1500" err="1">
                <a:solidFill>
                  <a:srgbClr val="17212B"/>
                </a:solidFill>
                <a:latin typeface="Noto Sans"/>
              </a:rPr>
              <a:t>giảm</a:t>
            </a:r>
            <a:r>
              <a:rPr lang="en-US" sz="1500">
                <a:solidFill>
                  <a:srgbClr val="17212B"/>
                </a:solidFill>
                <a:latin typeface="Noto Sans"/>
              </a:rPr>
              <a:t> </a:t>
            </a:r>
            <a:r>
              <a:rPr lang="en-US" sz="1500" err="1">
                <a:solidFill>
                  <a:srgbClr val="17212B"/>
                </a:solidFill>
                <a:latin typeface="Noto Sans"/>
              </a:rPr>
              <a:t>về</a:t>
            </a:r>
            <a:r>
              <a:rPr lang="en-US" sz="1500">
                <a:solidFill>
                  <a:srgbClr val="17212B"/>
                </a:solidFill>
                <a:latin typeface="Noto Sans"/>
              </a:rPr>
              <a:t> 0 → quay → </a:t>
            </a:r>
            <a:r>
              <a:rPr lang="en-US" sz="1500" err="1">
                <a:solidFill>
                  <a:srgbClr val="17212B"/>
                </a:solidFill>
                <a:latin typeface="Noto Sans"/>
              </a:rPr>
              <a:t>tăng</a:t>
            </a:r>
            <a:r>
              <a:rPr lang="en-US" sz="1500">
                <a:solidFill>
                  <a:srgbClr val="17212B"/>
                </a:solidFill>
                <a:latin typeface="Noto Sans"/>
              </a:rPr>
              <a:t> </a:t>
            </a:r>
            <a:r>
              <a:rPr lang="en-US" sz="1500" err="1">
                <a:solidFill>
                  <a:srgbClr val="17212B"/>
                </a:solidFill>
                <a:latin typeface="Noto Sans"/>
              </a:rPr>
              <a:t>tốc</a:t>
            </a:r>
            <a:r>
              <a:rPr lang="en-US" sz="1500">
                <a:solidFill>
                  <a:srgbClr val="17212B"/>
                </a:solidFill>
                <a:latin typeface="Noto Sans"/>
              </a:rPr>
              <a:t> </a:t>
            </a:r>
            <a:r>
              <a:rPr lang="en-US" sz="1500" err="1">
                <a:solidFill>
                  <a:srgbClr val="17212B"/>
                </a:solidFill>
                <a:latin typeface="Noto Sans"/>
              </a:rPr>
              <a:t>rời</a:t>
            </a:r>
            <a:r>
              <a:rPr lang="en-US" sz="1500">
                <a:solidFill>
                  <a:srgbClr val="17212B"/>
                </a:solidFill>
                <a:latin typeface="Noto Sans"/>
              </a:rPr>
              <a:t> </a:t>
            </a:r>
            <a:r>
              <a:rPr lang="en-US" sz="1500" err="1">
                <a:solidFill>
                  <a:srgbClr val="17212B"/>
                </a:solidFill>
                <a:latin typeface="Noto Sans"/>
              </a:rPr>
              <a:t>đỉnh</a:t>
            </a:r>
            <a:endParaRPr lang="en-US" err="1"/>
          </a:p>
          <a:p>
            <a:pPr algn="ctr"/>
            <a:r>
              <a:rPr lang="en-US" sz="2000" b="1" err="1">
                <a:solidFill>
                  <a:srgbClr val="17212B"/>
                </a:solidFill>
                <a:ea typeface="+mn-lt"/>
                <a:cs typeface="+mn-lt"/>
              </a:rPr>
              <a:t>T_rot</a:t>
            </a:r>
            <a:r>
              <a:rPr lang="en-US" sz="2000" b="1">
                <a:solidFill>
                  <a:srgbClr val="17212B"/>
                </a:solidFill>
                <a:ea typeface="+mn-lt"/>
                <a:cs typeface="+mn-lt"/>
              </a:rPr>
              <a:t> = 2√(|θ|/</a:t>
            </a:r>
            <a:r>
              <a:rPr lang="en-US" sz="2000" b="1" err="1">
                <a:solidFill>
                  <a:srgbClr val="17212B"/>
                </a:solidFill>
                <a:ea typeface="+mn-lt"/>
                <a:cs typeface="+mn-lt"/>
              </a:rPr>
              <a:t>a_ω</a:t>
            </a:r>
            <a:r>
              <a:rPr lang="en-US" sz="2000" b="1">
                <a:solidFill>
                  <a:srgbClr val="17212B"/>
                </a:solidFill>
                <a:ea typeface="+mn-lt"/>
                <a:cs typeface="+mn-lt"/>
              </a:rPr>
              <a:t>)  </a:t>
            </a:r>
            <a:r>
              <a:rPr lang="en-US" sz="2000" b="1" err="1">
                <a:solidFill>
                  <a:srgbClr val="17212B"/>
                </a:solidFill>
                <a:ea typeface="+mn-lt"/>
                <a:cs typeface="+mn-lt"/>
              </a:rPr>
              <a:t>nếu</a:t>
            </a:r>
            <a:r>
              <a:rPr lang="en-US" sz="2000" b="1">
                <a:solidFill>
                  <a:srgbClr val="17212B"/>
                </a:solidFill>
                <a:ea typeface="+mn-lt"/>
                <a:cs typeface="+mn-lt"/>
              </a:rPr>
              <a:t> </a:t>
            </a:r>
            <a:r>
              <a:rPr lang="en-US" sz="2000" b="1" err="1">
                <a:solidFill>
                  <a:srgbClr val="17212B"/>
                </a:solidFill>
                <a:ea typeface="+mn-lt"/>
                <a:cs typeface="+mn-lt"/>
              </a:rPr>
              <a:t>chưa</a:t>
            </a:r>
            <a:r>
              <a:rPr lang="en-US" sz="2000" b="1">
                <a:solidFill>
                  <a:srgbClr val="17212B"/>
                </a:solidFill>
                <a:ea typeface="+mn-lt"/>
                <a:cs typeface="+mn-lt"/>
              </a:rPr>
              <a:t> </a:t>
            </a:r>
            <a:r>
              <a:rPr lang="en-US" sz="2000" b="1" err="1">
                <a:solidFill>
                  <a:srgbClr val="17212B"/>
                </a:solidFill>
                <a:ea typeface="+mn-lt"/>
                <a:cs typeface="+mn-lt"/>
              </a:rPr>
              <a:t>đạt</a:t>
            </a:r>
            <a:r>
              <a:rPr lang="en-US" sz="2000" b="1">
                <a:solidFill>
                  <a:srgbClr val="17212B"/>
                </a:solidFill>
                <a:ea typeface="+mn-lt"/>
                <a:cs typeface="+mn-lt"/>
              </a:rPr>
              <a:t> </a:t>
            </a:r>
            <a:r>
              <a:rPr lang="en-US" sz="2000" b="1" err="1">
                <a:solidFill>
                  <a:srgbClr val="17212B"/>
                </a:solidFill>
                <a:ea typeface="+mn-lt"/>
                <a:cs typeface="+mn-lt"/>
              </a:rPr>
              <a:t>ω_max</a:t>
            </a:r>
            <a:endParaRPr lang="en-US" sz="2000" b="1"/>
          </a:p>
          <a:p>
            <a:pPr algn="ctr"/>
            <a:r>
              <a:rPr lang="en-US" sz="2000" b="1" err="1">
                <a:solidFill>
                  <a:srgbClr val="17212B"/>
                </a:solidFill>
                <a:ea typeface="+mn-lt"/>
                <a:cs typeface="+mn-lt"/>
              </a:rPr>
              <a:t>T_pivot</a:t>
            </a:r>
            <a:r>
              <a:rPr lang="en-US" sz="2000" b="1">
                <a:solidFill>
                  <a:srgbClr val="17212B"/>
                </a:solidFill>
                <a:ea typeface="+mn-lt"/>
                <a:cs typeface="+mn-lt"/>
              </a:rPr>
              <a:t> = </a:t>
            </a:r>
            <a:r>
              <a:rPr lang="en-US" sz="2000" b="1" err="1">
                <a:solidFill>
                  <a:srgbClr val="17212B"/>
                </a:solidFill>
                <a:ea typeface="+mn-lt"/>
                <a:cs typeface="+mn-lt"/>
              </a:rPr>
              <a:t>T_đến</a:t>
            </a:r>
            <a:r>
              <a:rPr lang="en-US" sz="2000" b="1">
                <a:solidFill>
                  <a:srgbClr val="17212B"/>
                </a:solidFill>
                <a:ea typeface="+mn-lt"/>
                <a:cs typeface="+mn-lt"/>
              </a:rPr>
              <a:t> + </a:t>
            </a:r>
            <a:r>
              <a:rPr lang="en-US" sz="2000" b="1" err="1">
                <a:solidFill>
                  <a:srgbClr val="17212B"/>
                </a:solidFill>
                <a:ea typeface="+mn-lt"/>
                <a:cs typeface="+mn-lt"/>
              </a:rPr>
              <a:t>T_rot</a:t>
            </a:r>
            <a:r>
              <a:rPr lang="en-US" sz="2000" b="1">
                <a:solidFill>
                  <a:srgbClr val="17212B"/>
                </a:solidFill>
                <a:ea typeface="+mn-lt"/>
                <a:cs typeface="+mn-lt"/>
              </a:rPr>
              <a:t> + </a:t>
            </a:r>
            <a:r>
              <a:rPr lang="en-US" sz="2000" b="1" err="1">
                <a:solidFill>
                  <a:srgbClr val="17212B"/>
                </a:solidFill>
                <a:ea typeface="+mn-lt"/>
                <a:cs typeface="+mn-lt"/>
              </a:rPr>
              <a:t>T_rời</a:t>
            </a:r>
            <a:endParaRPr lang="en-US" sz="2000" b="1"/>
          </a:p>
          <a:p>
            <a:pPr marL="0" algn="ctr"/>
            <a:endParaRPr lang="en-US" sz="1500" i="0" kern="1200">
              <a:solidFill>
                <a:srgbClr val="17212B"/>
              </a:solidFill>
              <a:latin typeface="Noto Sans"/>
              <a:ea typeface="Noto Sans"/>
              <a:cs typeface="Noto Sans"/>
            </a:endParaRPr>
          </a:p>
          <a:p>
            <a:pPr algn="ctr"/>
            <a:endParaRPr lang="en-US" sz="1700" b="1">
              <a:solidFill>
                <a:srgbClr val="E8871E"/>
              </a:solidFill>
              <a:latin typeface="Noto Sans"/>
              <a:ea typeface="Noto Sans"/>
              <a:cs typeface="Noto Sans"/>
            </a:endParaRPr>
          </a:p>
          <a:p>
            <a:pPr algn="ctr"/>
            <a:endParaRPr lang="en-US"/>
          </a:p>
        </p:txBody>
      </p:sp>
      <p:sp>
        <p:nvSpPr>
          <p:cNvPr id="5" name="TextBox 4">
            <a:extLst>
              <a:ext uri="{FF2B5EF4-FFF2-40B4-BE49-F238E27FC236}">
                <a16:creationId xmlns:a16="http://schemas.microsoft.com/office/drawing/2014/main" id="{4AA9138E-CBF6-0C37-A2A5-5EEE46765612}"/>
              </a:ext>
            </a:extLst>
          </p:cNvPr>
          <p:cNvSpPr txBox="1"/>
          <p:nvPr/>
        </p:nvSpPr>
        <p:spPr>
          <a:xfrm>
            <a:off x="6610120" y="5292687"/>
            <a:ext cx="4452650"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i="0" kern="1200">
                <a:solidFill>
                  <a:srgbClr val="0F766E"/>
                </a:solidFill>
                <a:latin typeface="Noto Sans"/>
                <a:ea typeface="+mn-ea"/>
                <a:cs typeface="+mn-cs"/>
              </a:rPr>
              <a:t>TRANSITION</a:t>
            </a:r>
            <a:r>
              <a:rPr lang="en-US" sz="1700" b="1">
                <a:solidFill>
                  <a:srgbClr val="0F766E"/>
                </a:solidFill>
                <a:latin typeface="Noto Sans"/>
              </a:rPr>
              <a:t> </a:t>
            </a:r>
            <a:endParaRPr lang="en-US" sz="2000">
              <a:ea typeface="+mn-lt"/>
              <a:cs typeface="+mn-lt"/>
            </a:endParaRPr>
          </a:p>
          <a:p>
            <a:r>
              <a:rPr lang="en-US" sz="2000" b="1" err="1">
                <a:ea typeface="+mn-lt"/>
                <a:cs typeface="+mn-lt"/>
              </a:rPr>
              <a:t>Δt</a:t>
            </a:r>
            <a:r>
              <a:rPr lang="en-US" sz="2000" b="1">
                <a:ea typeface="+mn-lt"/>
                <a:cs typeface="+mn-lt"/>
              </a:rPr>
              <a:t>ᵢ = 2Δsᵢ/(vᵢ+vᵢ₊₁)T_curve = Σᵢ </a:t>
            </a:r>
            <a:r>
              <a:rPr lang="en-US" sz="2000" b="1" err="1">
                <a:ea typeface="+mn-lt"/>
                <a:cs typeface="+mn-lt"/>
              </a:rPr>
              <a:t>Δt</a:t>
            </a:r>
            <a:r>
              <a:rPr lang="en-US" sz="2000" b="1">
                <a:ea typeface="+mn-lt"/>
                <a:cs typeface="+mn-lt"/>
              </a:rPr>
              <a:t>ᵢ</a:t>
            </a:r>
            <a:endParaRPr lang="en-US" sz="2000" b="1">
              <a:latin typeface="Aptos" panose="02110004020202020204"/>
            </a:endParaRPr>
          </a:p>
          <a:p>
            <a:r>
              <a:rPr lang="en-US" sz="2000" b="1" err="1">
                <a:ea typeface="+mn-lt"/>
                <a:cs typeface="+mn-lt"/>
              </a:rPr>
              <a:t>T_fastest</a:t>
            </a:r>
            <a:r>
              <a:rPr lang="en-US" sz="2000" b="1">
                <a:ea typeface="+mn-lt"/>
                <a:cs typeface="+mn-lt"/>
              </a:rPr>
              <a:t> + ΔT &lt; </a:t>
            </a:r>
            <a:r>
              <a:rPr lang="en-US" sz="2000" b="1" err="1">
                <a:ea typeface="+mn-lt"/>
                <a:cs typeface="+mn-lt"/>
              </a:rPr>
              <a:t>T_pivotΔT</a:t>
            </a:r>
            <a:r>
              <a:rPr lang="en-US" sz="2000" b="1">
                <a:ea typeface="+mn-lt"/>
                <a:cs typeface="+mn-lt"/>
              </a:rPr>
              <a:t> = 0,15 s</a:t>
            </a:r>
            <a:endParaRPr lang="en-US" sz="2000" b="1"/>
          </a:p>
          <a:p>
            <a:endParaRPr lang="en-US" sz="1700" b="1">
              <a:solidFill>
                <a:srgbClr val="0F766E"/>
              </a:solidFill>
              <a:latin typeface="Noto Sans"/>
              <a:ea typeface="Noto Sans"/>
              <a:cs typeface="Noto Sans"/>
            </a:endParaRPr>
          </a:p>
          <a:p>
            <a:pPr algn="ctr"/>
            <a:endParaRPr lang="en-US"/>
          </a:p>
        </p:txBody>
      </p:sp>
    </p:spTree>
    <p:extLst>
      <p:ext uri="{BB962C8B-B14F-4D97-AF65-F5344CB8AC3E}">
        <p14:creationId xmlns:p14="http://schemas.microsoft.com/office/powerpoint/2010/main" val="2647792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8370-424D-E2B9-AAA0-2409C9BAD911}"/>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E242DD86-C6D8-EABC-66FA-5FF90170B1B7}"/>
              </a:ext>
            </a:extLst>
          </p:cNvPr>
          <p:cNvSpPr txBox="1"/>
          <p:nvPr/>
        </p:nvSpPr>
        <p:spPr>
          <a:xfrm>
            <a:off x="594360" y="530352"/>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5AA7AA3A-4F21-7611-4D23-1A47A5123473}"/>
              </a:ext>
            </a:extLst>
          </p:cNvPr>
          <p:cNvSpPr txBox="1"/>
          <p:nvPr/>
        </p:nvSpPr>
        <p:spPr>
          <a:xfrm>
            <a:off x="640263" y="1232083"/>
            <a:ext cx="5808386" cy="646331"/>
          </a:xfrm>
          <a:prstGeom prst="rect">
            <a:avLst/>
          </a:prstGeom>
          <a:noFill/>
        </p:spPr>
        <p:txBody>
          <a:bodyPr wrap="square" lIns="91440" tIns="45720" rIns="91440" bIns="45720" rtlCol="0" anchor="t">
            <a:spAutoFit/>
          </a:bodyPr>
          <a:lstStyle/>
          <a:p>
            <a:r>
              <a:rPr lang="vi-VN">
                <a:latin typeface="Arial"/>
                <a:cs typeface="Arial"/>
              </a:rPr>
              <a:t>6. Đánh giá tính khả thi của </a:t>
            </a:r>
            <a:r>
              <a:rPr lang="vi-VN">
                <a:latin typeface="Arial"/>
                <a:ea typeface="+mn-lt"/>
                <a:cs typeface="Arial"/>
              </a:rPr>
              <a:t>phương </a:t>
            </a:r>
            <a:r>
              <a:rPr lang="en-US" sz="1600" err="1">
                <a:latin typeface="Noto Sans"/>
                <a:ea typeface="Noto Sans"/>
                <a:cs typeface="Noto Sans"/>
              </a:rPr>
              <a:t>án</a:t>
            </a:r>
            <a:r>
              <a:rPr lang="en-US" sz="1600">
                <a:latin typeface="Noto Sans"/>
                <a:ea typeface="Noto Sans"/>
                <a:cs typeface="Noto Sans"/>
              </a:rPr>
              <a:t> </a:t>
            </a:r>
            <a:r>
              <a:rPr lang="vi-VN">
                <a:latin typeface="Arial"/>
                <a:ea typeface="+mn-lt"/>
                <a:cs typeface="Arial"/>
              </a:rPr>
              <a:t>xử lý tại góc</a:t>
            </a:r>
            <a:endParaRPr lang="vi-VN">
              <a:effectLst/>
              <a:latin typeface="Arial"/>
              <a:ea typeface="+mn-lt"/>
              <a:cs typeface="Arial"/>
            </a:endParaRPr>
          </a:p>
          <a:p>
            <a:endParaRPr lang="vi-VN"/>
          </a:p>
        </p:txBody>
      </p:sp>
      <p:sp>
        <p:nvSpPr>
          <p:cNvPr id="5" name="TextBox 3">
            <a:extLst>
              <a:ext uri="{FF2B5EF4-FFF2-40B4-BE49-F238E27FC236}">
                <a16:creationId xmlns:a16="http://schemas.microsoft.com/office/drawing/2014/main" id="{32A6CE4D-C629-82BE-301B-6BD9D63D376D}"/>
              </a:ext>
            </a:extLst>
          </p:cNvPr>
          <p:cNvSpPr txBox="1"/>
          <p:nvPr/>
        </p:nvSpPr>
        <p:spPr>
          <a:xfrm>
            <a:off x="644104" y="1516394"/>
            <a:ext cx="10557296" cy="467854"/>
          </a:xfrm>
          <a:prstGeom prst="rect">
            <a:avLst/>
          </a:prstGeom>
          <a:noFill/>
        </p:spPr>
        <p:txBody>
          <a:bodyPr wrap="square" lIns="27432" tIns="27432" rIns="27432" bIns="27432" anchor="t">
            <a:spAutoFit/>
          </a:bodyPr>
          <a:lstStyle/>
          <a:p>
            <a:pPr>
              <a:defRPr sz="2700" b="1" i="0">
                <a:solidFill>
                  <a:srgbClr val="102A43"/>
                </a:solidFill>
                <a:latin typeface="Arial"/>
              </a:defRPr>
            </a:pPr>
            <a:r>
              <a:rPr err="1"/>
              <a:t>Hàm</a:t>
            </a:r>
            <a:r>
              <a:t> </a:t>
            </a:r>
            <a:r>
              <a:rPr err="1"/>
              <a:t>mục</a:t>
            </a:r>
            <a:r>
              <a:t> </a:t>
            </a:r>
            <a:r>
              <a:rPr err="1"/>
              <a:t>tiêu</a:t>
            </a:r>
            <a:r>
              <a:t> </a:t>
            </a:r>
            <a:r>
              <a:rPr err="1"/>
              <a:t>cục</a:t>
            </a:r>
            <a:r>
              <a:t> </a:t>
            </a:r>
            <a:r>
              <a:rPr err="1"/>
              <a:t>bộ</a:t>
            </a:r>
            <a:r>
              <a:t> </a:t>
            </a:r>
            <a:r>
              <a:rPr err="1"/>
              <a:t>xếp</a:t>
            </a:r>
            <a:r>
              <a:t> </a:t>
            </a:r>
            <a:r>
              <a:rPr err="1"/>
              <a:t>hạng</a:t>
            </a:r>
            <a:r>
              <a:t> </a:t>
            </a:r>
            <a:r>
              <a:rPr lang="en-US" err="1">
                <a:ea typeface="+mn-lt"/>
                <a:cs typeface="+mn-lt"/>
              </a:rPr>
              <a:t>phương</a:t>
            </a:r>
            <a:r>
              <a:rPr lang="en-US">
                <a:ea typeface="+mn-lt"/>
                <a:cs typeface="+mn-lt"/>
              </a:rPr>
              <a:t> </a:t>
            </a:r>
            <a:r>
              <a:rPr lang="en-US" err="1">
                <a:ea typeface="+mn-lt"/>
                <a:cs typeface="+mn-lt"/>
              </a:rPr>
              <a:t>án</a:t>
            </a:r>
            <a:r>
              <a:rPr lang="en-US">
                <a:ea typeface="+mn-lt"/>
                <a:cs typeface="+mn-lt"/>
              </a:rPr>
              <a:t> </a:t>
            </a:r>
            <a:r>
              <a:rPr lang="en-US" err="1">
                <a:ea typeface="+mn-lt"/>
                <a:cs typeface="+mn-lt"/>
              </a:rPr>
              <a:t>xử</a:t>
            </a:r>
            <a:r>
              <a:rPr lang="en-US">
                <a:ea typeface="+mn-lt"/>
                <a:cs typeface="+mn-lt"/>
              </a:rPr>
              <a:t> </a:t>
            </a:r>
            <a:r>
              <a:rPr lang="en-US" err="1">
                <a:ea typeface="+mn-lt"/>
                <a:cs typeface="+mn-lt"/>
              </a:rPr>
              <a:t>lý</a:t>
            </a:r>
            <a:r>
              <a:rPr lang="en-US">
                <a:ea typeface="+mn-lt"/>
                <a:cs typeface="+mn-lt"/>
              </a:rPr>
              <a:t> </a:t>
            </a:r>
            <a:r>
              <a:rPr lang="en-US" err="1">
                <a:ea typeface="+mn-lt"/>
                <a:cs typeface="+mn-lt"/>
              </a:rPr>
              <a:t>tại</a:t>
            </a:r>
            <a:r>
              <a:rPr lang="en-US">
                <a:ea typeface="+mn-lt"/>
                <a:cs typeface="+mn-lt"/>
              </a:rPr>
              <a:t> </a:t>
            </a:r>
            <a:r>
              <a:rPr lang="en-US" err="1">
                <a:ea typeface="+mn-lt"/>
                <a:cs typeface="+mn-lt"/>
              </a:rPr>
              <a:t>góc</a:t>
            </a:r>
            <a:endParaRPr err="1"/>
          </a:p>
        </p:txBody>
      </p:sp>
      <p:pic>
        <p:nvPicPr>
          <p:cNvPr id="9" name="Picture 8" descr="image35.png">
            <a:extLst>
              <a:ext uri="{FF2B5EF4-FFF2-40B4-BE49-F238E27FC236}">
                <a16:creationId xmlns:a16="http://schemas.microsoft.com/office/drawing/2014/main" id="{73253D1C-E4BC-D139-B2E2-8A4B6F0FABEE}"/>
              </a:ext>
            </a:extLst>
          </p:cNvPr>
          <p:cNvPicPr>
            <a:picLocks noChangeAspect="1"/>
          </p:cNvPicPr>
          <p:nvPr/>
        </p:nvPicPr>
        <p:blipFill>
          <a:blip r:embed="rId2"/>
          <a:stretch>
            <a:fillRect/>
          </a:stretch>
        </p:blipFill>
        <p:spPr>
          <a:xfrm>
            <a:off x="461000" y="2259415"/>
            <a:ext cx="7284271" cy="4015520"/>
          </a:xfrm>
          <a:prstGeom prst="rect">
            <a:avLst/>
          </a:prstGeom>
        </p:spPr>
      </p:pic>
      <p:sp>
        <p:nvSpPr>
          <p:cNvPr id="12" name="TextBox 13">
            <a:extLst>
              <a:ext uri="{FF2B5EF4-FFF2-40B4-BE49-F238E27FC236}">
                <a16:creationId xmlns:a16="http://schemas.microsoft.com/office/drawing/2014/main" id="{A80B7512-AE92-14FC-E220-B8399F3305DA}"/>
              </a:ext>
            </a:extLst>
          </p:cNvPr>
          <p:cNvSpPr txBox="1"/>
          <p:nvPr/>
        </p:nvSpPr>
        <p:spPr>
          <a:xfrm>
            <a:off x="8177657" y="4073044"/>
            <a:ext cx="902333" cy="255455"/>
          </a:xfrm>
          <a:prstGeom prst="rect">
            <a:avLst/>
          </a:prstGeom>
          <a:noFill/>
        </p:spPr>
        <p:txBody>
          <a:bodyPr wrap="square" lIns="27432" tIns="27432" rIns="27432" bIns="27432" anchor="t">
            <a:spAutoFit/>
          </a:bodyPr>
          <a:lstStyle/>
          <a:p>
            <a:pPr algn="l">
              <a:spcBef>
                <a:spcPts val="0"/>
              </a:spcBef>
              <a:spcAft>
                <a:spcPts val="0"/>
              </a:spcAft>
              <a:defRPr sz="1300" b="1" i="0">
                <a:solidFill>
                  <a:srgbClr val="C84B4B"/>
                </a:solidFill>
                <a:latin typeface="Arial"/>
              </a:defRPr>
            </a:pPr>
            <a:r>
              <a:t>risk</a:t>
            </a:r>
          </a:p>
        </p:txBody>
      </p:sp>
      <p:sp>
        <p:nvSpPr>
          <p:cNvPr id="16" name="TextBox 14">
            <a:extLst>
              <a:ext uri="{FF2B5EF4-FFF2-40B4-BE49-F238E27FC236}">
                <a16:creationId xmlns:a16="http://schemas.microsoft.com/office/drawing/2014/main" id="{E4D2DE0B-65E3-22C2-7515-3808751A9DA3}"/>
              </a:ext>
            </a:extLst>
          </p:cNvPr>
          <p:cNvSpPr txBox="1"/>
          <p:nvPr/>
        </p:nvSpPr>
        <p:spPr>
          <a:xfrm>
            <a:off x="9148880" y="4073924"/>
            <a:ext cx="1732479" cy="236988"/>
          </a:xfrm>
          <a:prstGeom prst="rect">
            <a:avLst/>
          </a:prstGeom>
          <a:noFill/>
        </p:spPr>
        <p:txBody>
          <a:bodyPr wrap="square" lIns="27432" tIns="27432" rIns="27432" bIns="27432" anchor="t">
            <a:spAutoFit/>
          </a:bodyPr>
          <a:lstStyle/>
          <a:p>
            <a:pPr algn="l">
              <a:spcBef>
                <a:spcPts val="0"/>
              </a:spcBef>
              <a:spcAft>
                <a:spcPts val="0"/>
              </a:spcAft>
              <a:defRPr sz="1180" b="0" i="0">
                <a:solidFill>
                  <a:srgbClr val="172B3A"/>
                </a:solidFill>
                <a:latin typeface="Arial"/>
              </a:defRPr>
            </a:pPr>
            <a:r>
              <a:rPr sz="1150"/>
              <a:t>peak cost </a:t>
            </a:r>
            <a:r>
              <a:rPr sz="1150" err="1"/>
              <a:t>gần</a:t>
            </a:r>
            <a:r>
              <a:rPr sz="1150"/>
              <a:t> </a:t>
            </a:r>
            <a:r>
              <a:rPr sz="1150" err="1"/>
              <a:t>vật</a:t>
            </a:r>
            <a:r>
              <a:rPr sz="1150"/>
              <a:t> </a:t>
            </a:r>
            <a:r>
              <a:rPr sz="1150" err="1"/>
              <a:t>cản</a:t>
            </a:r>
            <a:endParaRPr lang="en-US" sz="1150">
              <a:cs typeface="Arial"/>
            </a:endParaRPr>
          </a:p>
        </p:txBody>
      </p:sp>
      <p:sp>
        <p:nvSpPr>
          <p:cNvPr id="19" name="TextBox 17">
            <a:extLst>
              <a:ext uri="{FF2B5EF4-FFF2-40B4-BE49-F238E27FC236}">
                <a16:creationId xmlns:a16="http://schemas.microsoft.com/office/drawing/2014/main" id="{E74EB239-1340-126A-8045-30FEC8F9500D}"/>
              </a:ext>
            </a:extLst>
          </p:cNvPr>
          <p:cNvSpPr txBox="1"/>
          <p:nvPr/>
        </p:nvSpPr>
        <p:spPr>
          <a:xfrm>
            <a:off x="8177657" y="4786276"/>
            <a:ext cx="902333" cy="255455"/>
          </a:xfrm>
          <a:prstGeom prst="rect">
            <a:avLst/>
          </a:prstGeom>
          <a:noFill/>
        </p:spPr>
        <p:txBody>
          <a:bodyPr wrap="square" lIns="27432" tIns="27432" rIns="27432" bIns="27432" anchor="t">
            <a:spAutoFit/>
          </a:bodyPr>
          <a:lstStyle/>
          <a:p>
            <a:pPr algn="l">
              <a:spcBef>
                <a:spcPts val="0"/>
              </a:spcBef>
              <a:spcAft>
                <a:spcPts val="0"/>
              </a:spcAft>
              <a:defRPr sz="1300" b="1" i="0">
                <a:solidFill>
                  <a:srgbClr val="6E5AE6"/>
                </a:solidFill>
                <a:latin typeface="Arial"/>
              </a:defRPr>
            </a:pPr>
            <a:r>
              <a:t>angular</a:t>
            </a:r>
          </a:p>
        </p:txBody>
      </p:sp>
      <p:sp>
        <p:nvSpPr>
          <p:cNvPr id="21" name="TextBox 18">
            <a:extLst>
              <a:ext uri="{FF2B5EF4-FFF2-40B4-BE49-F238E27FC236}">
                <a16:creationId xmlns:a16="http://schemas.microsoft.com/office/drawing/2014/main" id="{71DECEB7-1F9A-B296-2A8A-BE478499DBC3}"/>
              </a:ext>
            </a:extLst>
          </p:cNvPr>
          <p:cNvSpPr txBox="1"/>
          <p:nvPr/>
        </p:nvSpPr>
        <p:spPr>
          <a:xfrm>
            <a:off x="9148880" y="4787156"/>
            <a:ext cx="1732479" cy="236988"/>
          </a:xfrm>
          <a:prstGeom prst="rect">
            <a:avLst/>
          </a:prstGeom>
          <a:noFill/>
        </p:spPr>
        <p:txBody>
          <a:bodyPr wrap="square" lIns="27432" tIns="27432" rIns="27432" bIns="27432" anchor="t">
            <a:spAutoFit/>
          </a:bodyPr>
          <a:lstStyle/>
          <a:p>
            <a:pPr algn="l">
              <a:spcBef>
                <a:spcPts val="0"/>
              </a:spcBef>
              <a:spcAft>
                <a:spcPts val="0"/>
              </a:spcAft>
              <a:defRPr sz="1180" b="0" i="0">
                <a:solidFill>
                  <a:srgbClr val="172B3A"/>
                </a:solidFill>
                <a:latin typeface="Arial"/>
              </a:defRPr>
            </a:pPr>
            <a:r>
              <a:t>max</a:t>
            </a:r>
            <a:r>
              <a:rPr baseline="-25000"/>
              <a:t> |ω|</a:t>
            </a:r>
            <a:r>
              <a:t> / </a:t>
            </a:r>
            <a:r>
              <a:rPr err="1"/>
              <a:t>ω</a:t>
            </a:r>
            <a:r>
              <a:rPr baseline="-25000" err="1"/>
              <a:t>max</a:t>
            </a:r>
            <a:endParaRPr lang="en-US" baseline="-25000">
              <a:cs typeface="Arial"/>
            </a:endParaRPr>
          </a:p>
        </p:txBody>
      </p:sp>
      <p:sp>
        <p:nvSpPr>
          <p:cNvPr id="23" name="TextBox 21">
            <a:extLst>
              <a:ext uri="{FF2B5EF4-FFF2-40B4-BE49-F238E27FC236}">
                <a16:creationId xmlns:a16="http://schemas.microsoft.com/office/drawing/2014/main" id="{849AE991-1E11-36A9-1209-D19C8A0D8E33}"/>
              </a:ext>
            </a:extLst>
          </p:cNvPr>
          <p:cNvSpPr txBox="1"/>
          <p:nvPr/>
        </p:nvSpPr>
        <p:spPr>
          <a:xfrm>
            <a:off x="8177657" y="5499508"/>
            <a:ext cx="902333" cy="255455"/>
          </a:xfrm>
          <a:prstGeom prst="rect">
            <a:avLst/>
          </a:prstGeom>
          <a:noFill/>
        </p:spPr>
        <p:txBody>
          <a:bodyPr wrap="square" lIns="27432" tIns="27432" rIns="27432" bIns="27432" anchor="t">
            <a:spAutoFit/>
          </a:bodyPr>
          <a:lstStyle/>
          <a:p>
            <a:pPr algn="l">
              <a:spcBef>
                <a:spcPts val="0"/>
              </a:spcBef>
              <a:spcAft>
                <a:spcPts val="0"/>
              </a:spcAft>
              <a:defRPr sz="1300" b="1" i="0">
                <a:solidFill>
                  <a:srgbClr val="2E8B57"/>
                </a:solidFill>
                <a:latin typeface="Arial"/>
              </a:defRPr>
            </a:pPr>
            <a:r>
              <a:rPr err="1"/>
              <a:t>Eκ</a:t>
            </a:r>
            <a:endParaRPr/>
          </a:p>
        </p:txBody>
      </p:sp>
      <p:sp>
        <p:nvSpPr>
          <p:cNvPr id="25" name="TextBox 22">
            <a:extLst>
              <a:ext uri="{FF2B5EF4-FFF2-40B4-BE49-F238E27FC236}">
                <a16:creationId xmlns:a16="http://schemas.microsoft.com/office/drawing/2014/main" id="{73CF1389-B42B-64EC-1540-E34629D6581A}"/>
              </a:ext>
            </a:extLst>
          </p:cNvPr>
          <p:cNvSpPr txBox="1"/>
          <p:nvPr/>
        </p:nvSpPr>
        <p:spPr>
          <a:xfrm>
            <a:off x="9086127" y="5455564"/>
            <a:ext cx="1732479" cy="600164"/>
          </a:xfrm>
          <a:prstGeom prst="rect">
            <a:avLst/>
          </a:prstGeom>
          <a:noFill/>
        </p:spPr>
        <p:txBody>
          <a:bodyPr wrap="square" lIns="27432" tIns="27432" rIns="27432" bIns="27432" anchor="t">
            <a:spAutoFit/>
          </a:bodyPr>
          <a:lstStyle/>
          <a:p>
            <a:pPr algn="l">
              <a:spcBef>
                <a:spcPts val="0"/>
              </a:spcBef>
              <a:spcAft>
                <a:spcPts val="0"/>
              </a:spcAft>
              <a:defRPr sz="1180" b="0" i="0">
                <a:solidFill>
                  <a:srgbClr val="172B3A"/>
                </a:solidFill>
                <a:latin typeface="Arial"/>
              </a:defRPr>
            </a:pPr>
            <a:r>
              <a:rPr lang="vi-VN" sz="1150"/>
              <a:t>Tích phân bình phương độ cong -&gt; độ mượt hình học</a:t>
            </a:r>
            <a:endParaRPr lang="en-US" sz="1150">
              <a:cs typeface="Arial"/>
            </a:endParaRPr>
          </a:p>
        </p:txBody>
      </p:sp>
      <p:sp>
        <p:nvSpPr>
          <p:cNvPr id="3" name="TextBox 2">
            <a:extLst>
              <a:ext uri="{FF2B5EF4-FFF2-40B4-BE49-F238E27FC236}">
                <a16:creationId xmlns:a16="http://schemas.microsoft.com/office/drawing/2014/main" id="{365C3A98-AA52-DB4C-633F-31EE407E29E9}"/>
              </a:ext>
            </a:extLst>
          </p:cNvPr>
          <p:cNvSpPr txBox="1"/>
          <p:nvPr/>
        </p:nvSpPr>
        <p:spPr>
          <a:xfrm>
            <a:off x="7757710" y="3025048"/>
            <a:ext cx="3754916" cy="8156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1450" b="1" i="0" kern="1200">
                <a:solidFill>
                  <a:srgbClr val="102A43"/>
                </a:solidFill>
                <a:latin typeface="Noto Sans"/>
                <a:ea typeface="+mn-ea"/>
                <a:cs typeface="+mn-cs"/>
              </a:rPr>
              <a:t>J nhỏ hơn → phương án tại góc được ưu tiên trong quy hoạch động.</a:t>
            </a:r>
          </a:p>
          <a:p>
            <a:pPr algn="ctr"/>
            <a:endParaRPr lang="en-US"/>
          </a:p>
        </p:txBody>
      </p:sp>
      <p:sp>
        <p:nvSpPr>
          <p:cNvPr id="4" name="TextBox 3">
            <a:extLst>
              <a:ext uri="{FF2B5EF4-FFF2-40B4-BE49-F238E27FC236}">
                <a16:creationId xmlns:a16="http://schemas.microsoft.com/office/drawing/2014/main" id="{5E876288-E00A-19E1-EAB7-CC03052D5645}"/>
              </a:ext>
            </a:extLst>
          </p:cNvPr>
          <p:cNvSpPr txBox="1"/>
          <p:nvPr/>
        </p:nvSpPr>
        <p:spPr>
          <a:xfrm>
            <a:off x="8079036" y="4291988"/>
            <a:ext cx="3433591" cy="3308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50" b="1" err="1">
                <a:solidFill>
                  <a:srgbClr val="102A43"/>
                </a:solidFill>
                <a:latin typeface="Noto Sans"/>
              </a:rPr>
              <a:t>r</a:t>
            </a:r>
            <a:r>
              <a:rPr lang="en-US" sz="1550" b="1" baseline="-25000" err="1">
                <a:solidFill>
                  <a:srgbClr val="102A43"/>
                </a:solidFill>
                <a:latin typeface="Noto Sans"/>
              </a:rPr>
              <a:t>cost</a:t>
            </a:r>
            <a:r>
              <a:rPr lang="en-US" sz="1550" b="1" i="0" kern="1200">
                <a:solidFill>
                  <a:srgbClr val="102A43"/>
                </a:solidFill>
                <a:latin typeface="Noto Sans"/>
                <a:ea typeface="+mn-ea"/>
                <a:cs typeface="+mn-cs"/>
              </a:rPr>
              <a:t> = min(1, </a:t>
            </a:r>
            <a:r>
              <a:rPr lang="en-US" sz="1550" b="1" err="1">
                <a:solidFill>
                  <a:srgbClr val="102A43"/>
                </a:solidFill>
                <a:latin typeface="Noto Sans"/>
              </a:rPr>
              <a:t>peak</a:t>
            </a:r>
            <a:r>
              <a:rPr lang="en-US" sz="1550" b="1" baseline="-25000" err="1">
                <a:solidFill>
                  <a:srgbClr val="102A43"/>
                </a:solidFill>
                <a:latin typeface="Noto Sans"/>
              </a:rPr>
              <a:t>cost</a:t>
            </a:r>
            <a:r>
              <a:rPr lang="en-US" sz="1550" b="1" i="0" kern="1200">
                <a:solidFill>
                  <a:srgbClr val="102A43"/>
                </a:solidFill>
                <a:latin typeface="Noto Sans"/>
                <a:ea typeface="+mn-ea"/>
                <a:cs typeface="+mn-cs"/>
              </a:rPr>
              <a:t>/252)</a:t>
            </a:r>
            <a:endParaRPr lang="en-US" sz="1550"/>
          </a:p>
        </p:txBody>
      </p:sp>
      <p:sp>
        <p:nvSpPr>
          <p:cNvPr id="6" name="TextBox 5">
            <a:extLst>
              <a:ext uri="{FF2B5EF4-FFF2-40B4-BE49-F238E27FC236}">
                <a16:creationId xmlns:a16="http://schemas.microsoft.com/office/drawing/2014/main" id="{8179F4CF-0566-3DEE-6470-45920D40BC5B}"/>
              </a:ext>
            </a:extLst>
          </p:cNvPr>
          <p:cNvSpPr txBox="1"/>
          <p:nvPr/>
        </p:nvSpPr>
        <p:spPr>
          <a:xfrm>
            <a:off x="8097398" y="5044807"/>
            <a:ext cx="3837542" cy="3308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50" b="1" err="1">
                <a:solidFill>
                  <a:srgbClr val="102A43"/>
                </a:solidFill>
                <a:latin typeface="Noto Sans"/>
              </a:rPr>
              <a:t>r</a:t>
            </a:r>
            <a:r>
              <a:rPr lang="en-US" sz="1550" b="1" baseline="-25000" err="1">
                <a:solidFill>
                  <a:srgbClr val="102A43"/>
                </a:solidFill>
                <a:latin typeface="Noto Sans"/>
              </a:rPr>
              <a:t>ω</a:t>
            </a:r>
            <a:r>
              <a:rPr lang="en-US" sz="1550" b="1" i="0" kern="1200">
                <a:solidFill>
                  <a:srgbClr val="102A43"/>
                </a:solidFill>
                <a:latin typeface="Noto Sans"/>
                <a:ea typeface="+mn-ea"/>
                <a:cs typeface="+mn-cs"/>
              </a:rPr>
              <a:t> = min(1, |</a:t>
            </a:r>
            <a:r>
              <a:rPr lang="en-US" sz="1550" b="1" i="0" kern="1200" err="1">
                <a:solidFill>
                  <a:srgbClr val="102A43"/>
                </a:solidFill>
                <a:latin typeface="Noto Sans"/>
                <a:ea typeface="+mn-ea"/>
                <a:cs typeface="+mn-cs"/>
              </a:rPr>
              <a:t>ω</a:t>
            </a:r>
            <a:r>
              <a:rPr lang="en-US" sz="1550" b="1" err="1">
                <a:solidFill>
                  <a:srgbClr val="102A43"/>
                </a:solidFill>
                <a:latin typeface="Noto Sans"/>
              </a:rPr>
              <a:t>|</a:t>
            </a:r>
            <a:r>
              <a:rPr lang="en-US" sz="1550" b="1" i="0" kern="1200" baseline="-25000" err="1">
                <a:solidFill>
                  <a:srgbClr val="102A43"/>
                </a:solidFill>
                <a:latin typeface="Noto Sans"/>
                <a:ea typeface="+mn-ea"/>
                <a:cs typeface="+mn-cs"/>
              </a:rPr>
              <a:t>max</a:t>
            </a:r>
            <a:r>
              <a:rPr lang="en-US" sz="1550" b="1" i="0" kern="1200">
                <a:solidFill>
                  <a:srgbClr val="102A43"/>
                </a:solidFill>
                <a:latin typeface="Noto Sans"/>
                <a:ea typeface="+mn-ea"/>
                <a:cs typeface="+mn-cs"/>
              </a:rPr>
              <a:t>/</a:t>
            </a:r>
            <a:r>
              <a:rPr lang="en-US" sz="1550" b="1" err="1">
                <a:solidFill>
                  <a:srgbClr val="102A43"/>
                </a:solidFill>
                <a:latin typeface="Noto Sans"/>
              </a:rPr>
              <a:t>ω</a:t>
            </a:r>
            <a:r>
              <a:rPr lang="en-US" sz="1550" b="1" baseline="-25000" err="1">
                <a:solidFill>
                  <a:srgbClr val="102A43"/>
                </a:solidFill>
                <a:latin typeface="Noto Sans"/>
              </a:rPr>
              <a:t>max</a:t>
            </a:r>
            <a:r>
              <a:rPr lang="en-US" sz="1550" b="1" i="0" kern="1200">
                <a:solidFill>
                  <a:srgbClr val="102A43"/>
                </a:solidFill>
                <a:latin typeface="Noto Sans"/>
                <a:ea typeface="+mn-ea"/>
                <a:cs typeface="+mn-cs"/>
              </a:rPr>
              <a:t>)</a:t>
            </a:r>
            <a:endParaRPr lang="en-US" sz="1550"/>
          </a:p>
        </p:txBody>
      </p:sp>
      <p:sp>
        <p:nvSpPr>
          <p:cNvPr id="8" name="TextBox 7">
            <a:extLst>
              <a:ext uri="{FF2B5EF4-FFF2-40B4-BE49-F238E27FC236}">
                <a16:creationId xmlns:a16="http://schemas.microsoft.com/office/drawing/2014/main" id="{C09D2D77-EF79-3EFF-3862-AB5336DF3D38}"/>
              </a:ext>
            </a:extLst>
          </p:cNvPr>
          <p:cNvSpPr txBox="1"/>
          <p:nvPr/>
        </p:nvSpPr>
        <p:spPr>
          <a:xfrm>
            <a:off x="8097398" y="6052742"/>
            <a:ext cx="2501153" cy="3308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50" b="1" i="0" kern="1200" err="1">
                <a:solidFill>
                  <a:srgbClr val="102A43"/>
                </a:solidFill>
                <a:latin typeface="Noto Sans"/>
                <a:ea typeface="+mn-ea"/>
                <a:cs typeface="+mn-cs"/>
              </a:rPr>
              <a:t>e</a:t>
            </a:r>
            <a:r>
              <a:rPr lang="en-US" sz="1550" b="1" i="0" kern="1200" baseline="-25000" err="1">
                <a:solidFill>
                  <a:srgbClr val="102A43"/>
                </a:solidFill>
                <a:latin typeface="Noto Sans"/>
                <a:ea typeface="+mn-ea"/>
                <a:cs typeface="+mn-cs"/>
              </a:rPr>
              <a:t>κ</a:t>
            </a:r>
            <a:r>
              <a:rPr lang="en-US" sz="1550" b="1" i="0" kern="1200">
                <a:solidFill>
                  <a:srgbClr val="102A43"/>
                </a:solidFill>
                <a:latin typeface="Noto Sans"/>
                <a:ea typeface="+mn-ea"/>
                <a:cs typeface="+mn-cs"/>
              </a:rPr>
              <a:t> = (</a:t>
            </a:r>
            <a:r>
              <a:rPr lang="en-US" sz="1550" b="1" i="0" kern="1200" err="1">
                <a:solidFill>
                  <a:srgbClr val="102A43"/>
                </a:solidFill>
                <a:latin typeface="Noto Sans"/>
                <a:ea typeface="+mn-ea"/>
                <a:cs typeface="+mn-cs"/>
              </a:rPr>
              <a:t>E</a:t>
            </a:r>
            <a:r>
              <a:rPr lang="en-US" sz="1550" b="1" i="0" kern="1200" baseline="-25000" err="1">
                <a:solidFill>
                  <a:srgbClr val="102A43"/>
                </a:solidFill>
                <a:latin typeface="Noto Sans"/>
                <a:ea typeface="+mn-ea"/>
                <a:cs typeface="+mn-cs"/>
              </a:rPr>
              <a:t>κ</a:t>
            </a:r>
            <a:r>
              <a:rPr lang="en-US" sz="1550" b="1" i="0" kern="1200">
                <a:solidFill>
                  <a:srgbClr val="102A43"/>
                </a:solidFill>
                <a:latin typeface="Noto Sans"/>
                <a:ea typeface="+mn-ea"/>
                <a:cs typeface="+mn-cs"/>
              </a:rPr>
              <a:t>/</a:t>
            </a:r>
            <a:r>
              <a:rPr lang="en-US" sz="1550" b="1" err="1">
                <a:solidFill>
                  <a:srgbClr val="102A43"/>
                </a:solidFill>
                <a:latin typeface="Noto Sans"/>
              </a:rPr>
              <a:t>E</a:t>
            </a:r>
            <a:r>
              <a:rPr lang="en-US" sz="1550" b="1" baseline="-25000" err="1">
                <a:solidFill>
                  <a:srgbClr val="102A43"/>
                </a:solidFill>
                <a:latin typeface="Noto Sans"/>
              </a:rPr>
              <a:t>ref</a:t>
            </a:r>
            <a:r>
              <a:rPr lang="en-US" sz="1550" b="1" i="0" kern="1200">
                <a:solidFill>
                  <a:srgbClr val="102A43"/>
                </a:solidFill>
                <a:latin typeface="Noto Sans"/>
                <a:ea typeface="+mn-ea"/>
                <a:cs typeface="+mn-cs"/>
              </a:rPr>
              <a:t>)/(</a:t>
            </a:r>
            <a:r>
              <a:rPr lang="en-US" sz="1550" b="1" i="0" kern="1200" err="1">
                <a:solidFill>
                  <a:srgbClr val="102A43"/>
                </a:solidFill>
                <a:latin typeface="Noto Sans"/>
                <a:ea typeface="+mn-ea"/>
                <a:cs typeface="+mn-cs"/>
              </a:rPr>
              <a:t>E</a:t>
            </a:r>
            <a:r>
              <a:rPr lang="en-US" sz="1550" b="1" i="0" kern="1200" baseline="-25000" err="1">
                <a:solidFill>
                  <a:srgbClr val="102A43"/>
                </a:solidFill>
                <a:latin typeface="Noto Sans"/>
                <a:ea typeface="+mn-ea"/>
                <a:cs typeface="+mn-cs"/>
              </a:rPr>
              <a:t>κ</a:t>
            </a:r>
            <a:r>
              <a:rPr lang="en-US" sz="1550" b="1" i="0" kern="1200">
                <a:solidFill>
                  <a:srgbClr val="102A43"/>
                </a:solidFill>
                <a:latin typeface="Noto Sans"/>
                <a:ea typeface="+mn-ea"/>
                <a:cs typeface="+mn-cs"/>
              </a:rPr>
              <a:t>/</a:t>
            </a:r>
            <a:r>
              <a:rPr lang="en-US" sz="1550" b="1">
                <a:solidFill>
                  <a:srgbClr val="102A43"/>
                </a:solidFill>
                <a:latin typeface="Noto Sans"/>
              </a:rPr>
              <a:t>E</a:t>
            </a:r>
            <a:r>
              <a:rPr lang="en-US" sz="1550" b="1" baseline="-25000">
                <a:solidFill>
                  <a:srgbClr val="102A43"/>
                </a:solidFill>
                <a:latin typeface="Noto Sans"/>
              </a:rPr>
              <a:t>ref</a:t>
            </a:r>
            <a:r>
              <a:rPr lang="en-US" sz="1550" b="1" i="0" kern="1200">
                <a:solidFill>
                  <a:srgbClr val="102A43"/>
                </a:solidFill>
                <a:latin typeface="Noto Sans"/>
                <a:ea typeface="+mn-ea"/>
                <a:cs typeface="+mn-cs"/>
              </a:rPr>
              <a:t>+1)</a:t>
            </a:r>
            <a:endParaRPr lang="en-US" sz="1550"/>
          </a:p>
        </p:txBody>
      </p:sp>
      <p:sp>
        <p:nvSpPr>
          <p:cNvPr id="10" name="TextBox 9">
            <a:extLst>
              <a:ext uri="{FF2B5EF4-FFF2-40B4-BE49-F238E27FC236}">
                <a16:creationId xmlns:a16="http://schemas.microsoft.com/office/drawing/2014/main" id="{8057AD45-CDB2-F44D-BF3B-7B0FAE0624BE}"/>
              </a:ext>
            </a:extLst>
          </p:cNvPr>
          <p:cNvSpPr txBox="1"/>
          <p:nvPr/>
        </p:nvSpPr>
        <p:spPr>
          <a:xfrm>
            <a:off x="8081412" y="6385625"/>
            <a:ext cx="1304528" cy="3308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50" b="1" err="1">
                <a:solidFill>
                  <a:srgbClr val="102A43"/>
                </a:solidFill>
                <a:latin typeface="Noto Sans"/>
              </a:rPr>
              <a:t>E</a:t>
            </a:r>
            <a:r>
              <a:rPr lang="en-US" sz="1550" b="1" baseline="-25000" err="1">
                <a:solidFill>
                  <a:srgbClr val="102A43"/>
                </a:solidFill>
                <a:latin typeface="Noto Sans"/>
              </a:rPr>
              <a:t>ref</a:t>
            </a:r>
            <a:r>
              <a:rPr lang="en-US" sz="1550" b="1" i="0" kern="1200">
                <a:solidFill>
                  <a:srgbClr val="102A43"/>
                </a:solidFill>
                <a:latin typeface="Noto Sans"/>
                <a:ea typeface="+mn-ea"/>
                <a:cs typeface="+mn-cs"/>
              </a:rPr>
              <a:t> = 1 m⁻¹</a:t>
            </a:r>
            <a:endParaRPr lang="en-US" sz="1550"/>
          </a:p>
        </p:txBody>
      </p:sp>
    </p:spTree>
    <p:extLst>
      <p:ext uri="{BB962C8B-B14F-4D97-AF65-F5344CB8AC3E}">
        <p14:creationId xmlns:p14="http://schemas.microsoft.com/office/powerpoint/2010/main" val="4203779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F74B-D25E-3D94-F9F0-0A0DA6D1D387}"/>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948FF9D6-2762-489A-CF99-9D6AC1B933D1}"/>
              </a:ext>
            </a:extLst>
          </p:cNvPr>
          <p:cNvSpPr txBox="1"/>
          <p:nvPr/>
        </p:nvSpPr>
        <p:spPr>
          <a:xfrm>
            <a:off x="531730" y="352900"/>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EFD044A1-8639-08E2-4DD2-92A106360C8B}"/>
              </a:ext>
            </a:extLst>
          </p:cNvPr>
          <p:cNvSpPr txBox="1"/>
          <p:nvPr/>
        </p:nvSpPr>
        <p:spPr>
          <a:xfrm>
            <a:off x="531730" y="824987"/>
            <a:ext cx="7524301" cy="369332"/>
          </a:xfrm>
          <a:prstGeom prst="rect">
            <a:avLst/>
          </a:prstGeom>
          <a:noFill/>
        </p:spPr>
        <p:txBody>
          <a:bodyPr wrap="square" lIns="91440" tIns="45720" rIns="91440" bIns="45720" rtlCol="0" anchor="t">
            <a:spAutoFit/>
          </a:bodyPr>
          <a:lstStyle/>
          <a:p>
            <a:r>
              <a:rPr lang="vi-VN"/>
              <a:t>7. Lựa chọn chuỗi chuyển tiếp bằng quy hoạch động</a:t>
            </a:r>
            <a:endParaRPr lang="vi-VN">
              <a:effectLst/>
            </a:endParaRPr>
          </a:p>
        </p:txBody>
      </p:sp>
      <p:sp>
        <p:nvSpPr>
          <p:cNvPr id="3" name="TextBox 2">
            <a:extLst>
              <a:ext uri="{FF2B5EF4-FFF2-40B4-BE49-F238E27FC236}">
                <a16:creationId xmlns:a16="http://schemas.microsoft.com/office/drawing/2014/main" id="{1076F40E-DF06-156C-FDF2-AEDF23921A54}"/>
              </a:ext>
            </a:extLst>
          </p:cNvPr>
          <p:cNvSpPr txBox="1"/>
          <p:nvPr/>
        </p:nvSpPr>
        <p:spPr>
          <a:xfrm>
            <a:off x="533780" y="1189756"/>
            <a:ext cx="111878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tos"/>
                <a:ea typeface="Calibri"/>
                <a:cs typeface="Calibri"/>
              </a:rPr>
              <a:t>Tối ưu cục bộ từng góc có thể tạo trim chồng lấn;</a:t>
            </a:r>
            <a:r>
              <a:rPr lang="en-US">
                <a:latin typeface="Calibri"/>
                <a:ea typeface="Calibri"/>
                <a:cs typeface="Calibri"/>
              </a:rPr>
              <a:t> </a:t>
            </a:r>
            <a:r>
              <a:rPr lang="en-US">
                <a:ea typeface="+mn-lt"/>
                <a:cs typeface="+mn-lt"/>
              </a:rPr>
              <a:t> DP </a:t>
            </a:r>
            <a:r>
              <a:rPr lang="en-US" err="1">
                <a:ea typeface="+mn-lt"/>
                <a:cs typeface="+mn-lt"/>
              </a:rPr>
              <a:t>chọn</a:t>
            </a:r>
            <a:r>
              <a:rPr lang="en-US">
                <a:ea typeface="+mn-lt"/>
                <a:cs typeface="+mn-lt"/>
              </a:rPr>
              <a:t> </a:t>
            </a:r>
            <a:r>
              <a:rPr lang="en-US" err="1">
                <a:ea typeface="+mn-lt"/>
                <a:cs typeface="+mn-lt"/>
              </a:rPr>
              <a:t>chuỗi</a:t>
            </a:r>
            <a:r>
              <a:rPr lang="en-US">
                <a:ea typeface="+mn-lt"/>
                <a:cs typeface="+mn-lt"/>
              </a:rPr>
              <a:t> </a:t>
            </a:r>
            <a:r>
              <a:rPr lang="en-US" err="1">
                <a:ea typeface="+mn-lt"/>
                <a:cs typeface="+mn-lt"/>
              </a:rPr>
              <a:t>phương</a:t>
            </a:r>
            <a:r>
              <a:rPr lang="en-US">
                <a:ea typeface="+mn-lt"/>
                <a:cs typeface="+mn-lt"/>
              </a:rPr>
              <a:t> </a:t>
            </a:r>
            <a:r>
              <a:rPr lang="en-US" sz="1600" err="1">
                <a:latin typeface="Noto Sans"/>
                <a:ea typeface="Noto Sans"/>
                <a:cs typeface="Noto Sans"/>
              </a:rPr>
              <a:t>án</a:t>
            </a:r>
            <a:r>
              <a:rPr lang="en-US" sz="1600">
                <a:latin typeface="Noto Sans"/>
                <a:ea typeface="Noto Sans"/>
                <a:cs typeface="Noto Sans"/>
              </a:rPr>
              <a:t> </a:t>
            </a:r>
            <a:r>
              <a:rPr lang="en-US" err="1">
                <a:ea typeface="+mn-lt"/>
                <a:cs typeface="+mn-lt"/>
              </a:rPr>
              <a:t>xử</a:t>
            </a:r>
            <a:r>
              <a:rPr lang="en-US">
                <a:ea typeface="+mn-lt"/>
                <a:cs typeface="+mn-lt"/>
              </a:rPr>
              <a:t> </a:t>
            </a:r>
            <a:r>
              <a:rPr lang="en-US" err="1">
                <a:ea typeface="+mn-lt"/>
                <a:cs typeface="+mn-lt"/>
              </a:rPr>
              <a:t>lý</a:t>
            </a:r>
            <a:r>
              <a:rPr lang="en-US">
                <a:ea typeface="+mn-lt"/>
                <a:cs typeface="+mn-lt"/>
              </a:rPr>
              <a:t> </a:t>
            </a:r>
            <a:r>
              <a:rPr lang="en-US" err="1">
                <a:ea typeface="+mn-lt"/>
                <a:cs typeface="+mn-lt"/>
              </a:rPr>
              <a:t>tại</a:t>
            </a:r>
            <a:r>
              <a:rPr lang="en-US">
                <a:ea typeface="+mn-lt"/>
                <a:cs typeface="+mn-lt"/>
              </a:rPr>
              <a:t> </a:t>
            </a:r>
            <a:r>
              <a:rPr lang="en-US" err="1">
                <a:ea typeface="+mn-lt"/>
                <a:cs typeface="+mn-lt"/>
              </a:rPr>
              <a:t>góc</a:t>
            </a:r>
            <a:r>
              <a:rPr lang="en-US">
                <a:ea typeface="+mn-lt"/>
                <a:cs typeface="+mn-lt"/>
              </a:rPr>
              <a:t> </a:t>
            </a:r>
            <a:r>
              <a:rPr lang="en-US" err="1">
                <a:ea typeface="+mn-lt"/>
                <a:cs typeface="+mn-lt"/>
              </a:rPr>
              <a:t>không</a:t>
            </a:r>
            <a:r>
              <a:rPr lang="en-US">
                <a:ea typeface="+mn-lt"/>
                <a:cs typeface="+mn-lt"/>
              </a:rPr>
              <a:t> </a:t>
            </a:r>
            <a:r>
              <a:rPr lang="en-US" err="1">
                <a:ea typeface="+mn-lt"/>
                <a:cs typeface="+mn-lt"/>
              </a:rPr>
              <a:t>chồng</a:t>
            </a:r>
            <a:r>
              <a:rPr lang="en-US">
                <a:ea typeface="+mn-lt"/>
                <a:cs typeface="+mn-lt"/>
              </a:rPr>
              <a:t> </a:t>
            </a:r>
            <a:r>
              <a:rPr lang="en-US" err="1">
                <a:ea typeface="+mn-lt"/>
                <a:cs typeface="+mn-lt"/>
              </a:rPr>
              <a:t>lấn</a:t>
            </a:r>
            <a:r>
              <a:rPr lang="en-US">
                <a:ea typeface="+mn-lt"/>
                <a:cs typeface="+mn-lt"/>
              </a:rPr>
              <a:t> </a:t>
            </a:r>
            <a:r>
              <a:rPr lang="en-US" err="1">
                <a:ea typeface="+mn-lt"/>
                <a:cs typeface="+mn-lt"/>
              </a:rPr>
              <a:t>trên</a:t>
            </a:r>
            <a:r>
              <a:rPr lang="en-US">
                <a:ea typeface="+mn-lt"/>
                <a:cs typeface="+mn-lt"/>
              </a:rPr>
              <a:t> </a:t>
            </a:r>
            <a:r>
              <a:rPr lang="en-US" err="1">
                <a:ea typeface="+mn-lt"/>
                <a:cs typeface="+mn-lt"/>
              </a:rPr>
              <a:t>toàn</a:t>
            </a:r>
            <a:r>
              <a:rPr lang="en-US">
                <a:ea typeface="+mn-lt"/>
                <a:cs typeface="+mn-lt"/>
              </a:rPr>
              <a:t> </a:t>
            </a:r>
            <a:r>
              <a:rPr lang="en-US" err="1">
                <a:ea typeface="+mn-lt"/>
                <a:cs typeface="+mn-lt"/>
              </a:rPr>
              <a:t>đường</a:t>
            </a:r>
            <a:r>
              <a:rPr lang="en-US">
                <a:ea typeface="+mn-lt"/>
                <a:cs typeface="+mn-lt"/>
              </a:rPr>
              <a:t> , </a:t>
            </a:r>
            <a:r>
              <a:rPr lang="en-US" err="1">
                <a:ea typeface="+mn-lt"/>
                <a:cs typeface="+mn-lt"/>
              </a:rPr>
              <a:t>giải</a:t>
            </a:r>
            <a:r>
              <a:rPr lang="en-US">
                <a:ea typeface="+mn-lt"/>
                <a:cs typeface="+mn-lt"/>
              </a:rPr>
              <a:t> </a:t>
            </a:r>
            <a:r>
              <a:rPr lang="en-US" err="1">
                <a:ea typeface="+mn-lt"/>
                <a:cs typeface="+mn-lt"/>
              </a:rPr>
              <a:t>quyết</a:t>
            </a:r>
            <a:r>
              <a:rPr lang="en-US">
                <a:ea typeface="+mn-lt"/>
                <a:cs typeface="+mn-lt"/>
              </a:rPr>
              <a:t> </a:t>
            </a:r>
            <a:r>
              <a:rPr lang="en-US" err="1">
                <a:ea typeface="+mn-lt"/>
                <a:cs typeface="+mn-lt"/>
              </a:rPr>
              <a:t>tương</a:t>
            </a:r>
            <a:r>
              <a:rPr lang="en-US">
                <a:ea typeface="+mn-lt"/>
                <a:cs typeface="+mn-lt"/>
              </a:rPr>
              <a:t> </a:t>
            </a:r>
            <a:r>
              <a:rPr lang="en-US" err="1">
                <a:ea typeface="+mn-lt"/>
                <a:cs typeface="+mn-lt"/>
              </a:rPr>
              <a:t>thích</a:t>
            </a:r>
            <a:r>
              <a:rPr lang="en-US">
                <a:ea typeface="+mn-lt"/>
                <a:cs typeface="+mn-lt"/>
              </a:rPr>
              <a:t> </a:t>
            </a:r>
            <a:r>
              <a:rPr lang="en-US" err="1">
                <a:ea typeface="+mn-lt"/>
                <a:cs typeface="+mn-lt"/>
              </a:rPr>
              <a:t>cục</a:t>
            </a:r>
            <a:r>
              <a:rPr lang="en-US">
                <a:ea typeface="+mn-lt"/>
                <a:cs typeface="+mn-lt"/>
              </a:rPr>
              <a:t> </a:t>
            </a:r>
            <a:r>
              <a:rPr lang="en-US" err="1">
                <a:ea typeface="+mn-lt"/>
                <a:cs typeface="+mn-lt"/>
              </a:rPr>
              <a:t>bộ</a:t>
            </a:r>
            <a:r>
              <a:rPr lang="en-US">
                <a:ea typeface="+mn-lt"/>
                <a:cs typeface="+mn-lt"/>
              </a:rPr>
              <a:t> .</a:t>
            </a:r>
            <a:endParaRPr lang="en-US"/>
          </a:p>
        </p:txBody>
      </p:sp>
      <p:sp>
        <p:nvSpPr>
          <p:cNvPr id="8" name="TextBox 7">
            <a:extLst>
              <a:ext uri="{FF2B5EF4-FFF2-40B4-BE49-F238E27FC236}">
                <a16:creationId xmlns:a16="http://schemas.microsoft.com/office/drawing/2014/main" id="{D21366D9-A7B8-7D79-6102-07AA2B91E793}"/>
              </a:ext>
            </a:extLst>
          </p:cNvPr>
          <p:cNvSpPr txBox="1"/>
          <p:nvPr/>
        </p:nvSpPr>
        <p:spPr>
          <a:xfrm>
            <a:off x="536523" y="6168525"/>
            <a:ext cx="11407033" cy="65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mn-lt"/>
                <a:cs typeface="+mn-lt"/>
              </a:rPr>
              <a:t>Một</a:t>
            </a:r>
            <a:r>
              <a:rPr lang="en-US">
                <a:ea typeface="+mn-lt"/>
                <a:cs typeface="+mn-lt"/>
              </a:rPr>
              <a:t> </a:t>
            </a:r>
            <a:r>
              <a:rPr lang="en-US" err="1">
                <a:ea typeface="+mn-lt"/>
                <a:cs typeface="+mn-lt"/>
              </a:rPr>
              <a:t>phương</a:t>
            </a:r>
            <a:r>
              <a:rPr lang="en-US">
                <a:ea typeface="+mn-lt"/>
                <a:cs typeface="+mn-lt"/>
              </a:rPr>
              <a:t> </a:t>
            </a:r>
            <a:r>
              <a:rPr lang="en-US" sz="1600" err="1">
                <a:latin typeface="Noto Sans"/>
                <a:ea typeface="Noto Sans"/>
                <a:cs typeface="Noto Sans"/>
              </a:rPr>
              <a:t>án</a:t>
            </a:r>
            <a:r>
              <a:rPr lang="en-US" sz="1600">
                <a:latin typeface="Noto Sans"/>
                <a:ea typeface="Noto Sans"/>
                <a:cs typeface="Noto Sans"/>
              </a:rPr>
              <a:t> </a:t>
            </a:r>
            <a:r>
              <a:rPr lang="en-US" err="1">
                <a:ea typeface="+mn-lt"/>
                <a:cs typeface="+mn-lt"/>
              </a:rPr>
              <a:t>xử</a:t>
            </a:r>
            <a:r>
              <a:rPr lang="en-US">
                <a:ea typeface="+mn-lt"/>
                <a:cs typeface="+mn-lt"/>
              </a:rPr>
              <a:t> </a:t>
            </a:r>
            <a:r>
              <a:rPr lang="en-US" err="1">
                <a:ea typeface="+mn-lt"/>
                <a:cs typeface="+mn-lt"/>
              </a:rPr>
              <a:t>lý</a:t>
            </a:r>
            <a:r>
              <a:rPr lang="en-US">
                <a:ea typeface="+mn-lt"/>
                <a:cs typeface="+mn-lt"/>
              </a:rPr>
              <a:t> </a:t>
            </a:r>
            <a:r>
              <a:rPr lang="en-US" err="1">
                <a:ea typeface="+mn-lt"/>
                <a:cs typeface="+mn-lt"/>
              </a:rPr>
              <a:t>tại</a:t>
            </a:r>
            <a:r>
              <a:rPr lang="en-US">
                <a:ea typeface="+mn-lt"/>
                <a:cs typeface="+mn-lt"/>
              </a:rPr>
              <a:t> </a:t>
            </a:r>
            <a:r>
              <a:rPr lang="en-US" err="1">
                <a:ea typeface="+mn-lt"/>
                <a:cs typeface="+mn-lt"/>
              </a:rPr>
              <a:t>góc</a:t>
            </a:r>
            <a:r>
              <a:rPr lang="en-US">
                <a:ea typeface="+mn-lt"/>
                <a:cs typeface="+mn-lt"/>
              </a:rPr>
              <a:t> </a:t>
            </a:r>
            <a:r>
              <a:rPr lang="en-US" err="1">
                <a:ea typeface="+mn-lt"/>
                <a:cs typeface="+mn-lt"/>
              </a:rPr>
              <a:t>tốt</a:t>
            </a:r>
            <a:r>
              <a:rPr lang="en-US">
                <a:ea typeface="+mn-lt"/>
                <a:cs typeface="+mn-lt"/>
              </a:rPr>
              <a:t> </a:t>
            </a:r>
            <a:r>
              <a:rPr lang="en-US" err="1">
                <a:ea typeface="+mn-lt"/>
                <a:cs typeface="+mn-lt"/>
              </a:rPr>
              <a:t>tại</a:t>
            </a:r>
            <a:r>
              <a:rPr lang="en-US">
                <a:ea typeface="+mn-lt"/>
                <a:cs typeface="+mn-lt"/>
              </a:rPr>
              <a:t> </a:t>
            </a:r>
            <a:r>
              <a:rPr lang="en-US" err="1">
                <a:ea typeface="+mn-lt"/>
                <a:cs typeface="+mn-lt"/>
              </a:rPr>
              <a:t>từng</a:t>
            </a:r>
            <a:r>
              <a:rPr lang="en-US">
                <a:ea typeface="+mn-lt"/>
                <a:cs typeface="+mn-lt"/>
              </a:rPr>
              <a:t> </a:t>
            </a:r>
            <a:r>
              <a:rPr lang="en-US" err="1">
                <a:ea typeface="+mn-lt"/>
                <a:cs typeface="+mn-lt"/>
              </a:rPr>
              <a:t>góc</a:t>
            </a:r>
            <a:r>
              <a:rPr lang="en-US">
                <a:ea typeface="+mn-lt"/>
                <a:cs typeface="+mn-lt"/>
              </a:rPr>
              <a:t> </a:t>
            </a:r>
            <a:r>
              <a:rPr lang="en-US" err="1">
                <a:ea typeface="+mn-lt"/>
                <a:cs typeface="+mn-lt"/>
              </a:rPr>
              <a:t>chưa</a:t>
            </a:r>
            <a:r>
              <a:rPr lang="en-US">
                <a:ea typeface="+mn-lt"/>
                <a:cs typeface="+mn-lt"/>
              </a:rPr>
              <a:t> </a:t>
            </a:r>
            <a:r>
              <a:rPr lang="en-US" err="1">
                <a:ea typeface="+mn-lt"/>
                <a:cs typeface="+mn-lt"/>
              </a:rPr>
              <a:t>chắc</a:t>
            </a:r>
            <a:r>
              <a:rPr lang="en-US">
                <a:ea typeface="+mn-lt"/>
                <a:cs typeface="+mn-lt"/>
              </a:rPr>
              <a:t> </a:t>
            </a:r>
            <a:r>
              <a:rPr lang="en-US" err="1">
                <a:ea typeface="+mn-lt"/>
                <a:cs typeface="+mn-lt"/>
              </a:rPr>
              <a:t>tạo</a:t>
            </a:r>
            <a:r>
              <a:rPr lang="en-US">
                <a:ea typeface="+mn-lt"/>
                <a:cs typeface="+mn-lt"/>
              </a:rPr>
              <a:t> </a:t>
            </a:r>
            <a:r>
              <a:rPr lang="en-US" err="1">
                <a:ea typeface="+mn-lt"/>
                <a:cs typeface="+mn-lt"/>
              </a:rPr>
              <a:t>thành</a:t>
            </a:r>
            <a:r>
              <a:rPr lang="en-US">
                <a:ea typeface="+mn-lt"/>
                <a:cs typeface="+mn-lt"/>
              </a:rPr>
              <a:t> </a:t>
            </a:r>
            <a:r>
              <a:rPr lang="en-US" err="1">
                <a:ea typeface="+mn-lt"/>
                <a:cs typeface="+mn-lt"/>
              </a:rPr>
              <a:t>một</a:t>
            </a:r>
            <a:r>
              <a:rPr lang="en-US">
                <a:ea typeface="+mn-lt"/>
                <a:cs typeface="+mn-lt"/>
              </a:rPr>
              <a:t> </a:t>
            </a:r>
            <a:r>
              <a:rPr lang="en-US" err="1">
                <a:ea typeface="+mn-lt"/>
                <a:cs typeface="+mn-lt"/>
              </a:rPr>
              <a:t>đường</a:t>
            </a:r>
            <a:r>
              <a:rPr lang="en-US">
                <a:ea typeface="+mn-lt"/>
                <a:cs typeface="+mn-lt"/>
              </a:rPr>
              <a:t> </a:t>
            </a:r>
            <a:r>
              <a:rPr lang="en-US" err="1">
                <a:ea typeface="+mn-lt"/>
                <a:cs typeface="+mn-lt"/>
              </a:rPr>
              <a:t>tốt</a:t>
            </a:r>
            <a:r>
              <a:rPr lang="en-US">
                <a:ea typeface="+mn-lt"/>
                <a:cs typeface="+mn-lt"/>
              </a:rPr>
              <a:t>; </a:t>
            </a:r>
            <a:r>
              <a:rPr lang="en-US" err="1">
                <a:ea typeface="+mn-lt"/>
                <a:cs typeface="+mn-lt"/>
              </a:rPr>
              <a:t>hai</a:t>
            </a:r>
            <a:r>
              <a:rPr lang="en-US">
                <a:ea typeface="+mn-lt"/>
                <a:cs typeface="+mn-lt"/>
              </a:rPr>
              <a:t> transition </a:t>
            </a:r>
            <a:r>
              <a:rPr lang="en-US" err="1">
                <a:ea typeface="+mn-lt"/>
                <a:cs typeface="+mn-lt"/>
              </a:rPr>
              <a:t>tốt</a:t>
            </a:r>
            <a:r>
              <a:rPr lang="en-US">
                <a:ea typeface="+mn-lt"/>
                <a:cs typeface="+mn-lt"/>
              </a:rPr>
              <a:t> </a:t>
            </a:r>
            <a:r>
              <a:rPr lang="en-US" err="1">
                <a:ea typeface="+mn-lt"/>
                <a:cs typeface="+mn-lt"/>
              </a:rPr>
              <a:t>riêng</a:t>
            </a:r>
            <a:r>
              <a:rPr lang="en-US">
                <a:ea typeface="+mn-lt"/>
                <a:cs typeface="+mn-lt"/>
              </a:rPr>
              <a:t> </a:t>
            </a:r>
            <a:r>
              <a:rPr lang="en-US" err="1">
                <a:ea typeface="+mn-lt"/>
                <a:cs typeface="+mn-lt"/>
              </a:rPr>
              <a:t>lẻ</a:t>
            </a:r>
            <a:r>
              <a:rPr lang="en-US">
                <a:ea typeface="+mn-lt"/>
                <a:cs typeface="+mn-lt"/>
              </a:rPr>
              <a:t> </a:t>
            </a:r>
            <a:r>
              <a:rPr lang="en-US" err="1">
                <a:ea typeface="+mn-lt"/>
                <a:cs typeface="+mn-lt"/>
              </a:rPr>
              <a:t>vẫn</a:t>
            </a:r>
            <a:r>
              <a:rPr lang="en-US">
                <a:ea typeface="+mn-lt"/>
                <a:cs typeface="+mn-lt"/>
              </a:rPr>
              <a:t> </a:t>
            </a:r>
            <a:r>
              <a:rPr lang="en-US" err="1">
                <a:ea typeface="+mn-lt"/>
                <a:cs typeface="+mn-lt"/>
              </a:rPr>
              <a:t>có</a:t>
            </a:r>
            <a:r>
              <a:rPr lang="en-US">
                <a:ea typeface="+mn-lt"/>
                <a:cs typeface="+mn-lt"/>
              </a:rPr>
              <a:t> </a:t>
            </a:r>
            <a:r>
              <a:rPr lang="en-US" err="1">
                <a:ea typeface="+mn-lt"/>
                <a:cs typeface="+mn-lt"/>
              </a:rPr>
              <a:t>thể</a:t>
            </a:r>
            <a:r>
              <a:rPr lang="en-US">
                <a:ea typeface="+mn-lt"/>
                <a:cs typeface="+mn-lt"/>
              </a:rPr>
              <a:t> </a:t>
            </a:r>
            <a:r>
              <a:rPr lang="en-US" err="1">
                <a:ea typeface="+mn-lt"/>
                <a:cs typeface="+mn-lt"/>
              </a:rPr>
              <a:t>chồng</a:t>
            </a:r>
            <a:r>
              <a:rPr lang="en-US">
                <a:ea typeface="+mn-lt"/>
                <a:cs typeface="+mn-lt"/>
              </a:rPr>
              <a:t> </a:t>
            </a:r>
            <a:r>
              <a:rPr lang="en-US" err="1">
                <a:ea typeface="+mn-lt"/>
                <a:cs typeface="+mn-lt"/>
              </a:rPr>
              <a:t>lên</a:t>
            </a:r>
            <a:r>
              <a:rPr lang="en-US">
                <a:ea typeface="+mn-lt"/>
                <a:cs typeface="+mn-lt"/>
              </a:rPr>
              <a:t> </a:t>
            </a:r>
            <a:r>
              <a:rPr lang="en-US" err="1">
                <a:ea typeface="+mn-lt"/>
                <a:cs typeface="+mn-lt"/>
              </a:rPr>
              <a:t>cùng</a:t>
            </a:r>
            <a:r>
              <a:rPr lang="en-US">
                <a:ea typeface="+mn-lt"/>
                <a:cs typeface="+mn-lt"/>
              </a:rPr>
              <a:t> </a:t>
            </a:r>
            <a:r>
              <a:rPr lang="en-US" err="1">
                <a:ea typeface="+mn-lt"/>
                <a:cs typeface="+mn-lt"/>
              </a:rPr>
              <a:t>một</a:t>
            </a:r>
            <a:r>
              <a:rPr lang="en-US">
                <a:ea typeface="+mn-lt"/>
                <a:cs typeface="+mn-lt"/>
              </a:rPr>
              <a:t> </a:t>
            </a:r>
            <a:r>
              <a:rPr lang="en-US" err="1">
                <a:ea typeface="+mn-lt"/>
                <a:cs typeface="+mn-lt"/>
              </a:rPr>
              <a:t>đoạn</a:t>
            </a:r>
            <a:r>
              <a:rPr lang="en-US">
                <a:ea typeface="+mn-lt"/>
                <a:cs typeface="+mn-lt"/>
              </a:rPr>
              <a:t> </a:t>
            </a:r>
            <a:r>
              <a:rPr lang="en-US" err="1">
                <a:ea typeface="+mn-lt"/>
                <a:cs typeface="+mn-lt"/>
              </a:rPr>
              <a:t>thẳng</a:t>
            </a:r>
            <a:r>
              <a:rPr lang="en-US">
                <a:ea typeface="+mn-lt"/>
                <a:cs typeface="+mn-lt"/>
              </a:rPr>
              <a:t>.</a:t>
            </a:r>
          </a:p>
        </p:txBody>
      </p:sp>
      <p:pic>
        <p:nvPicPr>
          <p:cNvPr id="5" name="Picture 4">
            <a:extLst>
              <a:ext uri="{FF2B5EF4-FFF2-40B4-BE49-F238E27FC236}">
                <a16:creationId xmlns:a16="http://schemas.microsoft.com/office/drawing/2014/main" id="{FA34DB25-6A65-4E6E-4058-B729D3BD3CE5}"/>
              </a:ext>
            </a:extLst>
          </p:cNvPr>
          <p:cNvPicPr>
            <a:picLocks noChangeAspect="1"/>
          </p:cNvPicPr>
          <p:nvPr/>
        </p:nvPicPr>
        <p:blipFill>
          <a:blip r:embed="rId2"/>
          <a:stretch>
            <a:fillRect/>
          </a:stretch>
        </p:blipFill>
        <p:spPr>
          <a:xfrm>
            <a:off x="362927" y="1976266"/>
            <a:ext cx="11053016" cy="4053059"/>
          </a:xfrm>
          <a:prstGeom prst="rect">
            <a:avLst/>
          </a:prstGeom>
        </p:spPr>
      </p:pic>
    </p:spTree>
    <p:extLst>
      <p:ext uri="{BB962C8B-B14F-4D97-AF65-F5344CB8AC3E}">
        <p14:creationId xmlns:p14="http://schemas.microsoft.com/office/powerpoint/2010/main" val="3370914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E5131-8BA5-0C62-00C3-B503D74F92FC}"/>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701F396F-F11B-4CFB-E700-51FF140D7B4C}"/>
              </a:ext>
            </a:extLst>
          </p:cNvPr>
          <p:cNvSpPr txBox="1"/>
          <p:nvPr/>
        </p:nvSpPr>
        <p:spPr>
          <a:xfrm>
            <a:off x="531730" y="352900"/>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A3D0DFF7-E1CE-EF20-99D6-CB6349910853}"/>
              </a:ext>
            </a:extLst>
          </p:cNvPr>
          <p:cNvSpPr txBox="1"/>
          <p:nvPr/>
        </p:nvSpPr>
        <p:spPr>
          <a:xfrm>
            <a:off x="531730" y="824987"/>
            <a:ext cx="7524301" cy="369332"/>
          </a:xfrm>
          <a:prstGeom prst="rect">
            <a:avLst/>
          </a:prstGeom>
          <a:noFill/>
        </p:spPr>
        <p:txBody>
          <a:bodyPr wrap="square" lIns="91440" tIns="45720" rIns="91440" bIns="45720" rtlCol="0" anchor="t">
            <a:spAutoFit/>
          </a:bodyPr>
          <a:lstStyle/>
          <a:p>
            <a:r>
              <a:rPr lang="vi-VN"/>
              <a:t>7. Lựa chọn chuỗi chuyển tiếp bằng quy hoạch động</a:t>
            </a:r>
            <a:endParaRPr lang="vi-VN">
              <a:effectLst/>
            </a:endParaRPr>
          </a:p>
        </p:txBody>
      </p:sp>
      <p:pic>
        <p:nvPicPr>
          <p:cNvPr id="5" name="Picture 4">
            <a:extLst>
              <a:ext uri="{FF2B5EF4-FFF2-40B4-BE49-F238E27FC236}">
                <a16:creationId xmlns:a16="http://schemas.microsoft.com/office/drawing/2014/main" id="{928E291C-CB00-875B-E8FB-55D924D33A9B}"/>
              </a:ext>
            </a:extLst>
          </p:cNvPr>
          <p:cNvPicPr>
            <a:picLocks noChangeAspect="1"/>
          </p:cNvPicPr>
          <p:nvPr/>
        </p:nvPicPr>
        <p:blipFill>
          <a:blip r:embed="rId2"/>
          <a:stretch>
            <a:fillRect/>
          </a:stretch>
        </p:blipFill>
        <p:spPr>
          <a:xfrm>
            <a:off x="188494" y="1553953"/>
            <a:ext cx="6031162" cy="3392047"/>
          </a:xfrm>
          <a:prstGeom prst="rect">
            <a:avLst/>
          </a:prstGeom>
        </p:spPr>
      </p:pic>
      <p:sp>
        <p:nvSpPr>
          <p:cNvPr id="6" name="TextBox 5">
            <a:extLst>
              <a:ext uri="{FF2B5EF4-FFF2-40B4-BE49-F238E27FC236}">
                <a16:creationId xmlns:a16="http://schemas.microsoft.com/office/drawing/2014/main" id="{816BB86B-5E58-097C-2F52-F7BA9721FF00}"/>
              </a:ext>
            </a:extLst>
          </p:cNvPr>
          <p:cNvSpPr txBox="1"/>
          <p:nvPr/>
        </p:nvSpPr>
        <p:spPr>
          <a:xfrm>
            <a:off x="5692048" y="1188903"/>
            <a:ext cx="627961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2000" b="1" i="0" kern="1200">
                <a:solidFill>
                  <a:srgbClr val="0F766E"/>
                </a:solidFill>
                <a:latin typeface="Noto Sans"/>
                <a:ea typeface="+mn-ea"/>
                <a:cs typeface="+mn-cs"/>
              </a:rPr>
              <a:t>d(zᵢ)+d(zᵢ₊₁)+m ≤ Lᵢ</a:t>
            </a:r>
            <a:br>
              <a:rPr lang="en-US" sz="2000" kern="1200">
                <a:solidFill>
                  <a:schemeClr val="tx1"/>
                </a:solidFill>
                <a:latin typeface="Calibri"/>
                <a:ea typeface="+mn-ea"/>
                <a:cs typeface="+mn-cs"/>
              </a:rPr>
            </a:br>
            <a:r>
              <a:rPr lang="en-US" sz="2000" b="1" i="0" kern="1200">
                <a:solidFill>
                  <a:srgbClr val="0F766E"/>
                </a:solidFill>
                <a:latin typeface="Noto Sans"/>
                <a:ea typeface="+mn-ea"/>
                <a:cs typeface="+mn-cs"/>
              </a:rPr>
              <a:t>m = 0,05 m</a:t>
            </a:r>
          </a:p>
          <a:p>
            <a:pPr algn="ctr"/>
            <a:endParaRPr lang="en-US" sz="2000"/>
          </a:p>
        </p:txBody>
      </p:sp>
      <p:sp>
        <p:nvSpPr>
          <p:cNvPr id="9" name="TextBox 8">
            <a:extLst>
              <a:ext uri="{FF2B5EF4-FFF2-40B4-BE49-F238E27FC236}">
                <a16:creationId xmlns:a16="http://schemas.microsoft.com/office/drawing/2014/main" id="{229674F9-B8F5-9E8B-3D21-1160CE678ED3}"/>
              </a:ext>
            </a:extLst>
          </p:cNvPr>
          <p:cNvSpPr txBox="1"/>
          <p:nvPr/>
        </p:nvSpPr>
        <p:spPr>
          <a:xfrm>
            <a:off x="6600940" y="1840735"/>
            <a:ext cx="609600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0" kern="1200">
                <a:solidFill>
                  <a:srgbClr val="17212B"/>
                </a:solidFill>
                <a:latin typeface="Noto Sans"/>
                <a:ea typeface="+mn-ea"/>
                <a:cs typeface="+mn-cs"/>
              </a:rPr>
              <a:t>Điều kiện tương thích:</a:t>
            </a:r>
            <a:br>
              <a:rPr lang="en-US" sz="2000" kern="1200">
                <a:solidFill>
                  <a:schemeClr val="tx1"/>
                </a:solidFill>
                <a:latin typeface="Calibri"/>
                <a:ea typeface="+mn-ea"/>
                <a:cs typeface="+mn-cs"/>
              </a:rPr>
            </a:br>
            <a:r>
              <a:rPr lang="en-US" sz="2000" b="1" i="0" kern="1200">
                <a:solidFill>
                  <a:srgbClr val="17212B"/>
                </a:solidFill>
                <a:latin typeface="Noto Sans"/>
                <a:ea typeface="+mn-ea"/>
                <a:cs typeface="+mn-cs"/>
              </a:rPr>
              <a:t>hai vùng cắt không chồng lấn trên đoạn chung</a:t>
            </a:r>
            <a:endParaRPr lang="en-US" sz="2000"/>
          </a:p>
          <a:p>
            <a:pPr algn="ctr"/>
            <a:endParaRPr lang="en-US" sz="2000"/>
          </a:p>
        </p:txBody>
      </p:sp>
      <p:sp>
        <p:nvSpPr>
          <p:cNvPr id="10" name="TextBox 9">
            <a:extLst>
              <a:ext uri="{FF2B5EF4-FFF2-40B4-BE49-F238E27FC236}">
                <a16:creationId xmlns:a16="http://schemas.microsoft.com/office/drawing/2014/main" id="{F1F03286-6BA5-F724-78DB-0F8D00A6CD97}"/>
              </a:ext>
            </a:extLst>
          </p:cNvPr>
          <p:cNvSpPr txBox="1"/>
          <p:nvPr/>
        </p:nvSpPr>
        <p:spPr>
          <a:xfrm>
            <a:off x="5958289" y="2924061"/>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2000" b="1" i="0" kern="1200">
                <a:latin typeface="Noto Sans"/>
                <a:ea typeface="+mn-ea"/>
                <a:cs typeface="+mn-cs"/>
              </a:rPr>
              <a:t>Dᵢ(z)=Jᵢ(z)+min_{z′ </a:t>
            </a:r>
            <a:r>
              <a:rPr lang="en-US" sz="2000" b="1" i="0" kern="1200" err="1">
                <a:latin typeface="Noto Sans"/>
                <a:ea typeface="+mn-ea"/>
                <a:cs typeface="+mn-cs"/>
              </a:rPr>
              <a:t>tương</a:t>
            </a:r>
            <a:r>
              <a:rPr lang="en-US" sz="2000" b="1" i="0" kern="1200">
                <a:latin typeface="Noto Sans"/>
                <a:ea typeface="+mn-ea"/>
                <a:cs typeface="+mn-cs"/>
              </a:rPr>
              <a:t> </a:t>
            </a:r>
            <a:r>
              <a:rPr lang="en-US" sz="2000" b="1" i="0" kern="1200" err="1">
                <a:latin typeface="Noto Sans"/>
                <a:ea typeface="+mn-ea"/>
                <a:cs typeface="+mn-cs"/>
              </a:rPr>
              <a:t>thích</a:t>
            </a:r>
            <a:r>
              <a:rPr lang="en-US" sz="2000" b="1" i="0" kern="1200">
                <a:latin typeface="Noto Sans"/>
                <a:ea typeface="+mn-ea"/>
                <a:cs typeface="+mn-cs"/>
              </a:rPr>
              <a:t>} Dᵢ₋₁(z′)</a:t>
            </a:r>
            <a:endParaRPr lang="en-US" sz="2000" b="1" i="0" kern="1200">
              <a:latin typeface="Noto Sans"/>
              <a:ea typeface="Noto Sans"/>
              <a:cs typeface="Noto Sans"/>
            </a:endParaRPr>
          </a:p>
          <a:p>
            <a:pPr algn="ctr"/>
            <a:endParaRPr lang="en-US" sz="2000"/>
          </a:p>
        </p:txBody>
      </p:sp>
      <p:sp>
        <p:nvSpPr>
          <p:cNvPr id="12" name="TextBox 11">
            <a:extLst>
              <a:ext uri="{FF2B5EF4-FFF2-40B4-BE49-F238E27FC236}">
                <a16:creationId xmlns:a16="http://schemas.microsoft.com/office/drawing/2014/main" id="{DB21FE99-ED54-351F-E12E-E6AA69D8C233}"/>
              </a:ext>
            </a:extLst>
          </p:cNvPr>
          <p:cNvSpPr txBox="1"/>
          <p:nvPr/>
        </p:nvSpPr>
        <p:spPr>
          <a:xfrm>
            <a:off x="6766193" y="3630976"/>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US" sz="2000" b="1" i="0" kern="1200">
                <a:solidFill>
                  <a:srgbClr val="102A43"/>
                </a:solidFill>
                <a:latin typeface="Noto Sans"/>
                <a:ea typeface="+mn-ea"/>
                <a:cs typeface="+mn-cs"/>
              </a:rPr>
              <a:t>Độ phức tạp</a:t>
            </a:r>
          </a:p>
          <a:p>
            <a:pPr algn="ctr"/>
            <a:endParaRPr lang="en-US" sz="2000"/>
          </a:p>
        </p:txBody>
      </p:sp>
      <p:sp>
        <p:nvSpPr>
          <p:cNvPr id="13" name="TextBox 12">
            <a:extLst>
              <a:ext uri="{FF2B5EF4-FFF2-40B4-BE49-F238E27FC236}">
                <a16:creationId xmlns:a16="http://schemas.microsoft.com/office/drawing/2014/main" id="{63DE3785-DFE4-6090-8043-A56F1B53E8B5}"/>
              </a:ext>
            </a:extLst>
          </p:cNvPr>
          <p:cNvSpPr txBox="1"/>
          <p:nvPr/>
        </p:nvSpPr>
        <p:spPr>
          <a:xfrm>
            <a:off x="6600940" y="4080831"/>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US" sz="2000" b="0" i="0" kern="1200">
                <a:latin typeface="Noto Sans"/>
                <a:ea typeface="+mn-ea"/>
                <a:cs typeface="+mn-cs"/>
              </a:rPr>
              <a:t>O(NK²), </a:t>
            </a:r>
            <a:r>
              <a:rPr lang="en-US" sz="2000" b="0" i="0" kern="1200" err="1">
                <a:latin typeface="Noto Sans"/>
                <a:ea typeface="+mn-ea"/>
                <a:cs typeface="+mn-cs"/>
              </a:rPr>
              <a:t>với</a:t>
            </a:r>
            <a:r>
              <a:rPr lang="en-US" sz="2000" b="0" i="0" kern="1200">
                <a:latin typeface="Noto Sans"/>
                <a:ea typeface="+mn-ea"/>
                <a:cs typeface="+mn-cs"/>
              </a:rPr>
              <a:t> N </a:t>
            </a:r>
            <a:r>
              <a:rPr lang="en-US" sz="2000" b="0" i="0" kern="1200" err="1">
                <a:latin typeface="Noto Sans"/>
                <a:ea typeface="+mn-ea"/>
                <a:cs typeface="+mn-cs"/>
              </a:rPr>
              <a:t>góc</a:t>
            </a:r>
            <a:r>
              <a:rPr lang="en-US" sz="2000" b="0" i="0" kern="1200">
                <a:latin typeface="Noto Sans"/>
                <a:ea typeface="+mn-ea"/>
                <a:cs typeface="+mn-cs"/>
              </a:rPr>
              <a:t> </a:t>
            </a:r>
            <a:r>
              <a:rPr lang="en-US" sz="2000" b="0" i="0" kern="1200" err="1">
                <a:latin typeface="Noto Sans"/>
                <a:ea typeface="+mn-ea"/>
                <a:cs typeface="+mn-cs"/>
              </a:rPr>
              <a:t>và</a:t>
            </a:r>
            <a:r>
              <a:rPr lang="en-US" sz="2000" b="0" i="0" kern="1200">
                <a:latin typeface="Noto Sans"/>
                <a:ea typeface="+mn-ea"/>
                <a:cs typeface="+mn-cs"/>
              </a:rPr>
              <a:t> </a:t>
            </a:r>
            <a:r>
              <a:rPr lang="en-US" sz="2000" b="0" i="0" kern="1200" err="1">
                <a:latin typeface="Noto Sans"/>
                <a:ea typeface="+mn-ea"/>
                <a:cs typeface="+mn-cs"/>
              </a:rPr>
              <a:t>tối</a:t>
            </a:r>
            <a:r>
              <a:rPr lang="en-US" sz="2000" b="0" i="0" kern="1200">
                <a:latin typeface="Noto Sans"/>
                <a:ea typeface="+mn-ea"/>
                <a:cs typeface="+mn-cs"/>
              </a:rPr>
              <a:t> </a:t>
            </a:r>
            <a:r>
              <a:rPr lang="en-US" sz="2000" b="0" i="0" kern="1200" err="1">
                <a:latin typeface="Noto Sans"/>
                <a:ea typeface="+mn-ea"/>
                <a:cs typeface="+mn-cs"/>
              </a:rPr>
              <a:t>đa</a:t>
            </a:r>
            <a:r>
              <a:rPr lang="en-US" sz="2000" b="0" i="0" kern="1200">
                <a:latin typeface="Noto Sans"/>
                <a:ea typeface="+mn-ea"/>
                <a:cs typeface="+mn-cs"/>
              </a:rPr>
              <a:t> K </a:t>
            </a:r>
            <a:r>
              <a:rPr lang="en-US" sz="2000" b="0" i="0" kern="1200" err="1">
                <a:latin typeface="Noto Sans"/>
                <a:ea typeface="+mn-ea"/>
                <a:cs typeface="+mn-cs"/>
              </a:rPr>
              <a:t>trạng</a:t>
            </a:r>
            <a:r>
              <a:rPr lang="en-US" sz="2000" b="0" i="0" kern="1200">
                <a:latin typeface="Noto Sans"/>
                <a:ea typeface="+mn-ea"/>
                <a:cs typeface="+mn-cs"/>
              </a:rPr>
              <a:t> </a:t>
            </a:r>
            <a:r>
              <a:rPr lang="en-US" sz="2000" b="0" i="0" kern="1200" err="1">
                <a:latin typeface="Noto Sans"/>
                <a:ea typeface="+mn-ea"/>
                <a:cs typeface="+mn-cs"/>
              </a:rPr>
              <a:t>thái</a:t>
            </a:r>
            <a:r>
              <a:rPr lang="en-US" sz="2000" b="0" i="0" kern="1200">
                <a:latin typeface="Noto Sans"/>
                <a:ea typeface="+mn-ea"/>
                <a:cs typeface="+mn-cs"/>
              </a:rPr>
              <a:t> </a:t>
            </a:r>
            <a:r>
              <a:rPr lang="en-US" sz="2000" b="0" i="0" kern="1200" err="1">
                <a:latin typeface="Noto Sans"/>
                <a:ea typeface="+mn-ea"/>
                <a:cs typeface="+mn-cs"/>
              </a:rPr>
              <a:t>mỗi</a:t>
            </a:r>
            <a:r>
              <a:rPr lang="en-US" sz="2000" b="0" i="0" kern="1200">
                <a:latin typeface="Noto Sans"/>
                <a:ea typeface="+mn-ea"/>
                <a:cs typeface="+mn-cs"/>
              </a:rPr>
              <a:t> </a:t>
            </a:r>
            <a:r>
              <a:rPr lang="en-US" sz="2000" b="0" i="0" kern="1200" err="1">
                <a:latin typeface="Noto Sans"/>
                <a:ea typeface="+mn-ea"/>
                <a:cs typeface="+mn-cs"/>
              </a:rPr>
              <a:t>góc</a:t>
            </a:r>
            <a:r>
              <a:rPr lang="en-US" sz="2000" b="0" i="0" kern="1200">
                <a:latin typeface="Noto Sans"/>
                <a:ea typeface="+mn-ea"/>
                <a:cs typeface="+mn-cs"/>
              </a:rPr>
              <a:t>.</a:t>
            </a:r>
            <a:endParaRPr lang="en-US" sz="2000" b="0" i="0" kern="1200">
              <a:latin typeface="Noto Sans"/>
              <a:ea typeface="Noto Sans"/>
              <a:cs typeface="Noto Sans"/>
            </a:endParaRPr>
          </a:p>
          <a:p>
            <a:pPr algn="ctr"/>
            <a:endParaRPr lang="en-US" sz="2000"/>
          </a:p>
        </p:txBody>
      </p:sp>
      <p:sp>
        <p:nvSpPr>
          <p:cNvPr id="14" name="TextBox 13">
            <a:extLst>
              <a:ext uri="{FF2B5EF4-FFF2-40B4-BE49-F238E27FC236}">
                <a16:creationId xmlns:a16="http://schemas.microsoft.com/office/drawing/2014/main" id="{6EAA1FA1-4217-73BA-A5DD-3B31FBB6EC8F}"/>
              </a:ext>
            </a:extLst>
          </p:cNvPr>
          <p:cNvSpPr txBox="1"/>
          <p:nvPr/>
        </p:nvSpPr>
        <p:spPr>
          <a:xfrm>
            <a:off x="2644048" y="5393675"/>
            <a:ext cx="661011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US" sz="1600" b="1" i="0" kern="1200">
                <a:solidFill>
                  <a:srgbClr val="102A43"/>
                </a:solidFill>
                <a:latin typeface="Noto Sans"/>
                <a:ea typeface="+mn-ea"/>
                <a:cs typeface="+mn-cs"/>
              </a:rPr>
              <a:t>Phương </a:t>
            </a:r>
            <a:r>
              <a:rPr lang="en-US" sz="1600" b="1" i="0" kern="1200" err="1">
                <a:solidFill>
                  <a:srgbClr val="102A43"/>
                </a:solidFill>
                <a:latin typeface="Noto Sans"/>
                <a:ea typeface="+mn-ea"/>
                <a:cs typeface="+mn-cs"/>
              </a:rPr>
              <a:t>án</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có</a:t>
            </a:r>
            <a:r>
              <a:rPr lang="en-US" sz="1600" b="1" i="0" kern="1200">
                <a:solidFill>
                  <a:srgbClr val="102A43"/>
                </a:solidFill>
                <a:latin typeface="Noto Sans"/>
                <a:ea typeface="+mn-ea"/>
                <a:cs typeface="+mn-cs"/>
              </a:rPr>
              <a:t> J </a:t>
            </a:r>
            <a:r>
              <a:rPr lang="en-US" sz="1600" b="1" i="0" kern="1200" err="1">
                <a:solidFill>
                  <a:srgbClr val="102A43"/>
                </a:solidFill>
                <a:latin typeface="Noto Sans"/>
                <a:ea typeface="+mn-ea"/>
                <a:cs typeface="+mn-cs"/>
              </a:rPr>
              <a:t>nhỏ</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tại</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một</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góc</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chưa</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chắc</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tạo</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thành</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đường</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tốt</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quy</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hoạch</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động</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giải</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xung</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đột</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giữa</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các</a:t>
            </a:r>
            <a:r>
              <a:rPr lang="en-US" sz="1600" b="1" i="0" kern="1200">
                <a:solidFill>
                  <a:srgbClr val="102A43"/>
                </a:solidFill>
                <a:latin typeface="Noto Sans"/>
                <a:ea typeface="+mn-ea"/>
                <a:cs typeface="+mn-cs"/>
              </a:rPr>
              <a:t> </a:t>
            </a:r>
            <a:r>
              <a:rPr lang="en-US" sz="1600" b="1" i="0" kern="1200" err="1">
                <a:solidFill>
                  <a:srgbClr val="102A43"/>
                </a:solidFill>
                <a:latin typeface="Noto Sans"/>
                <a:ea typeface="+mn-ea"/>
                <a:cs typeface="+mn-cs"/>
              </a:rPr>
              <a:t>góc</a:t>
            </a:r>
            <a:r>
              <a:rPr lang="en-US" sz="1600" b="1" i="0" kern="1200">
                <a:solidFill>
                  <a:srgbClr val="102A43"/>
                </a:solidFill>
                <a:latin typeface="Noto Sans"/>
                <a:ea typeface="+mn-ea"/>
                <a:cs typeface="+mn-cs"/>
              </a:rPr>
              <a:t>.</a:t>
            </a:r>
            <a:endParaRPr lang="en-US" sz="1600" b="1" i="0" kern="1200">
              <a:solidFill>
                <a:srgbClr val="102A43"/>
              </a:solidFill>
              <a:latin typeface="Noto Sans"/>
              <a:ea typeface="Noto Sans"/>
              <a:cs typeface="Noto Sans"/>
            </a:endParaRPr>
          </a:p>
          <a:p>
            <a:pPr algn="ctr"/>
            <a:endParaRPr lang="en-US" sz="1600"/>
          </a:p>
        </p:txBody>
      </p:sp>
    </p:spTree>
    <p:extLst>
      <p:ext uri="{BB962C8B-B14F-4D97-AF65-F5344CB8AC3E}">
        <p14:creationId xmlns:p14="http://schemas.microsoft.com/office/powerpoint/2010/main" val="969442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30FEA-E0B3-73C1-A8DB-9FE7A09F12CB}"/>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A66197C8-3920-2530-0352-F62839C93145}"/>
              </a:ext>
            </a:extLst>
          </p:cNvPr>
          <p:cNvSpPr txBox="1"/>
          <p:nvPr/>
        </p:nvSpPr>
        <p:spPr>
          <a:xfrm>
            <a:off x="531730" y="352900"/>
            <a:ext cx="6475743" cy="470898"/>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 Phương pháp PSTMO</a:t>
            </a:r>
            <a:endParaRPr/>
          </a:p>
        </p:txBody>
      </p:sp>
      <p:sp>
        <p:nvSpPr>
          <p:cNvPr id="2" name="Hộp Văn bản 1">
            <a:extLst>
              <a:ext uri="{FF2B5EF4-FFF2-40B4-BE49-F238E27FC236}">
                <a16:creationId xmlns:a16="http://schemas.microsoft.com/office/drawing/2014/main" id="{36A2D286-868A-1218-1A88-8266609C764A}"/>
              </a:ext>
            </a:extLst>
          </p:cNvPr>
          <p:cNvSpPr txBox="1"/>
          <p:nvPr/>
        </p:nvSpPr>
        <p:spPr>
          <a:xfrm>
            <a:off x="531730" y="939809"/>
            <a:ext cx="7524301" cy="369332"/>
          </a:xfrm>
          <a:prstGeom prst="rect">
            <a:avLst/>
          </a:prstGeom>
          <a:noFill/>
        </p:spPr>
        <p:txBody>
          <a:bodyPr wrap="square" lIns="91440" tIns="45720" rIns="91440" bIns="45720" rtlCol="0" anchor="t">
            <a:spAutoFit/>
          </a:bodyPr>
          <a:lstStyle/>
          <a:p>
            <a:r>
              <a:rPr lang="vi-VN">
                <a:latin typeface="Arial"/>
                <a:cs typeface="Arial"/>
              </a:rPr>
              <a:t>8. </a:t>
            </a:r>
            <a:r>
              <a:rPr lang="vi-VN">
                <a:ea typeface="+mn-lt"/>
                <a:cs typeface="+mn-lt"/>
              </a:rPr>
              <a:t>Tạo đường đi cuối cùng</a:t>
            </a:r>
            <a:endParaRPr lang="en-US">
              <a:ea typeface="+mn-lt"/>
              <a:cs typeface="+mn-lt"/>
            </a:endParaRPr>
          </a:p>
        </p:txBody>
      </p:sp>
      <p:sp>
        <p:nvSpPr>
          <p:cNvPr id="4" name="TextBox 3">
            <a:extLst>
              <a:ext uri="{FF2B5EF4-FFF2-40B4-BE49-F238E27FC236}">
                <a16:creationId xmlns:a16="http://schemas.microsoft.com/office/drawing/2014/main" id="{4875D136-11B7-1C8E-7FA7-D385453950DA}"/>
              </a:ext>
            </a:extLst>
          </p:cNvPr>
          <p:cNvSpPr txBox="1"/>
          <p:nvPr/>
        </p:nvSpPr>
        <p:spPr>
          <a:xfrm>
            <a:off x="527901" y="1303082"/>
            <a:ext cx="1003960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Path </a:t>
            </a:r>
            <a:r>
              <a:rPr lang="en-US" err="1">
                <a:ea typeface="+mn-lt"/>
                <a:cs typeface="+mn-lt"/>
              </a:rPr>
              <a:t>chỉ</a:t>
            </a:r>
            <a:r>
              <a:rPr lang="en-US">
                <a:ea typeface="+mn-lt"/>
                <a:cs typeface="+mn-lt"/>
              </a:rPr>
              <a:t> </a:t>
            </a:r>
            <a:r>
              <a:rPr lang="en-US" err="1">
                <a:ea typeface="+mn-lt"/>
                <a:cs typeface="+mn-lt"/>
              </a:rPr>
              <a:t>được</a:t>
            </a:r>
            <a:r>
              <a:rPr lang="en-US">
                <a:ea typeface="+mn-lt"/>
                <a:cs typeface="+mn-lt"/>
              </a:rPr>
              <a:t> </a:t>
            </a:r>
            <a:r>
              <a:rPr lang="en-US" err="1">
                <a:ea typeface="+mn-lt"/>
                <a:cs typeface="+mn-lt"/>
              </a:rPr>
              <a:t>trả</a:t>
            </a:r>
            <a:r>
              <a:rPr lang="en-US">
                <a:ea typeface="+mn-lt"/>
                <a:cs typeface="+mn-lt"/>
              </a:rPr>
              <a:t> </a:t>
            </a:r>
            <a:r>
              <a:rPr lang="en-US" err="1">
                <a:ea typeface="+mn-lt"/>
                <a:cs typeface="+mn-lt"/>
              </a:rPr>
              <a:t>về</a:t>
            </a:r>
            <a:r>
              <a:rPr lang="en-US">
                <a:ea typeface="+mn-lt"/>
                <a:cs typeface="+mn-lt"/>
              </a:rPr>
              <a:t> Nav2 </a:t>
            </a:r>
            <a:r>
              <a:rPr lang="en-US" err="1">
                <a:ea typeface="+mn-lt"/>
                <a:cs typeface="+mn-lt"/>
              </a:rPr>
              <a:t>sau</a:t>
            </a:r>
            <a:r>
              <a:rPr lang="en-US">
                <a:ea typeface="+mn-lt"/>
                <a:cs typeface="+mn-lt"/>
              </a:rPr>
              <a:t> </a:t>
            </a:r>
            <a:r>
              <a:rPr lang="en-US" err="1">
                <a:ea typeface="+mn-lt"/>
                <a:cs typeface="+mn-lt"/>
              </a:rPr>
              <a:t>khi</a:t>
            </a:r>
            <a:r>
              <a:rPr lang="en-US">
                <a:ea typeface="+mn-lt"/>
                <a:cs typeface="+mn-lt"/>
              </a:rPr>
              <a:t> </a:t>
            </a:r>
            <a:r>
              <a:rPr lang="en-US" err="1">
                <a:ea typeface="+mn-lt"/>
                <a:cs typeface="+mn-lt"/>
              </a:rPr>
              <a:t>ghép</a:t>
            </a:r>
            <a:r>
              <a:rPr lang="en-US">
                <a:ea typeface="+mn-lt"/>
                <a:cs typeface="+mn-lt"/>
              </a:rPr>
              <a:t> </a:t>
            </a:r>
            <a:r>
              <a:rPr lang="en-US" err="1">
                <a:ea typeface="+mn-lt"/>
                <a:cs typeface="+mn-lt"/>
              </a:rPr>
              <a:t>và</a:t>
            </a:r>
            <a:r>
              <a:rPr lang="en-US">
                <a:ea typeface="+mn-lt"/>
                <a:cs typeface="+mn-lt"/>
              </a:rPr>
              <a:t> </a:t>
            </a:r>
            <a:r>
              <a:rPr lang="en-US" err="1">
                <a:ea typeface="+mn-lt"/>
                <a:cs typeface="+mn-lt"/>
              </a:rPr>
              <a:t>xác</a:t>
            </a:r>
            <a:r>
              <a:rPr lang="en-US">
                <a:ea typeface="+mn-lt"/>
                <a:cs typeface="+mn-lt"/>
              </a:rPr>
              <a:t> </a:t>
            </a:r>
            <a:r>
              <a:rPr lang="en-US" err="1">
                <a:ea typeface="+mn-lt"/>
                <a:cs typeface="+mn-lt"/>
              </a:rPr>
              <a:t>nhận</a:t>
            </a:r>
            <a:r>
              <a:rPr lang="en-US">
                <a:ea typeface="+mn-lt"/>
                <a:cs typeface="+mn-lt"/>
              </a:rPr>
              <a:t> </a:t>
            </a:r>
            <a:r>
              <a:rPr lang="en-US" err="1">
                <a:ea typeface="+mn-lt"/>
                <a:cs typeface="+mn-lt"/>
              </a:rPr>
              <a:t>lại</a:t>
            </a:r>
            <a:r>
              <a:rPr lang="en-US">
                <a:ea typeface="+mn-lt"/>
                <a:cs typeface="+mn-lt"/>
              </a:rPr>
              <a:t> </a:t>
            </a:r>
            <a:r>
              <a:rPr lang="en-US" err="1">
                <a:ea typeface="+mn-lt"/>
                <a:cs typeface="+mn-lt"/>
              </a:rPr>
              <a:t>các</a:t>
            </a:r>
            <a:r>
              <a:rPr lang="en-US">
                <a:ea typeface="+mn-lt"/>
                <a:cs typeface="+mn-lt"/>
              </a:rPr>
              <a:t> </a:t>
            </a:r>
            <a:r>
              <a:rPr lang="en-US" err="1">
                <a:ea typeface="+mn-lt"/>
                <a:cs typeface="+mn-lt"/>
              </a:rPr>
              <a:t>điều</a:t>
            </a:r>
            <a:r>
              <a:rPr lang="en-US">
                <a:ea typeface="+mn-lt"/>
                <a:cs typeface="+mn-lt"/>
              </a:rPr>
              <a:t> </a:t>
            </a:r>
            <a:r>
              <a:rPr lang="en-US" err="1">
                <a:ea typeface="+mn-lt"/>
                <a:cs typeface="+mn-lt"/>
              </a:rPr>
              <a:t>kiện</a:t>
            </a:r>
            <a:r>
              <a:rPr lang="en-US">
                <a:ea typeface="+mn-lt"/>
                <a:cs typeface="+mn-lt"/>
              </a:rPr>
              <a:t> </a:t>
            </a:r>
            <a:r>
              <a:rPr lang="en-US" err="1">
                <a:ea typeface="+mn-lt"/>
                <a:cs typeface="+mn-lt"/>
              </a:rPr>
              <a:t>hình</a:t>
            </a:r>
            <a:r>
              <a:rPr lang="en-US">
                <a:ea typeface="+mn-lt"/>
                <a:cs typeface="+mn-lt"/>
              </a:rPr>
              <a:t> </a:t>
            </a:r>
            <a:r>
              <a:rPr lang="en-US" err="1">
                <a:ea typeface="+mn-lt"/>
                <a:cs typeface="+mn-lt"/>
              </a:rPr>
              <a:t>học</a:t>
            </a:r>
            <a:r>
              <a:rPr lang="en-US">
                <a:ea typeface="+mn-lt"/>
                <a:cs typeface="+mn-lt"/>
              </a:rPr>
              <a:t>, </a:t>
            </a:r>
            <a:r>
              <a:rPr lang="en-US" err="1">
                <a:ea typeface="+mn-lt"/>
                <a:cs typeface="+mn-lt"/>
              </a:rPr>
              <a:t>động</a:t>
            </a:r>
            <a:r>
              <a:rPr lang="en-US">
                <a:ea typeface="+mn-lt"/>
                <a:cs typeface="+mn-lt"/>
              </a:rPr>
              <a:t> </a:t>
            </a:r>
            <a:r>
              <a:rPr lang="en-US" err="1">
                <a:ea typeface="+mn-lt"/>
                <a:cs typeface="+mn-lt"/>
              </a:rPr>
              <a:t>học</a:t>
            </a:r>
            <a:r>
              <a:rPr lang="en-US">
                <a:ea typeface="+mn-lt"/>
                <a:cs typeface="+mn-lt"/>
              </a:rPr>
              <a:t> </a:t>
            </a:r>
            <a:r>
              <a:rPr lang="en-US" err="1">
                <a:ea typeface="+mn-lt"/>
                <a:cs typeface="+mn-lt"/>
              </a:rPr>
              <a:t>và</a:t>
            </a:r>
            <a:r>
              <a:rPr lang="en-US">
                <a:ea typeface="+mn-lt"/>
                <a:cs typeface="+mn-lt"/>
              </a:rPr>
              <a:t> an </a:t>
            </a:r>
            <a:r>
              <a:rPr lang="en-US" err="1">
                <a:ea typeface="+mn-lt"/>
                <a:cs typeface="+mn-lt"/>
              </a:rPr>
              <a:t>toàn</a:t>
            </a:r>
            <a:endParaRPr lang="en-US" err="1"/>
          </a:p>
        </p:txBody>
      </p:sp>
      <p:pic>
        <p:nvPicPr>
          <p:cNvPr id="5" name="Picture 4">
            <a:extLst>
              <a:ext uri="{FF2B5EF4-FFF2-40B4-BE49-F238E27FC236}">
                <a16:creationId xmlns:a16="http://schemas.microsoft.com/office/drawing/2014/main" id="{B7806ACA-7D15-9B2D-36AB-BBAB90D0834C}"/>
              </a:ext>
            </a:extLst>
          </p:cNvPr>
          <p:cNvPicPr>
            <a:picLocks noChangeAspect="1"/>
          </p:cNvPicPr>
          <p:nvPr/>
        </p:nvPicPr>
        <p:blipFill>
          <a:blip r:embed="rId2"/>
          <a:stretch>
            <a:fillRect/>
          </a:stretch>
        </p:blipFill>
        <p:spPr>
          <a:xfrm>
            <a:off x="528050" y="1714108"/>
            <a:ext cx="7252831" cy="4943345"/>
          </a:xfrm>
          <a:prstGeom prst="rect">
            <a:avLst/>
          </a:prstGeom>
        </p:spPr>
      </p:pic>
      <p:sp>
        <p:nvSpPr>
          <p:cNvPr id="12" name="TextBox 11">
            <a:extLst>
              <a:ext uri="{FF2B5EF4-FFF2-40B4-BE49-F238E27FC236}">
                <a16:creationId xmlns:a16="http://schemas.microsoft.com/office/drawing/2014/main" id="{9EFCF7AB-71CB-54F5-634B-FEDBB0223650}"/>
              </a:ext>
            </a:extLst>
          </p:cNvPr>
          <p:cNvSpPr txBox="1"/>
          <p:nvPr/>
        </p:nvSpPr>
        <p:spPr>
          <a:xfrm>
            <a:off x="8515548" y="2017877"/>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t>Điều</a:t>
            </a:r>
            <a:r>
              <a:rPr lang="en-US" b="1"/>
              <a:t> </a:t>
            </a:r>
            <a:r>
              <a:rPr lang="en-US" b="1" err="1"/>
              <a:t>kiện</a:t>
            </a:r>
            <a:r>
              <a:rPr lang="en-US" b="1"/>
              <a:t> </a:t>
            </a:r>
            <a:r>
              <a:rPr lang="en-US" b="1" err="1"/>
              <a:t>kiểm</a:t>
            </a:r>
            <a:r>
              <a:rPr lang="en-US" b="1"/>
              <a:t> </a:t>
            </a:r>
            <a:r>
              <a:rPr lang="en-US" b="1" err="1"/>
              <a:t>tra</a:t>
            </a:r>
            <a:r>
              <a:rPr lang="en-US" b="1"/>
              <a:t> </a:t>
            </a:r>
            <a:r>
              <a:rPr lang="en-US" b="1" err="1"/>
              <a:t>cuối</a:t>
            </a:r>
            <a:r>
              <a:rPr lang="en-US" b="1"/>
              <a:t> :</a:t>
            </a:r>
          </a:p>
        </p:txBody>
      </p:sp>
      <p:sp>
        <p:nvSpPr>
          <p:cNvPr id="13" name="TextBox 12">
            <a:extLst>
              <a:ext uri="{FF2B5EF4-FFF2-40B4-BE49-F238E27FC236}">
                <a16:creationId xmlns:a16="http://schemas.microsoft.com/office/drawing/2014/main" id="{690CEE27-BB71-C668-E305-E322AE1B6D81}"/>
              </a:ext>
            </a:extLst>
          </p:cNvPr>
          <p:cNvSpPr txBox="1"/>
          <p:nvPr/>
        </p:nvSpPr>
        <p:spPr>
          <a:xfrm>
            <a:off x="8511914" y="2417704"/>
            <a:ext cx="336950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err="1">
                <a:ea typeface="+mn-lt"/>
                <a:cs typeface="+mn-lt"/>
              </a:rPr>
              <a:t>Giữ</a:t>
            </a:r>
            <a:r>
              <a:rPr lang="en-US">
                <a:ea typeface="+mn-lt"/>
                <a:cs typeface="+mn-lt"/>
              </a:rPr>
              <a:t> </a:t>
            </a:r>
            <a:r>
              <a:rPr lang="en-US" err="1">
                <a:ea typeface="+mn-lt"/>
                <a:cs typeface="+mn-lt"/>
              </a:rPr>
              <a:t>nguyên</a:t>
            </a:r>
            <a:r>
              <a:rPr lang="en-US">
                <a:ea typeface="+mn-lt"/>
                <a:cs typeface="+mn-lt"/>
              </a:rPr>
              <a:t> start </a:t>
            </a:r>
            <a:r>
              <a:rPr lang="en-US" err="1">
                <a:ea typeface="+mn-lt"/>
                <a:cs typeface="+mn-lt"/>
              </a:rPr>
              <a:t>và</a:t>
            </a:r>
            <a:r>
              <a:rPr lang="en-US">
                <a:ea typeface="+mn-lt"/>
                <a:cs typeface="+mn-lt"/>
              </a:rPr>
              <a:t> goal</a:t>
            </a:r>
            <a:endParaRPr lang="en-US"/>
          </a:p>
          <a:p>
            <a:pPr marL="285750" indent="-285750">
              <a:buFont typeface="Calibri"/>
              <a:buChar char="-"/>
            </a:pPr>
            <a:r>
              <a:rPr lang="en-US" err="1">
                <a:ea typeface="+mn-lt"/>
                <a:cs typeface="+mn-lt"/>
              </a:rPr>
              <a:t>Vị</a:t>
            </a:r>
            <a:r>
              <a:rPr lang="en-US">
                <a:ea typeface="+mn-lt"/>
                <a:cs typeface="+mn-lt"/>
              </a:rPr>
              <a:t> </a:t>
            </a:r>
            <a:r>
              <a:rPr lang="en-US" err="1">
                <a:ea typeface="+mn-lt"/>
                <a:cs typeface="+mn-lt"/>
              </a:rPr>
              <a:t>trí</a:t>
            </a:r>
            <a:r>
              <a:rPr lang="en-US">
                <a:ea typeface="+mn-lt"/>
                <a:cs typeface="+mn-lt"/>
              </a:rPr>
              <a:t> </a:t>
            </a:r>
            <a:r>
              <a:rPr lang="en-US" err="1">
                <a:ea typeface="+mn-lt"/>
                <a:cs typeface="+mn-lt"/>
              </a:rPr>
              <a:t>nối</a:t>
            </a:r>
            <a:r>
              <a:rPr lang="en-US">
                <a:ea typeface="+mn-lt"/>
                <a:cs typeface="+mn-lt"/>
              </a:rPr>
              <a:t> </a:t>
            </a:r>
            <a:r>
              <a:rPr lang="en-US" err="1">
                <a:ea typeface="+mn-lt"/>
                <a:cs typeface="+mn-lt"/>
              </a:rPr>
              <a:t>liên</a:t>
            </a:r>
            <a:r>
              <a:rPr lang="en-US">
                <a:ea typeface="+mn-lt"/>
                <a:cs typeface="+mn-lt"/>
              </a:rPr>
              <a:t> </a:t>
            </a:r>
            <a:r>
              <a:rPr lang="en-US" err="1">
                <a:ea typeface="+mn-lt"/>
                <a:cs typeface="+mn-lt"/>
              </a:rPr>
              <a:t>tục</a:t>
            </a:r>
            <a:r>
              <a:rPr lang="en-US">
                <a:ea typeface="+mn-lt"/>
                <a:cs typeface="+mn-lt"/>
              </a:rPr>
              <a:t>; yaw </a:t>
            </a:r>
            <a:r>
              <a:rPr lang="en-US" err="1">
                <a:ea typeface="+mn-lt"/>
                <a:cs typeface="+mn-lt"/>
              </a:rPr>
              <a:t>theo</a:t>
            </a:r>
            <a:r>
              <a:rPr lang="en-US">
                <a:ea typeface="+mn-lt"/>
                <a:cs typeface="+mn-lt"/>
              </a:rPr>
              <a:t> </a:t>
            </a:r>
            <a:r>
              <a:rPr lang="en-US" err="1">
                <a:ea typeface="+mn-lt"/>
                <a:cs typeface="+mn-lt"/>
              </a:rPr>
              <a:t>tiếp</a:t>
            </a:r>
            <a:r>
              <a:rPr lang="en-US">
                <a:ea typeface="+mn-lt"/>
                <a:cs typeface="+mn-lt"/>
              </a:rPr>
              <a:t> </a:t>
            </a:r>
            <a:r>
              <a:rPr lang="en-US" err="1">
                <a:ea typeface="+mn-lt"/>
                <a:cs typeface="+mn-lt"/>
              </a:rPr>
              <a:t>tuyến</a:t>
            </a:r>
            <a:r>
              <a:rPr lang="en-US">
                <a:ea typeface="+mn-lt"/>
                <a:cs typeface="+mn-lt"/>
              </a:rPr>
              <a:t> </a:t>
            </a:r>
            <a:r>
              <a:rPr lang="en-US" err="1">
                <a:ea typeface="+mn-lt"/>
                <a:cs typeface="+mn-lt"/>
              </a:rPr>
              <a:t>hoặc</a:t>
            </a:r>
            <a:r>
              <a:rPr lang="en-US">
                <a:ea typeface="+mn-lt"/>
                <a:cs typeface="+mn-lt"/>
              </a:rPr>
              <a:t> </a:t>
            </a:r>
            <a:r>
              <a:rPr lang="en-US" err="1">
                <a:ea typeface="+mn-lt"/>
                <a:cs typeface="+mn-lt"/>
              </a:rPr>
              <a:t>trạng</a:t>
            </a:r>
            <a:r>
              <a:rPr lang="en-US">
                <a:ea typeface="+mn-lt"/>
                <a:cs typeface="+mn-lt"/>
              </a:rPr>
              <a:t> </a:t>
            </a:r>
            <a:r>
              <a:rPr lang="en-US" err="1">
                <a:ea typeface="+mn-lt"/>
                <a:cs typeface="+mn-lt"/>
              </a:rPr>
              <a:t>thái</a:t>
            </a:r>
            <a:r>
              <a:rPr lang="en-US">
                <a:ea typeface="+mn-lt"/>
                <a:cs typeface="+mn-lt"/>
              </a:rPr>
              <a:t> Pivot</a:t>
            </a:r>
            <a:endParaRPr lang="en-US"/>
          </a:p>
          <a:p>
            <a:pPr marL="285750" indent="-285750">
              <a:buFont typeface="Calibri"/>
              <a:buChar char="-"/>
            </a:pPr>
            <a:r>
              <a:rPr lang="en-US">
                <a:ea typeface="+mn-lt"/>
                <a:cs typeface="+mn-lt"/>
              </a:rPr>
              <a:t>Pivot </a:t>
            </a:r>
            <a:r>
              <a:rPr lang="en-US" err="1">
                <a:ea typeface="+mn-lt"/>
                <a:cs typeface="+mn-lt"/>
              </a:rPr>
              <a:t>giữ</a:t>
            </a:r>
            <a:r>
              <a:rPr lang="en-US">
                <a:ea typeface="+mn-lt"/>
                <a:cs typeface="+mn-lt"/>
              </a:rPr>
              <a:t> </a:t>
            </a:r>
            <a:r>
              <a:rPr lang="en-US" err="1">
                <a:ea typeface="+mn-lt"/>
                <a:cs typeface="+mn-lt"/>
              </a:rPr>
              <a:t>hai</a:t>
            </a:r>
            <a:r>
              <a:rPr lang="en-US">
                <a:ea typeface="+mn-lt"/>
                <a:cs typeface="+mn-lt"/>
              </a:rPr>
              <a:t> pose </a:t>
            </a:r>
            <a:r>
              <a:rPr lang="en-US" err="1">
                <a:ea typeface="+mn-lt"/>
                <a:cs typeface="+mn-lt"/>
              </a:rPr>
              <a:t>cùng</a:t>
            </a:r>
            <a:r>
              <a:rPr lang="en-US">
                <a:ea typeface="+mn-lt"/>
                <a:cs typeface="+mn-lt"/>
              </a:rPr>
              <a:t> </a:t>
            </a:r>
            <a:r>
              <a:rPr lang="en-US" err="1">
                <a:ea typeface="+mn-lt"/>
                <a:cs typeface="+mn-lt"/>
              </a:rPr>
              <a:t>vị</a:t>
            </a:r>
            <a:r>
              <a:rPr lang="en-US">
                <a:ea typeface="+mn-lt"/>
                <a:cs typeface="+mn-lt"/>
              </a:rPr>
              <a:t> </a:t>
            </a:r>
            <a:r>
              <a:rPr lang="en-US" err="1">
                <a:ea typeface="+mn-lt"/>
                <a:cs typeface="+mn-lt"/>
              </a:rPr>
              <a:t>trí</a:t>
            </a:r>
            <a:r>
              <a:rPr lang="en-US">
                <a:ea typeface="+mn-lt"/>
                <a:cs typeface="+mn-lt"/>
              </a:rPr>
              <a:t> </a:t>
            </a:r>
            <a:r>
              <a:rPr lang="en-US" err="1">
                <a:ea typeface="+mn-lt"/>
                <a:cs typeface="+mn-lt"/>
              </a:rPr>
              <a:t>nhưng</a:t>
            </a:r>
            <a:r>
              <a:rPr lang="en-US">
                <a:ea typeface="+mn-lt"/>
                <a:cs typeface="+mn-lt"/>
              </a:rPr>
              <a:t> </a:t>
            </a:r>
            <a:r>
              <a:rPr lang="en-US" err="1">
                <a:ea typeface="+mn-lt"/>
                <a:cs typeface="+mn-lt"/>
              </a:rPr>
              <a:t>khác</a:t>
            </a:r>
            <a:r>
              <a:rPr lang="en-US">
                <a:ea typeface="+mn-lt"/>
                <a:cs typeface="+mn-lt"/>
              </a:rPr>
              <a:t> yaw</a:t>
            </a:r>
            <a:endParaRPr lang="en-US"/>
          </a:p>
          <a:p>
            <a:pPr marL="285750" indent="-285750">
              <a:buFont typeface="Calibri"/>
              <a:buChar char="-"/>
            </a:pPr>
            <a:r>
              <a:rPr lang="en-US">
                <a:ea typeface="+mn-lt"/>
                <a:cs typeface="+mn-lt"/>
              </a:rPr>
              <a:t>Khoảng </a:t>
            </a:r>
            <a:r>
              <a:rPr lang="en-US" err="1">
                <a:ea typeface="+mn-lt"/>
                <a:cs typeface="+mn-lt"/>
              </a:rPr>
              <a:t>lấy</a:t>
            </a:r>
            <a:r>
              <a:rPr lang="en-US">
                <a:ea typeface="+mn-lt"/>
                <a:cs typeface="+mn-lt"/>
              </a:rPr>
              <a:t> </a:t>
            </a:r>
            <a:r>
              <a:rPr lang="en-US" err="1">
                <a:ea typeface="+mn-lt"/>
                <a:cs typeface="+mn-lt"/>
              </a:rPr>
              <a:t>mẫu</a:t>
            </a:r>
            <a:r>
              <a:rPr lang="en-US">
                <a:ea typeface="+mn-lt"/>
                <a:cs typeface="+mn-lt"/>
              </a:rPr>
              <a:t> 0,05 m </a:t>
            </a:r>
            <a:r>
              <a:rPr lang="en-US" err="1">
                <a:ea typeface="+mn-lt"/>
                <a:cs typeface="+mn-lt"/>
              </a:rPr>
              <a:t>trên</a:t>
            </a:r>
            <a:r>
              <a:rPr lang="en-US">
                <a:ea typeface="+mn-lt"/>
                <a:cs typeface="+mn-lt"/>
              </a:rPr>
              <a:t> </a:t>
            </a:r>
            <a:r>
              <a:rPr lang="en-US" err="1">
                <a:ea typeface="+mn-lt"/>
                <a:cs typeface="+mn-lt"/>
              </a:rPr>
              <a:t>các</a:t>
            </a:r>
            <a:r>
              <a:rPr lang="en-US">
                <a:ea typeface="+mn-lt"/>
                <a:cs typeface="+mn-lt"/>
              </a:rPr>
              <a:t> </a:t>
            </a:r>
            <a:r>
              <a:rPr lang="en-US" err="1">
                <a:ea typeface="+mn-lt"/>
                <a:cs typeface="+mn-lt"/>
              </a:rPr>
              <a:t>đoạn</a:t>
            </a:r>
            <a:r>
              <a:rPr lang="en-US">
                <a:ea typeface="+mn-lt"/>
                <a:cs typeface="+mn-lt"/>
              </a:rPr>
              <a:t> </a:t>
            </a:r>
            <a:r>
              <a:rPr lang="en-US" err="1">
                <a:ea typeface="+mn-lt"/>
                <a:cs typeface="+mn-lt"/>
              </a:rPr>
              <a:t>tịnh</a:t>
            </a:r>
            <a:r>
              <a:rPr lang="en-US">
                <a:ea typeface="+mn-lt"/>
                <a:cs typeface="+mn-lt"/>
              </a:rPr>
              <a:t> </a:t>
            </a:r>
            <a:r>
              <a:rPr lang="en-US" err="1">
                <a:ea typeface="+mn-lt"/>
                <a:cs typeface="+mn-lt"/>
              </a:rPr>
              <a:t>tiến</a:t>
            </a:r>
            <a:endParaRPr lang="en-US" err="1"/>
          </a:p>
          <a:p>
            <a:pPr marL="285750" indent="-285750">
              <a:buFont typeface="Calibri"/>
              <a:buChar char="-"/>
            </a:pPr>
            <a:r>
              <a:rPr lang="en-US">
                <a:ea typeface="+mn-lt"/>
                <a:cs typeface="+mn-lt"/>
              </a:rPr>
              <a:t>Các </a:t>
            </a:r>
            <a:r>
              <a:rPr lang="en-US" err="1">
                <a:ea typeface="+mn-lt"/>
                <a:cs typeface="+mn-lt"/>
              </a:rPr>
              <a:t>vùng</a:t>
            </a:r>
            <a:r>
              <a:rPr lang="en-US">
                <a:ea typeface="+mn-lt"/>
                <a:cs typeface="+mn-lt"/>
              </a:rPr>
              <a:t> trim </a:t>
            </a:r>
            <a:r>
              <a:rPr lang="en-US" err="1">
                <a:ea typeface="+mn-lt"/>
                <a:cs typeface="+mn-lt"/>
              </a:rPr>
              <a:t>không</a:t>
            </a:r>
            <a:r>
              <a:rPr lang="en-US">
                <a:ea typeface="+mn-lt"/>
                <a:cs typeface="+mn-lt"/>
              </a:rPr>
              <a:t> </a:t>
            </a:r>
            <a:r>
              <a:rPr lang="en-US" err="1">
                <a:ea typeface="+mn-lt"/>
                <a:cs typeface="+mn-lt"/>
              </a:rPr>
              <a:t>chồng</a:t>
            </a:r>
            <a:r>
              <a:rPr lang="en-US">
                <a:ea typeface="+mn-lt"/>
                <a:cs typeface="+mn-lt"/>
              </a:rPr>
              <a:t> </a:t>
            </a:r>
            <a:r>
              <a:rPr lang="en-US" err="1">
                <a:ea typeface="+mn-lt"/>
                <a:cs typeface="+mn-lt"/>
              </a:rPr>
              <a:t>lấn</a:t>
            </a:r>
            <a:endParaRPr lang="en-US" err="1"/>
          </a:p>
          <a:p>
            <a:pPr marL="285750" indent="-285750">
              <a:buFont typeface="Calibri"/>
              <a:buChar char="-"/>
            </a:pPr>
            <a:r>
              <a:rPr lang="en-US" err="1">
                <a:ea typeface="+mn-lt"/>
                <a:cs typeface="+mn-lt"/>
              </a:rPr>
              <a:t>Mọi</a:t>
            </a:r>
            <a:r>
              <a:rPr lang="en-US">
                <a:ea typeface="+mn-lt"/>
                <a:cs typeface="+mn-lt"/>
              </a:rPr>
              <a:t> Transition </a:t>
            </a:r>
            <a:r>
              <a:rPr lang="en-US" err="1">
                <a:ea typeface="+mn-lt"/>
                <a:cs typeface="+mn-lt"/>
              </a:rPr>
              <a:t>vẫn</a:t>
            </a:r>
            <a:r>
              <a:rPr lang="en-US">
                <a:ea typeface="+mn-lt"/>
                <a:cs typeface="+mn-lt"/>
              </a:rPr>
              <a:t> </a:t>
            </a:r>
            <a:r>
              <a:rPr lang="en-US" err="1">
                <a:ea typeface="+mn-lt"/>
                <a:cs typeface="+mn-lt"/>
              </a:rPr>
              <a:t>đạt</a:t>
            </a:r>
            <a:r>
              <a:rPr lang="en-US">
                <a:ea typeface="+mn-lt"/>
                <a:cs typeface="+mn-lt"/>
              </a:rPr>
              <a:t> </a:t>
            </a:r>
            <a:r>
              <a:rPr lang="en-US" err="1">
                <a:ea typeface="+mn-lt"/>
                <a:cs typeface="+mn-lt"/>
              </a:rPr>
              <a:t>cổng</a:t>
            </a:r>
            <a:r>
              <a:rPr lang="en-US">
                <a:ea typeface="+mn-lt"/>
                <a:cs typeface="+mn-lt"/>
              </a:rPr>
              <a:t> </a:t>
            </a:r>
            <a:r>
              <a:rPr lang="en-US" err="1">
                <a:ea typeface="+mn-lt"/>
                <a:cs typeface="+mn-lt"/>
              </a:rPr>
              <a:t>thời</a:t>
            </a:r>
            <a:r>
              <a:rPr lang="en-US">
                <a:ea typeface="+mn-lt"/>
                <a:cs typeface="+mn-lt"/>
              </a:rPr>
              <a:t> </a:t>
            </a:r>
            <a:r>
              <a:rPr lang="en-US" err="1">
                <a:ea typeface="+mn-lt"/>
                <a:cs typeface="+mn-lt"/>
              </a:rPr>
              <a:t>gian</a:t>
            </a:r>
            <a:endParaRPr lang="en-US" err="1"/>
          </a:p>
          <a:p>
            <a:pPr marL="285750" indent="-285750">
              <a:buFont typeface="Calibri"/>
              <a:buChar char="-"/>
            </a:pPr>
            <a:r>
              <a:rPr lang="en-US">
                <a:ea typeface="+mn-lt"/>
                <a:cs typeface="+mn-lt"/>
              </a:rPr>
              <a:t>Swept-footprint an </a:t>
            </a:r>
            <a:r>
              <a:rPr lang="en-US" err="1">
                <a:ea typeface="+mn-lt"/>
                <a:cs typeface="+mn-lt"/>
              </a:rPr>
              <a:t>toàn</a:t>
            </a:r>
            <a:r>
              <a:rPr lang="en-US">
                <a:ea typeface="+mn-lt"/>
                <a:cs typeface="+mn-lt"/>
              </a:rPr>
              <a:t> </a:t>
            </a:r>
            <a:r>
              <a:rPr lang="en-US" err="1">
                <a:ea typeface="+mn-lt"/>
                <a:cs typeface="+mn-lt"/>
              </a:rPr>
              <a:t>trên</a:t>
            </a:r>
            <a:r>
              <a:rPr lang="en-US">
                <a:ea typeface="+mn-lt"/>
                <a:cs typeface="+mn-lt"/>
              </a:rPr>
              <a:t> </a:t>
            </a:r>
            <a:r>
              <a:rPr lang="en-US" err="1">
                <a:ea typeface="+mn-lt"/>
                <a:cs typeface="+mn-lt"/>
              </a:rPr>
              <a:t>toàn</a:t>
            </a:r>
            <a:r>
              <a:rPr lang="en-US">
                <a:ea typeface="+mn-lt"/>
                <a:cs typeface="+mn-lt"/>
              </a:rPr>
              <a:t> path</a:t>
            </a:r>
            <a:endParaRPr lang="en-US"/>
          </a:p>
          <a:p>
            <a:pPr algn="l"/>
            <a:endParaRPr lang="en-US"/>
          </a:p>
        </p:txBody>
      </p:sp>
    </p:spTree>
    <p:extLst>
      <p:ext uri="{BB962C8B-B14F-4D97-AF65-F5344CB8AC3E}">
        <p14:creationId xmlns:p14="http://schemas.microsoft.com/office/powerpoint/2010/main" val="37689674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86FD5-E26E-2AFD-43D4-58F452ADC7B8}"/>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75F59580-BF72-4D1B-2BBB-198F3D1696F8}"/>
              </a:ext>
            </a:extLst>
          </p:cNvPr>
          <p:cNvSpPr txBox="1"/>
          <p:nvPr/>
        </p:nvSpPr>
        <p:spPr>
          <a:xfrm>
            <a:off x="594360" y="530352"/>
            <a:ext cx="10698480" cy="886397"/>
          </a:xfrm>
          <a:prstGeom prst="rect">
            <a:avLst/>
          </a:prstGeom>
          <a:noFill/>
        </p:spPr>
        <p:txBody>
          <a:bodyPr wrap="square" lIns="27432" tIns="27432" rIns="27432" bIns="27432" anchor="t">
            <a:spAutoFit/>
          </a:bodyPr>
          <a:lstStyle/>
          <a:p>
            <a:pPr>
              <a:defRPr sz="2700" b="1" i="0">
                <a:solidFill>
                  <a:srgbClr val="102A43"/>
                </a:solidFill>
                <a:latin typeface="Arial"/>
              </a:defRPr>
            </a:pPr>
            <a:r>
              <a:rPr lang="vi-VN"/>
              <a:t>III. </a:t>
            </a:r>
            <a:r>
              <a:rPr lang="vi-VN">
                <a:ea typeface="+mn-lt"/>
                <a:cs typeface="+mn-lt"/>
              </a:rPr>
              <a:t>THỰC NGHIỆM &amp; KẾT QUẢ</a:t>
            </a:r>
            <a:endParaRPr lang="en-US"/>
          </a:p>
          <a:p>
            <a:pPr>
              <a:defRPr sz="2700" b="1" i="0">
                <a:solidFill>
                  <a:srgbClr val="102A43"/>
                </a:solidFill>
                <a:latin typeface="Arial"/>
              </a:defRPr>
            </a:pPr>
            <a:endParaRPr lang="vi-VN">
              <a:cs typeface="Arial"/>
            </a:endParaRPr>
          </a:p>
        </p:txBody>
      </p:sp>
      <p:sp>
        <p:nvSpPr>
          <p:cNvPr id="4" name="TextBox 3">
            <a:extLst>
              <a:ext uri="{FF2B5EF4-FFF2-40B4-BE49-F238E27FC236}">
                <a16:creationId xmlns:a16="http://schemas.microsoft.com/office/drawing/2014/main" id="{01F098B1-561A-5B84-F3B3-796E38E9232B}"/>
              </a:ext>
            </a:extLst>
          </p:cNvPr>
          <p:cNvSpPr txBox="1"/>
          <p:nvPr/>
        </p:nvSpPr>
        <p:spPr>
          <a:xfrm>
            <a:off x="596747" y="1032831"/>
            <a:ext cx="6096000"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US" sz="2500" b="1" i="0" kern="1200">
                <a:solidFill>
                  <a:srgbClr val="102A43"/>
                </a:solidFill>
                <a:latin typeface="Noto Sans"/>
                <a:ea typeface="+mn-ea"/>
                <a:cs typeface="+mn-cs"/>
              </a:rPr>
              <a:t>Mô hình mô phỏng gồm những gì?</a:t>
            </a:r>
          </a:p>
          <a:p>
            <a:pPr algn="ctr"/>
            <a:endParaRPr lang="en-US"/>
          </a:p>
        </p:txBody>
      </p:sp>
      <p:pic>
        <p:nvPicPr>
          <p:cNvPr id="6" name="Picture 5">
            <a:extLst>
              <a:ext uri="{FF2B5EF4-FFF2-40B4-BE49-F238E27FC236}">
                <a16:creationId xmlns:a16="http://schemas.microsoft.com/office/drawing/2014/main" id="{B930739D-DDB1-E75E-FD84-CC594D3D76DC}"/>
              </a:ext>
            </a:extLst>
          </p:cNvPr>
          <p:cNvPicPr>
            <a:picLocks noChangeAspect="1"/>
          </p:cNvPicPr>
          <p:nvPr/>
        </p:nvPicPr>
        <p:blipFill>
          <a:blip r:embed="rId2"/>
          <a:stretch>
            <a:fillRect/>
          </a:stretch>
        </p:blipFill>
        <p:spPr>
          <a:xfrm>
            <a:off x="0" y="1758396"/>
            <a:ext cx="12192000" cy="3341208"/>
          </a:xfrm>
          <a:prstGeom prst="rect">
            <a:avLst/>
          </a:prstGeom>
        </p:spPr>
      </p:pic>
      <p:sp>
        <p:nvSpPr>
          <p:cNvPr id="2" name="TextBox 1">
            <a:extLst>
              <a:ext uri="{FF2B5EF4-FFF2-40B4-BE49-F238E27FC236}">
                <a16:creationId xmlns:a16="http://schemas.microsoft.com/office/drawing/2014/main" id="{2C48EFE2-41ED-B44A-34A8-31C8B7BB301F}"/>
              </a:ext>
            </a:extLst>
          </p:cNvPr>
          <p:cNvSpPr txBox="1"/>
          <p:nvPr/>
        </p:nvSpPr>
        <p:spPr>
          <a:xfrm>
            <a:off x="3406048" y="5439577"/>
            <a:ext cx="6096000"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b="1" err="1">
                <a:solidFill>
                  <a:srgbClr val="102A43"/>
                </a:solidFill>
                <a:latin typeface="Noto Sans"/>
                <a:ea typeface="Noto Sans"/>
                <a:cs typeface="Noto Sans"/>
              </a:rPr>
              <a:t>Phần</a:t>
            </a:r>
            <a:r>
              <a:rPr lang="en-US" sz="2500" b="1">
                <a:solidFill>
                  <a:srgbClr val="102A43"/>
                </a:solidFill>
                <a:latin typeface="Noto Sans"/>
                <a:ea typeface="Noto Sans"/>
                <a:cs typeface="Noto Sans"/>
              </a:rPr>
              <a:t> </a:t>
            </a:r>
            <a:r>
              <a:rPr lang="en-US" sz="2500" b="1" err="1">
                <a:solidFill>
                  <a:srgbClr val="102A43"/>
                </a:solidFill>
                <a:latin typeface="Noto Sans"/>
                <a:ea typeface="Noto Sans"/>
                <a:cs typeface="Noto Sans"/>
              </a:rPr>
              <a:t>còn</a:t>
            </a:r>
            <a:r>
              <a:rPr lang="en-US" sz="2500" b="1">
                <a:solidFill>
                  <a:srgbClr val="102A43"/>
                </a:solidFill>
                <a:latin typeface="Noto Sans"/>
                <a:ea typeface="Noto Sans"/>
                <a:cs typeface="Noto Sans"/>
              </a:rPr>
              <a:t> </a:t>
            </a:r>
            <a:r>
              <a:rPr lang="en-US" sz="2500" b="1" err="1">
                <a:solidFill>
                  <a:srgbClr val="102A43"/>
                </a:solidFill>
                <a:latin typeface="Noto Sans"/>
                <a:ea typeface="Noto Sans"/>
                <a:cs typeface="Noto Sans"/>
              </a:rPr>
              <a:t>lại</a:t>
            </a:r>
            <a:r>
              <a:rPr lang="en-US" sz="2500" b="1">
                <a:solidFill>
                  <a:srgbClr val="102A43"/>
                </a:solidFill>
                <a:latin typeface="Noto Sans"/>
                <a:ea typeface="Noto Sans"/>
                <a:cs typeface="Noto Sans"/>
              </a:rPr>
              <a:t> </a:t>
            </a:r>
            <a:r>
              <a:rPr lang="en-US" sz="2500" b="1" err="1">
                <a:solidFill>
                  <a:srgbClr val="102A43"/>
                </a:solidFill>
                <a:latin typeface="Noto Sans"/>
                <a:ea typeface="Noto Sans"/>
                <a:cs typeface="Noto Sans"/>
              </a:rPr>
              <a:t>của</a:t>
            </a:r>
            <a:r>
              <a:rPr lang="en-US" sz="2500" b="1">
                <a:solidFill>
                  <a:srgbClr val="102A43"/>
                </a:solidFill>
                <a:latin typeface="Noto Sans"/>
                <a:ea typeface="Noto Sans"/>
                <a:cs typeface="Noto Sans"/>
              </a:rPr>
              <a:t> </a:t>
            </a:r>
            <a:r>
              <a:rPr lang="en-US" sz="2500" b="1" err="1">
                <a:solidFill>
                  <a:srgbClr val="102A43"/>
                </a:solidFill>
                <a:latin typeface="Noto Sans"/>
                <a:ea typeface="Noto Sans"/>
                <a:cs typeface="Noto Sans"/>
              </a:rPr>
              <a:t>mô</a:t>
            </a:r>
            <a:r>
              <a:rPr lang="en-US" sz="2500" b="1">
                <a:solidFill>
                  <a:srgbClr val="102A43"/>
                </a:solidFill>
                <a:latin typeface="Noto Sans"/>
                <a:ea typeface="Noto Sans"/>
                <a:cs typeface="Noto Sans"/>
              </a:rPr>
              <a:t> </a:t>
            </a:r>
            <a:r>
              <a:rPr lang="en-US" sz="2500" b="1" err="1">
                <a:solidFill>
                  <a:srgbClr val="102A43"/>
                </a:solidFill>
                <a:latin typeface="Noto Sans"/>
                <a:ea typeface="Noto Sans"/>
                <a:cs typeface="Noto Sans"/>
              </a:rPr>
              <a:t>phỏng</a:t>
            </a:r>
            <a:r>
              <a:rPr lang="en-US" sz="2500" b="1">
                <a:solidFill>
                  <a:srgbClr val="102A43"/>
                </a:solidFill>
                <a:latin typeface="Noto Sans"/>
                <a:ea typeface="Noto Sans"/>
                <a:cs typeface="Noto Sans"/>
              </a:rPr>
              <a:t> </a:t>
            </a:r>
            <a:r>
              <a:rPr lang="en-US" sz="2500" b="1" err="1">
                <a:solidFill>
                  <a:srgbClr val="102A43"/>
                </a:solidFill>
                <a:latin typeface="Noto Sans"/>
                <a:ea typeface="Noto Sans"/>
                <a:cs typeface="Noto Sans"/>
              </a:rPr>
              <a:t>trong</a:t>
            </a:r>
            <a:r>
              <a:rPr lang="en-US" sz="2500" b="1">
                <a:solidFill>
                  <a:srgbClr val="102A43"/>
                </a:solidFill>
                <a:latin typeface="Noto Sans"/>
                <a:ea typeface="Noto Sans"/>
                <a:cs typeface="Noto Sans"/>
              </a:rPr>
              <a:t> file PSTMO.PDF</a:t>
            </a:r>
            <a:endParaRPr lang="en-US" sz="2500" b="1" i="0" kern="1200">
              <a:solidFill>
                <a:srgbClr val="102A43"/>
              </a:solidFill>
              <a:latin typeface="Noto Sans"/>
              <a:ea typeface="Noto Sans"/>
              <a:cs typeface="Noto Sans"/>
            </a:endParaRPr>
          </a:p>
          <a:p>
            <a:pPr algn="ctr"/>
            <a:endParaRPr lang="en-US"/>
          </a:p>
        </p:txBody>
      </p:sp>
    </p:spTree>
    <p:extLst>
      <p:ext uri="{BB962C8B-B14F-4D97-AF65-F5344CB8AC3E}">
        <p14:creationId xmlns:p14="http://schemas.microsoft.com/office/powerpoint/2010/main" val="644406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EE549-FFE2-3D20-3BB8-E1C2655671FE}"/>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8961B28-01B0-19F4-BB9C-6F7FA5C9DED4}"/>
              </a:ext>
            </a:extLst>
          </p:cNvPr>
          <p:cNvGraphicFramePr>
            <a:graphicFrameLocks noGrp="1"/>
          </p:cNvGraphicFramePr>
          <p:nvPr>
            <p:extLst>
              <p:ext uri="{D42A27DB-BD31-4B8C-83A1-F6EECF244321}">
                <p14:modId xmlns:p14="http://schemas.microsoft.com/office/powerpoint/2010/main" val="618355423"/>
              </p:ext>
            </p:extLst>
          </p:nvPr>
        </p:nvGraphicFramePr>
        <p:xfrm>
          <a:off x="584200" y="786574"/>
          <a:ext cx="11023600" cy="5284851"/>
        </p:xfrm>
        <a:graphic>
          <a:graphicData uri="http://schemas.openxmlformats.org/drawingml/2006/table">
            <a:tbl>
              <a:tblPr firstRow="1" bandRow="1">
                <a:tableStyleId>{5C22544A-7EE6-4342-B048-85BDC9FD1C3A}</a:tableStyleId>
              </a:tblPr>
              <a:tblGrid>
                <a:gridCol w="2832100">
                  <a:extLst>
                    <a:ext uri="{9D8B030D-6E8A-4147-A177-3AD203B41FA5}">
                      <a16:colId xmlns:a16="http://schemas.microsoft.com/office/drawing/2014/main" val="3762501126"/>
                    </a:ext>
                  </a:extLst>
                </a:gridCol>
                <a:gridCol w="3251200">
                  <a:extLst>
                    <a:ext uri="{9D8B030D-6E8A-4147-A177-3AD203B41FA5}">
                      <a16:colId xmlns:a16="http://schemas.microsoft.com/office/drawing/2014/main" val="2638781688"/>
                    </a:ext>
                  </a:extLst>
                </a:gridCol>
                <a:gridCol w="4940300">
                  <a:extLst>
                    <a:ext uri="{9D8B030D-6E8A-4147-A177-3AD203B41FA5}">
                      <a16:colId xmlns:a16="http://schemas.microsoft.com/office/drawing/2014/main" val="4019193444"/>
                    </a:ext>
                  </a:extLst>
                </a:gridCol>
              </a:tblGrid>
              <a:tr h="406527">
                <a:tc>
                  <a:txBody>
                    <a:bodyPr/>
                    <a:lstStyle/>
                    <a:p>
                      <a:pPr marL="0" algn="ctr" rtl="0" eaLnBrk="1" latinLnBrk="0" hangingPunct="1">
                        <a:buNone/>
                      </a:pPr>
                      <a:r>
                        <a:rPr lang="en-US" sz="1600" b="1" kern="1200">
                          <a:solidFill>
                            <a:schemeClr val="tx1"/>
                          </a:solidFill>
                          <a:effectLst/>
                          <a:latin typeface="Noto Sans"/>
                        </a:rPr>
                        <a:t>English </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1" kern="1200" err="1">
                          <a:solidFill>
                            <a:schemeClr val="tx1"/>
                          </a:solidFill>
                          <a:effectLst/>
                          <a:latin typeface="Noto Sans"/>
                        </a:rPr>
                        <a:t>Tiếng</a:t>
                      </a:r>
                      <a:r>
                        <a:rPr lang="en-US" sz="1600" b="1" kern="1200">
                          <a:solidFill>
                            <a:schemeClr val="tx1"/>
                          </a:solidFill>
                          <a:effectLst/>
                          <a:latin typeface="Noto Sans"/>
                        </a:rPr>
                        <a:t> Việt </a:t>
                      </a:r>
                    </a:p>
                  </a:txBody>
                  <a:tcPr marL="0" marR="0" marT="0" marB="0" anchor="ctr">
                    <a:lnL>
                      <a:noFill/>
                    </a:lnL>
                    <a:lnR>
                      <a:noFill/>
                    </a:lnR>
                    <a:lnT>
                      <a:noFill/>
                    </a:lnT>
                    <a:lnB>
                      <a:noFill/>
                    </a:lnB>
                    <a:noFill/>
                  </a:tcPr>
                </a:tc>
                <a:tc>
                  <a:txBody>
                    <a:bodyPr/>
                    <a:lstStyle/>
                    <a:p>
                      <a:pPr marL="0" algn="ctr" rtl="0" eaLnBrk="1" latinLnBrk="0" hangingPunct="1">
                        <a:buNone/>
                      </a:pPr>
                      <a:r>
                        <a:rPr lang="en-US" sz="1600" b="1" kern="1200">
                          <a:solidFill>
                            <a:schemeClr val="tx1"/>
                          </a:solidFill>
                          <a:effectLst/>
                          <a:latin typeface="Noto Sans"/>
                        </a:rPr>
                        <a:t>Ý </a:t>
                      </a:r>
                      <a:r>
                        <a:rPr lang="en-US" sz="1600" b="1" kern="1200" err="1">
                          <a:solidFill>
                            <a:schemeClr val="tx1"/>
                          </a:solidFill>
                          <a:effectLst/>
                          <a:latin typeface="Noto Sans"/>
                        </a:rPr>
                        <a:t>nghĩa</a:t>
                      </a:r>
                      <a:r>
                        <a:rPr lang="en-US" sz="1600" b="1" kern="1200">
                          <a:solidFill>
                            <a:schemeClr val="tx1"/>
                          </a:solidFill>
                          <a:effectLst/>
                          <a:latin typeface="Noto Sans"/>
                        </a:rPr>
                        <a:t> </a:t>
                      </a:r>
                      <a:r>
                        <a:rPr lang="en-US" sz="1600" b="1" kern="1200" err="1">
                          <a:solidFill>
                            <a:schemeClr val="tx1"/>
                          </a:solidFill>
                          <a:effectLst/>
                          <a:latin typeface="Noto Sans"/>
                        </a:rPr>
                        <a:t>trong</a:t>
                      </a:r>
                      <a:r>
                        <a:rPr lang="en-US" sz="1600" b="1" kern="1200">
                          <a:solidFill>
                            <a:schemeClr val="tx1"/>
                          </a:solidFill>
                          <a:effectLst/>
                          <a:latin typeface="Noto Sans"/>
                        </a:rPr>
                        <a:t> </a:t>
                      </a:r>
                      <a:r>
                        <a:rPr lang="en-US" sz="1600" b="1" kern="1200" err="1">
                          <a:solidFill>
                            <a:schemeClr val="tx1"/>
                          </a:solidFill>
                          <a:effectLst/>
                          <a:latin typeface="Noto Sans"/>
                        </a:rPr>
                        <a:t>báo</a:t>
                      </a:r>
                      <a:r>
                        <a:rPr lang="en-US" sz="1600" b="1" kern="1200">
                          <a:solidFill>
                            <a:schemeClr val="tx1"/>
                          </a:solidFill>
                          <a:effectLst/>
                          <a:latin typeface="Noto Sans"/>
                        </a:rPr>
                        <a:t> </a:t>
                      </a:r>
                      <a:r>
                        <a:rPr lang="en-US" sz="1600" b="1" kern="1200" err="1">
                          <a:solidFill>
                            <a:schemeClr val="tx1"/>
                          </a:solidFill>
                          <a:effectLst/>
                          <a:latin typeface="Noto Sans"/>
                        </a:rPr>
                        <a:t>cáo</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4149301222"/>
                  </a:ext>
                </a:extLst>
              </a:tr>
              <a:tr h="406527">
                <a:tc>
                  <a:txBody>
                    <a:bodyPr/>
                    <a:lstStyle/>
                    <a:p>
                      <a:pPr marL="0" algn="l" rtl="0" eaLnBrk="1" latinLnBrk="0" hangingPunct="1">
                        <a:buNone/>
                      </a:pPr>
                      <a:r>
                        <a:rPr lang="en-US" sz="1600" b="0" kern="1200">
                          <a:solidFill>
                            <a:schemeClr val="tx1"/>
                          </a:solidFill>
                          <a:effectLst/>
                          <a:latin typeface="Noto Sans"/>
                        </a:rPr>
                        <a:t>path</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đường</a:t>
                      </a:r>
                      <a:r>
                        <a:rPr lang="en-US" sz="1600" b="0" kern="1200">
                          <a:solidFill>
                            <a:schemeClr val="tx1"/>
                          </a:solidFill>
                          <a:effectLst/>
                          <a:latin typeface="Noto Sans"/>
                        </a:rPr>
                        <a:t> </a:t>
                      </a:r>
                      <a:r>
                        <a:rPr lang="en-US" sz="1600" b="0" kern="1200" err="1">
                          <a:solidFill>
                            <a:schemeClr val="tx1"/>
                          </a:solidFill>
                          <a:effectLst/>
                          <a:latin typeface="Noto Sans"/>
                        </a:rPr>
                        <a:t>đi</a:t>
                      </a:r>
                      <a:r>
                        <a:rPr lang="en-US" sz="1600" b="0" kern="1200">
                          <a:solidFill>
                            <a:schemeClr val="tx1"/>
                          </a:solidFill>
                          <a:effectLst/>
                          <a:latin typeface="Noto Sans"/>
                        </a:rPr>
                        <a:t> / </a:t>
                      </a:r>
                      <a:r>
                        <a:rPr lang="en-US" sz="1600" b="0" kern="1200" err="1">
                          <a:solidFill>
                            <a:schemeClr val="tx1"/>
                          </a:solidFill>
                          <a:effectLst/>
                          <a:latin typeface="Noto Sans"/>
                        </a:rPr>
                        <a:t>đường</a:t>
                      </a:r>
                      <a:r>
                        <a:rPr lang="en-US" sz="1600" b="0" kern="1200">
                          <a:solidFill>
                            <a:schemeClr val="tx1"/>
                          </a:solidFill>
                          <a:effectLst/>
                          <a:latin typeface="Noto Sans"/>
                        </a:rPr>
                        <a:t> </a:t>
                      </a:r>
                      <a:r>
                        <a:rPr lang="en-US" sz="1600" b="0" kern="1200" err="1">
                          <a:solidFill>
                            <a:schemeClr val="tx1"/>
                          </a:solidFill>
                          <a:effectLst/>
                          <a:latin typeface="Noto Sans"/>
                        </a:rPr>
                        <a:t>hình</a:t>
                      </a:r>
                      <a:r>
                        <a:rPr lang="en-US" sz="1600" b="0" kern="1200">
                          <a:solidFill>
                            <a:schemeClr val="tx1"/>
                          </a:solidFill>
                          <a:effectLst/>
                          <a:latin typeface="Noto Sans"/>
                        </a:rPr>
                        <a:t> </a:t>
                      </a:r>
                      <a:r>
                        <a:rPr lang="en-US" sz="1600" b="0" kern="1200" err="1">
                          <a:solidFill>
                            <a:schemeClr val="tx1"/>
                          </a:solidFill>
                          <a:effectLst/>
                          <a:latin typeface="Noto Sans"/>
                        </a:rPr>
                        <a:t>học</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Chuỗi</a:t>
                      </a:r>
                      <a:r>
                        <a:rPr lang="en-US" sz="1600" b="0" kern="1200">
                          <a:solidFill>
                            <a:schemeClr val="tx1"/>
                          </a:solidFill>
                          <a:effectLst/>
                          <a:latin typeface="Noto Sans"/>
                        </a:rPr>
                        <a:t> </a:t>
                      </a:r>
                      <a:r>
                        <a:rPr lang="en-US" sz="1600" b="0" kern="1200" err="1">
                          <a:solidFill>
                            <a:schemeClr val="tx1"/>
                          </a:solidFill>
                          <a:effectLst/>
                          <a:latin typeface="Noto Sans"/>
                        </a:rPr>
                        <a:t>tư</a:t>
                      </a:r>
                      <a:r>
                        <a:rPr lang="en-US" sz="1600" b="0" kern="1200">
                          <a:solidFill>
                            <a:schemeClr val="tx1"/>
                          </a:solidFill>
                          <a:effectLst/>
                          <a:latin typeface="Noto Sans"/>
                        </a:rPr>
                        <a:t> </a:t>
                      </a:r>
                      <a:r>
                        <a:rPr lang="en-US" sz="1600" b="0" kern="1200" err="1">
                          <a:solidFill>
                            <a:schemeClr val="tx1"/>
                          </a:solidFill>
                          <a:effectLst/>
                          <a:latin typeface="Noto Sans"/>
                        </a:rPr>
                        <a:t>thế</a:t>
                      </a:r>
                      <a:r>
                        <a:rPr lang="en-US" sz="1600" b="0" kern="1200">
                          <a:solidFill>
                            <a:schemeClr val="tx1"/>
                          </a:solidFill>
                          <a:effectLst/>
                          <a:latin typeface="Noto Sans"/>
                        </a:rPr>
                        <a:t> </a:t>
                      </a:r>
                      <a:r>
                        <a:rPr lang="en-US" sz="1600" b="0" kern="1200" err="1">
                          <a:solidFill>
                            <a:schemeClr val="tx1"/>
                          </a:solidFill>
                          <a:effectLst/>
                          <a:latin typeface="Noto Sans"/>
                        </a:rPr>
                        <a:t>chưa</a:t>
                      </a:r>
                      <a:r>
                        <a:rPr lang="en-US" sz="1600" b="0" kern="1200">
                          <a:solidFill>
                            <a:schemeClr val="tx1"/>
                          </a:solidFill>
                          <a:effectLst/>
                          <a:latin typeface="Noto Sans"/>
                        </a:rPr>
                        <a:t> </a:t>
                      </a:r>
                      <a:r>
                        <a:rPr lang="en-US" sz="1600" b="0" kern="1200" err="1">
                          <a:solidFill>
                            <a:schemeClr val="tx1"/>
                          </a:solidFill>
                          <a:effectLst/>
                          <a:latin typeface="Noto Sans"/>
                        </a:rPr>
                        <a:t>gắn</a:t>
                      </a:r>
                      <a:r>
                        <a:rPr lang="en-US" sz="1600" b="0" kern="1200">
                          <a:solidFill>
                            <a:schemeClr val="tx1"/>
                          </a:solidFill>
                          <a:effectLst/>
                          <a:latin typeface="Noto Sans"/>
                        </a:rPr>
                        <a:t> </a:t>
                      </a:r>
                      <a:r>
                        <a:rPr lang="en-US" sz="1600" b="0" kern="1200" err="1">
                          <a:solidFill>
                            <a:schemeClr val="tx1"/>
                          </a:solidFill>
                          <a:effectLst/>
                          <a:latin typeface="Noto Sans"/>
                        </a:rPr>
                        <a:t>thời</a:t>
                      </a:r>
                      <a:r>
                        <a:rPr lang="en-US" sz="1600" b="0" kern="1200">
                          <a:solidFill>
                            <a:schemeClr val="tx1"/>
                          </a:solidFill>
                          <a:effectLst/>
                          <a:latin typeface="Noto Sans"/>
                        </a:rPr>
                        <a:t> </a:t>
                      </a:r>
                      <a:r>
                        <a:rPr lang="en-US" sz="1600" b="0" kern="1200" err="1">
                          <a:solidFill>
                            <a:schemeClr val="tx1"/>
                          </a:solidFill>
                          <a:effectLst/>
                          <a:latin typeface="Noto Sans"/>
                        </a:rPr>
                        <a:t>gian</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2309632043"/>
                  </a:ext>
                </a:extLst>
              </a:tr>
              <a:tr h="406527">
                <a:tc>
                  <a:txBody>
                    <a:bodyPr/>
                    <a:lstStyle/>
                    <a:p>
                      <a:pPr marL="0" algn="l" rtl="0" eaLnBrk="1" latinLnBrk="0" hangingPunct="1">
                        <a:buNone/>
                      </a:pPr>
                      <a:r>
                        <a:rPr lang="en-US" sz="1600" b="0" kern="1200">
                          <a:solidFill>
                            <a:schemeClr val="tx1"/>
                          </a:solidFill>
                          <a:effectLst/>
                          <a:latin typeface="Noto Sans"/>
                        </a:rPr>
                        <a:t>trajectory</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quỹ</a:t>
                      </a:r>
                      <a:r>
                        <a:rPr lang="en-US" sz="1600" b="0" kern="1200">
                          <a:solidFill>
                            <a:schemeClr val="tx1"/>
                          </a:solidFill>
                          <a:effectLst/>
                          <a:latin typeface="Noto Sans"/>
                        </a:rPr>
                        <a:t> </a:t>
                      </a:r>
                      <a:r>
                        <a:rPr lang="en-US" sz="1600" b="0" kern="1200" err="1">
                          <a:solidFill>
                            <a:schemeClr val="tx1"/>
                          </a:solidFill>
                          <a:effectLst/>
                          <a:latin typeface="Noto Sans"/>
                        </a:rPr>
                        <a:t>đạo</a:t>
                      </a:r>
                      <a:r>
                        <a:rPr lang="en-US" sz="1600" b="0" kern="1200">
                          <a:solidFill>
                            <a:schemeClr val="tx1"/>
                          </a:solidFill>
                          <a:effectLst/>
                          <a:latin typeface="Noto Sans"/>
                        </a:rPr>
                        <a:t> </a:t>
                      </a:r>
                      <a:r>
                        <a:rPr lang="en-US" sz="1600" b="0" kern="1200" err="1">
                          <a:solidFill>
                            <a:schemeClr val="tx1"/>
                          </a:solidFill>
                          <a:effectLst/>
                          <a:latin typeface="Noto Sans"/>
                        </a:rPr>
                        <a:t>theo</a:t>
                      </a:r>
                      <a:r>
                        <a:rPr lang="en-US" sz="1600" b="0" kern="1200">
                          <a:solidFill>
                            <a:schemeClr val="tx1"/>
                          </a:solidFill>
                          <a:effectLst/>
                          <a:latin typeface="Noto Sans"/>
                        </a:rPr>
                        <a:t> </a:t>
                      </a:r>
                      <a:r>
                        <a:rPr lang="en-US" sz="1600" b="0" kern="1200" err="1">
                          <a:solidFill>
                            <a:schemeClr val="tx1"/>
                          </a:solidFill>
                          <a:effectLst/>
                          <a:latin typeface="Noto Sans"/>
                        </a:rPr>
                        <a:t>thời</a:t>
                      </a:r>
                      <a:r>
                        <a:rPr lang="en-US" sz="1600" b="0" kern="1200">
                          <a:solidFill>
                            <a:schemeClr val="tx1"/>
                          </a:solidFill>
                          <a:effectLst/>
                          <a:latin typeface="Noto Sans"/>
                        </a:rPr>
                        <a:t> </a:t>
                      </a:r>
                      <a:r>
                        <a:rPr lang="en-US" sz="1600" b="0" kern="1200" err="1">
                          <a:solidFill>
                            <a:schemeClr val="tx1"/>
                          </a:solidFill>
                          <a:effectLst/>
                          <a:latin typeface="Noto Sans"/>
                        </a:rPr>
                        <a:t>gian</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Có</a:t>
                      </a:r>
                      <a:r>
                        <a:rPr lang="en-US" sz="1600" b="0" kern="1200">
                          <a:solidFill>
                            <a:schemeClr val="tx1"/>
                          </a:solidFill>
                          <a:effectLst/>
                          <a:latin typeface="Noto Sans"/>
                        </a:rPr>
                        <a:t> t, v, ω, </a:t>
                      </a:r>
                      <a:r>
                        <a:rPr lang="en-US" sz="1600" b="0" kern="1200" err="1">
                          <a:solidFill>
                            <a:schemeClr val="tx1"/>
                          </a:solidFill>
                          <a:effectLst/>
                          <a:latin typeface="Noto Sans"/>
                        </a:rPr>
                        <a:t>gia</a:t>
                      </a:r>
                      <a:r>
                        <a:rPr lang="en-US" sz="1600" b="0" kern="1200">
                          <a:solidFill>
                            <a:schemeClr val="tx1"/>
                          </a:solidFill>
                          <a:effectLst/>
                          <a:latin typeface="Noto Sans"/>
                        </a:rPr>
                        <a:t> </a:t>
                      </a:r>
                      <a:r>
                        <a:rPr lang="en-US" sz="1600" b="0" kern="1200" err="1">
                          <a:solidFill>
                            <a:schemeClr val="tx1"/>
                          </a:solidFill>
                          <a:effectLst/>
                          <a:latin typeface="Noto Sans"/>
                        </a:rPr>
                        <a:t>tốc</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2361101604"/>
                  </a:ext>
                </a:extLst>
              </a:tr>
              <a:tr h="406527">
                <a:tc>
                  <a:txBody>
                    <a:bodyPr/>
                    <a:lstStyle/>
                    <a:p>
                      <a:pPr marL="0" algn="l" rtl="0" eaLnBrk="1" latinLnBrk="0" hangingPunct="1">
                        <a:buNone/>
                      </a:pPr>
                      <a:r>
                        <a:rPr lang="en-US" sz="1600" b="0" kern="1200">
                          <a:solidFill>
                            <a:schemeClr val="tx1"/>
                          </a:solidFill>
                          <a:effectLst/>
                          <a:latin typeface="Noto Sans"/>
                        </a:rPr>
                        <a:t>path smoother</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bộ</a:t>
                      </a:r>
                      <a:r>
                        <a:rPr lang="en-US" sz="1600" b="0" kern="1200">
                          <a:solidFill>
                            <a:schemeClr val="tx1"/>
                          </a:solidFill>
                          <a:effectLst/>
                          <a:latin typeface="Noto Sans"/>
                        </a:rPr>
                        <a:t> </a:t>
                      </a:r>
                      <a:r>
                        <a:rPr lang="en-US" sz="1600" b="0" kern="1200" err="1">
                          <a:solidFill>
                            <a:schemeClr val="tx1"/>
                          </a:solidFill>
                          <a:effectLst/>
                          <a:latin typeface="Noto Sans"/>
                        </a:rPr>
                        <a:t>làm</a:t>
                      </a:r>
                      <a:r>
                        <a:rPr lang="en-US" sz="1600" b="0" kern="1200">
                          <a:solidFill>
                            <a:schemeClr val="tx1"/>
                          </a:solidFill>
                          <a:effectLst/>
                          <a:latin typeface="Noto Sans"/>
                        </a:rPr>
                        <a:t> </a:t>
                      </a:r>
                      <a:r>
                        <a:rPr lang="en-US" sz="1600" b="0" kern="1200" err="1">
                          <a:solidFill>
                            <a:schemeClr val="tx1"/>
                          </a:solidFill>
                          <a:effectLst/>
                          <a:latin typeface="Noto Sans"/>
                        </a:rPr>
                        <a:t>mượt</a:t>
                      </a:r>
                      <a:r>
                        <a:rPr lang="en-US" sz="1600" b="0" kern="1200">
                          <a:solidFill>
                            <a:schemeClr val="tx1"/>
                          </a:solidFill>
                          <a:effectLst/>
                          <a:latin typeface="Noto Sans"/>
                        </a:rPr>
                        <a:t> </a:t>
                      </a:r>
                      <a:r>
                        <a:rPr lang="en-US" sz="1600" b="0" kern="1200" err="1">
                          <a:solidFill>
                            <a:schemeClr val="tx1"/>
                          </a:solidFill>
                          <a:effectLst/>
                          <a:latin typeface="Noto Sans"/>
                        </a:rPr>
                        <a:t>đường</a:t>
                      </a:r>
                      <a:r>
                        <a:rPr lang="en-US" sz="1600" b="0" kern="1200">
                          <a:solidFill>
                            <a:schemeClr val="tx1"/>
                          </a:solidFill>
                          <a:effectLst/>
                          <a:latin typeface="Noto Sans"/>
                        </a:rPr>
                        <a:t> </a:t>
                      </a:r>
                      <a:r>
                        <a:rPr lang="en-US" sz="1600" b="0" kern="1200" err="1">
                          <a:solidFill>
                            <a:schemeClr val="tx1"/>
                          </a:solidFill>
                          <a:effectLst/>
                          <a:latin typeface="Noto Sans"/>
                        </a:rPr>
                        <a:t>đi</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a:solidFill>
                            <a:schemeClr val="tx1"/>
                          </a:solidFill>
                          <a:effectLst/>
                          <a:latin typeface="Noto Sans"/>
                        </a:rPr>
                        <a:t>Chỉnh </a:t>
                      </a:r>
                      <a:r>
                        <a:rPr lang="en-US" sz="1600" b="0" kern="1200" err="1">
                          <a:solidFill>
                            <a:schemeClr val="tx1"/>
                          </a:solidFill>
                          <a:effectLst/>
                          <a:latin typeface="Noto Sans"/>
                        </a:rPr>
                        <a:t>hình</a:t>
                      </a:r>
                      <a:r>
                        <a:rPr lang="en-US" sz="1600" b="0" kern="1200">
                          <a:solidFill>
                            <a:schemeClr val="tx1"/>
                          </a:solidFill>
                          <a:effectLst/>
                          <a:latin typeface="Noto Sans"/>
                        </a:rPr>
                        <a:t> </a:t>
                      </a:r>
                      <a:r>
                        <a:rPr lang="en-US" sz="1600" b="0" kern="1200" err="1">
                          <a:solidFill>
                            <a:schemeClr val="tx1"/>
                          </a:solidFill>
                          <a:effectLst/>
                          <a:latin typeface="Noto Sans"/>
                        </a:rPr>
                        <a:t>học</a:t>
                      </a:r>
                      <a:r>
                        <a:rPr lang="en-US" sz="1600" b="0" kern="1200">
                          <a:solidFill>
                            <a:schemeClr val="tx1"/>
                          </a:solidFill>
                          <a:effectLst/>
                          <a:latin typeface="Noto Sans"/>
                        </a:rPr>
                        <a:t> </a:t>
                      </a:r>
                      <a:r>
                        <a:rPr lang="en-US" sz="1600" b="0" kern="1200" err="1">
                          <a:solidFill>
                            <a:schemeClr val="tx1"/>
                          </a:solidFill>
                          <a:effectLst/>
                          <a:latin typeface="Noto Sans"/>
                        </a:rPr>
                        <a:t>đường</a:t>
                      </a:r>
                      <a:r>
                        <a:rPr lang="en-US" sz="1600" b="0" kern="1200">
                          <a:solidFill>
                            <a:schemeClr val="tx1"/>
                          </a:solidFill>
                          <a:effectLst/>
                          <a:latin typeface="Noto Sans"/>
                        </a:rPr>
                        <a:t> </a:t>
                      </a:r>
                      <a:r>
                        <a:rPr lang="en-US" sz="1600" b="0" kern="1200" err="1">
                          <a:solidFill>
                            <a:schemeClr val="tx1"/>
                          </a:solidFill>
                          <a:effectLst/>
                          <a:latin typeface="Noto Sans"/>
                        </a:rPr>
                        <a:t>đi</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2588043994"/>
                  </a:ext>
                </a:extLst>
              </a:tr>
              <a:tr h="406527">
                <a:tc>
                  <a:txBody>
                    <a:bodyPr/>
                    <a:lstStyle/>
                    <a:p>
                      <a:pPr marL="0" algn="l" rtl="0" eaLnBrk="1" latinLnBrk="0" hangingPunct="1">
                        <a:buNone/>
                      </a:pPr>
                      <a:r>
                        <a:rPr lang="en-US" sz="1600" b="0" kern="1200">
                          <a:solidFill>
                            <a:schemeClr val="tx1"/>
                          </a:solidFill>
                          <a:effectLst/>
                          <a:latin typeface="Noto Sans"/>
                        </a:rPr>
                        <a:t>corner-handling option</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phương</a:t>
                      </a:r>
                      <a:r>
                        <a:rPr lang="en-US" sz="1600" b="0" kern="1200">
                          <a:solidFill>
                            <a:schemeClr val="tx1"/>
                          </a:solidFill>
                          <a:effectLst/>
                          <a:latin typeface="Noto Sans"/>
                        </a:rPr>
                        <a:t> </a:t>
                      </a:r>
                      <a:r>
                        <a:rPr lang="en-US" sz="1600" b="0" kern="1200" err="1">
                          <a:solidFill>
                            <a:schemeClr val="tx1"/>
                          </a:solidFill>
                          <a:effectLst/>
                          <a:latin typeface="Noto Sans"/>
                        </a:rPr>
                        <a:t>án</a:t>
                      </a:r>
                      <a:r>
                        <a:rPr lang="en-US" sz="1600" b="0" kern="1200">
                          <a:solidFill>
                            <a:schemeClr val="tx1"/>
                          </a:solidFill>
                          <a:effectLst/>
                          <a:latin typeface="Noto Sans"/>
                        </a:rPr>
                        <a:t> </a:t>
                      </a:r>
                      <a:r>
                        <a:rPr lang="en-US" sz="1600" b="0" kern="1200" err="1">
                          <a:solidFill>
                            <a:schemeClr val="tx1"/>
                          </a:solidFill>
                          <a:effectLst/>
                          <a:latin typeface="Noto Sans"/>
                        </a:rPr>
                        <a:t>xử</a:t>
                      </a:r>
                      <a:r>
                        <a:rPr lang="en-US" sz="1600" b="0" kern="1200">
                          <a:solidFill>
                            <a:schemeClr val="tx1"/>
                          </a:solidFill>
                          <a:effectLst/>
                          <a:latin typeface="Noto Sans"/>
                        </a:rPr>
                        <a:t> </a:t>
                      </a:r>
                      <a:r>
                        <a:rPr lang="en-US" sz="1600" b="0" kern="1200" err="1">
                          <a:solidFill>
                            <a:schemeClr val="tx1"/>
                          </a:solidFill>
                          <a:effectLst/>
                          <a:latin typeface="Noto Sans"/>
                        </a:rPr>
                        <a:t>lý</a:t>
                      </a:r>
                      <a:r>
                        <a:rPr lang="en-US" sz="1600" b="0" kern="1200">
                          <a:solidFill>
                            <a:schemeClr val="tx1"/>
                          </a:solidFill>
                          <a:effectLst/>
                          <a:latin typeface="Noto Sans"/>
                        </a:rPr>
                        <a:t> </a:t>
                      </a:r>
                      <a:r>
                        <a:rPr lang="en-US" sz="1600" b="0" kern="1200" err="1">
                          <a:solidFill>
                            <a:schemeClr val="tx1"/>
                          </a:solidFill>
                          <a:effectLst/>
                          <a:latin typeface="Noto Sans"/>
                        </a:rPr>
                        <a:t>tại</a:t>
                      </a:r>
                      <a:r>
                        <a:rPr lang="en-US" sz="1600" b="0" kern="1200">
                          <a:solidFill>
                            <a:schemeClr val="tx1"/>
                          </a:solidFill>
                          <a:effectLst/>
                          <a:latin typeface="Noto Sans"/>
                        </a:rPr>
                        <a:t> </a:t>
                      </a:r>
                      <a:r>
                        <a:rPr lang="en-US" sz="1600" b="0" kern="1200" err="1">
                          <a:solidFill>
                            <a:schemeClr val="tx1"/>
                          </a:solidFill>
                          <a:effectLst/>
                          <a:latin typeface="Noto Sans"/>
                        </a:rPr>
                        <a:t>góc</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a:solidFill>
                            <a:schemeClr val="tx1"/>
                          </a:solidFill>
                          <a:effectLst/>
                          <a:latin typeface="Noto Sans"/>
                        </a:rPr>
                        <a:t>Một </a:t>
                      </a:r>
                      <a:r>
                        <a:rPr lang="en-US" sz="1600" b="0" kern="1200" err="1">
                          <a:solidFill>
                            <a:schemeClr val="tx1"/>
                          </a:solidFill>
                          <a:effectLst/>
                          <a:latin typeface="Noto Sans"/>
                        </a:rPr>
                        <a:t>cách</a:t>
                      </a:r>
                      <a:r>
                        <a:rPr lang="en-US" sz="1600" b="0" kern="1200">
                          <a:solidFill>
                            <a:schemeClr val="tx1"/>
                          </a:solidFill>
                          <a:effectLst/>
                          <a:latin typeface="Noto Sans"/>
                        </a:rPr>
                        <a:t> </a:t>
                      </a:r>
                      <a:r>
                        <a:rPr lang="en-US" sz="1600" b="0" kern="1200" err="1">
                          <a:solidFill>
                            <a:schemeClr val="tx1"/>
                          </a:solidFill>
                          <a:effectLst/>
                          <a:latin typeface="Noto Sans"/>
                        </a:rPr>
                        <a:t>xử</a:t>
                      </a:r>
                      <a:r>
                        <a:rPr lang="en-US" sz="1600" b="0" kern="1200">
                          <a:solidFill>
                            <a:schemeClr val="tx1"/>
                          </a:solidFill>
                          <a:effectLst/>
                          <a:latin typeface="Noto Sans"/>
                        </a:rPr>
                        <a:t> </a:t>
                      </a:r>
                      <a:r>
                        <a:rPr lang="en-US" sz="1600" b="0" kern="1200" err="1">
                          <a:solidFill>
                            <a:schemeClr val="tx1"/>
                          </a:solidFill>
                          <a:effectLst/>
                          <a:latin typeface="Noto Sans"/>
                        </a:rPr>
                        <a:t>lý</a:t>
                      </a:r>
                      <a:r>
                        <a:rPr lang="en-US" sz="1600" b="0" kern="1200">
                          <a:solidFill>
                            <a:schemeClr val="tx1"/>
                          </a:solidFill>
                          <a:effectLst/>
                          <a:latin typeface="Noto Sans"/>
                        </a:rPr>
                        <a:t> </a:t>
                      </a:r>
                      <a:r>
                        <a:rPr lang="en-US" sz="1600" b="0" kern="1200" err="1">
                          <a:solidFill>
                            <a:schemeClr val="tx1"/>
                          </a:solidFill>
                          <a:effectLst/>
                          <a:latin typeface="Noto Sans"/>
                        </a:rPr>
                        <a:t>cụ</a:t>
                      </a:r>
                      <a:r>
                        <a:rPr lang="en-US" sz="1600" b="0" kern="1200">
                          <a:solidFill>
                            <a:schemeClr val="tx1"/>
                          </a:solidFill>
                          <a:effectLst/>
                          <a:latin typeface="Noto Sans"/>
                        </a:rPr>
                        <a:t> </a:t>
                      </a:r>
                      <a:r>
                        <a:rPr lang="en-US" sz="1600" b="0" kern="1200" err="1">
                          <a:solidFill>
                            <a:schemeClr val="tx1"/>
                          </a:solidFill>
                          <a:effectLst/>
                          <a:latin typeface="Noto Sans"/>
                        </a:rPr>
                        <a:t>thể</a:t>
                      </a:r>
                      <a:r>
                        <a:rPr lang="en-US" sz="1600" b="0" kern="1200">
                          <a:solidFill>
                            <a:schemeClr val="tx1"/>
                          </a:solidFill>
                          <a:effectLst/>
                          <a:latin typeface="Noto Sans"/>
                        </a:rPr>
                        <a:t> </a:t>
                      </a:r>
                      <a:r>
                        <a:rPr lang="en-US" sz="1600" b="0" kern="1200" err="1">
                          <a:solidFill>
                            <a:schemeClr val="tx1"/>
                          </a:solidFill>
                          <a:effectLst/>
                          <a:latin typeface="Noto Sans"/>
                        </a:rPr>
                        <a:t>cho</a:t>
                      </a:r>
                      <a:r>
                        <a:rPr lang="en-US" sz="1600" b="0" kern="1200">
                          <a:solidFill>
                            <a:schemeClr val="tx1"/>
                          </a:solidFill>
                          <a:effectLst/>
                          <a:latin typeface="Noto Sans"/>
                        </a:rPr>
                        <a:t> </a:t>
                      </a:r>
                      <a:r>
                        <a:rPr lang="en-US" sz="1600" b="0" kern="1200" err="1">
                          <a:solidFill>
                            <a:schemeClr val="tx1"/>
                          </a:solidFill>
                          <a:effectLst/>
                          <a:latin typeface="Noto Sans"/>
                        </a:rPr>
                        <a:t>một</a:t>
                      </a:r>
                      <a:r>
                        <a:rPr lang="en-US" sz="1600" b="0" kern="1200">
                          <a:solidFill>
                            <a:schemeClr val="tx1"/>
                          </a:solidFill>
                          <a:effectLst/>
                          <a:latin typeface="Noto Sans"/>
                        </a:rPr>
                        <a:t> </a:t>
                      </a:r>
                      <a:r>
                        <a:rPr lang="en-US" sz="1600" b="0" kern="1200" err="1">
                          <a:solidFill>
                            <a:schemeClr val="tx1"/>
                          </a:solidFill>
                          <a:effectLst/>
                          <a:latin typeface="Noto Sans"/>
                        </a:rPr>
                        <a:t>góc</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1763944031"/>
                  </a:ext>
                </a:extLst>
              </a:tr>
              <a:tr h="406527">
                <a:tc>
                  <a:txBody>
                    <a:bodyPr/>
                    <a:lstStyle/>
                    <a:p>
                      <a:pPr marL="0" algn="l" rtl="0" eaLnBrk="1" latinLnBrk="0" hangingPunct="1">
                        <a:buNone/>
                      </a:pPr>
                      <a:r>
                        <a:rPr lang="en-US" sz="1600" b="0" kern="1200">
                          <a:solidFill>
                            <a:schemeClr val="tx1"/>
                          </a:solidFill>
                          <a:effectLst/>
                          <a:latin typeface="Noto Sans"/>
                        </a:rPr>
                        <a:t>trim distance d</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khoảng</a:t>
                      </a:r>
                      <a:r>
                        <a:rPr lang="en-US" sz="1600" b="0" kern="1200">
                          <a:solidFill>
                            <a:schemeClr val="tx1"/>
                          </a:solidFill>
                          <a:effectLst/>
                          <a:latin typeface="Noto Sans"/>
                        </a:rPr>
                        <a:t> </a:t>
                      </a:r>
                      <a:r>
                        <a:rPr lang="en-US" sz="1600" b="0" kern="1200" err="1">
                          <a:solidFill>
                            <a:schemeClr val="tx1"/>
                          </a:solidFill>
                          <a:effectLst/>
                          <a:latin typeface="Noto Sans"/>
                        </a:rPr>
                        <a:t>cắt</a:t>
                      </a:r>
                      <a:r>
                        <a:rPr lang="en-US" sz="1600" b="0" kern="1200">
                          <a:solidFill>
                            <a:schemeClr val="tx1"/>
                          </a:solidFill>
                          <a:effectLst/>
                          <a:latin typeface="Noto Sans"/>
                        </a:rPr>
                        <a:t> d</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Chiều</a:t>
                      </a:r>
                      <a:r>
                        <a:rPr lang="en-US" sz="1600" b="0" kern="1200">
                          <a:solidFill>
                            <a:schemeClr val="tx1"/>
                          </a:solidFill>
                          <a:effectLst/>
                          <a:latin typeface="Noto Sans"/>
                        </a:rPr>
                        <a:t> </a:t>
                      </a:r>
                      <a:r>
                        <a:rPr lang="en-US" sz="1600" b="0" kern="1200" err="1">
                          <a:solidFill>
                            <a:schemeClr val="tx1"/>
                          </a:solidFill>
                          <a:effectLst/>
                          <a:latin typeface="Noto Sans"/>
                        </a:rPr>
                        <a:t>dài</a:t>
                      </a:r>
                      <a:r>
                        <a:rPr lang="en-US" sz="1600" b="0" kern="1200">
                          <a:solidFill>
                            <a:schemeClr val="tx1"/>
                          </a:solidFill>
                          <a:effectLst/>
                          <a:latin typeface="Noto Sans"/>
                        </a:rPr>
                        <a:t> </a:t>
                      </a:r>
                      <a:r>
                        <a:rPr lang="en-US" sz="1600" b="0" kern="1200" err="1">
                          <a:solidFill>
                            <a:schemeClr val="tx1"/>
                          </a:solidFill>
                          <a:effectLst/>
                          <a:latin typeface="Noto Sans"/>
                        </a:rPr>
                        <a:t>cắt</a:t>
                      </a:r>
                      <a:r>
                        <a:rPr lang="en-US" sz="1600" b="0" kern="1200">
                          <a:solidFill>
                            <a:schemeClr val="tx1"/>
                          </a:solidFill>
                          <a:effectLst/>
                          <a:latin typeface="Noto Sans"/>
                        </a:rPr>
                        <a:t> </a:t>
                      </a:r>
                      <a:r>
                        <a:rPr lang="en-US" sz="1600" b="0" kern="1200" err="1">
                          <a:solidFill>
                            <a:schemeClr val="tx1"/>
                          </a:solidFill>
                          <a:effectLst/>
                          <a:latin typeface="Noto Sans"/>
                        </a:rPr>
                        <a:t>trên</a:t>
                      </a:r>
                      <a:r>
                        <a:rPr lang="en-US" sz="1600" b="0" kern="1200">
                          <a:solidFill>
                            <a:schemeClr val="tx1"/>
                          </a:solidFill>
                          <a:effectLst/>
                          <a:latin typeface="Noto Sans"/>
                        </a:rPr>
                        <a:t> </a:t>
                      </a:r>
                      <a:r>
                        <a:rPr lang="en-US" sz="1600" b="0" kern="1200" err="1">
                          <a:solidFill>
                            <a:schemeClr val="tx1"/>
                          </a:solidFill>
                          <a:effectLst/>
                          <a:latin typeface="Noto Sans"/>
                        </a:rPr>
                        <a:t>mỗi</a:t>
                      </a:r>
                      <a:r>
                        <a:rPr lang="en-US" sz="1600" b="0" kern="1200">
                          <a:solidFill>
                            <a:schemeClr val="tx1"/>
                          </a:solidFill>
                          <a:effectLst/>
                          <a:latin typeface="Noto Sans"/>
                        </a:rPr>
                        <a:t> </a:t>
                      </a:r>
                      <a:r>
                        <a:rPr lang="en-US" sz="1600" b="0" kern="1200" err="1">
                          <a:solidFill>
                            <a:schemeClr val="tx1"/>
                          </a:solidFill>
                          <a:effectLst/>
                          <a:latin typeface="Noto Sans"/>
                        </a:rPr>
                        <a:t>cạnh</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2107881654"/>
                  </a:ext>
                </a:extLst>
              </a:tr>
              <a:tr h="406527">
                <a:tc>
                  <a:txBody>
                    <a:bodyPr/>
                    <a:lstStyle/>
                    <a:p>
                      <a:pPr marL="0" algn="l" rtl="0" eaLnBrk="1" latinLnBrk="0" hangingPunct="1">
                        <a:buNone/>
                      </a:pPr>
                      <a:r>
                        <a:rPr lang="en-US" sz="1600" b="0" kern="1200">
                          <a:solidFill>
                            <a:schemeClr val="tx1"/>
                          </a:solidFill>
                          <a:effectLst/>
                          <a:latin typeface="Noto Sans"/>
                        </a:rPr>
                        <a:t>shape ratio α=q/d</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tỷ</a:t>
                      </a:r>
                      <a:r>
                        <a:rPr lang="en-US" sz="1600" b="0" kern="1200">
                          <a:solidFill>
                            <a:schemeClr val="tx1"/>
                          </a:solidFill>
                          <a:effectLst/>
                          <a:latin typeface="Noto Sans"/>
                        </a:rPr>
                        <a:t> </a:t>
                      </a:r>
                      <a:r>
                        <a:rPr lang="en-US" sz="1600" b="0" kern="1200" err="1">
                          <a:solidFill>
                            <a:schemeClr val="tx1"/>
                          </a:solidFill>
                          <a:effectLst/>
                          <a:latin typeface="Noto Sans"/>
                        </a:rPr>
                        <a:t>lệ</a:t>
                      </a:r>
                      <a:r>
                        <a:rPr lang="en-US" sz="1600" b="0" kern="1200">
                          <a:solidFill>
                            <a:schemeClr val="tx1"/>
                          </a:solidFill>
                          <a:effectLst/>
                          <a:latin typeface="Noto Sans"/>
                        </a:rPr>
                        <a:t> </a:t>
                      </a:r>
                      <a:r>
                        <a:rPr lang="en-US" sz="1600" b="0" kern="1200" err="1">
                          <a:solidFill>
                            <a:schemeClr val="tx1"/>
                          </a:solidFill>
                          <a:effectLst/>
                          <a:latin typeface="Noto Sans"/>
                        </a:rPr>
                        <a:t>hình</a:t>
                      </a:r>
                      <a:r>
                        <a:rPr lang="en-US" sz="1600" b="0" kern="1200">
                          <a:solidFill>
                            <a:schemeClr val="tx1"/>
                          </a:solidFill>
                          <a:effectLst/>
                          <a:latin typeface="Noto Sans"/>
                        </a:rPr>
                        <a:t> </a:t>
                      </a:r>
                      <a:r>
                        <a:rPr lang="en-US" sz="1600" b="0" kern="1200" err="1">
                          <a:solidFill>
                            <a:schemeClr val="tx1"/>
                          </a:solidFill>
                          <a:effectLst/>
                          <a:latin typeface="Noto Sans"/>
                        </a:rPr>
                        <a:t>dạng</a:t>
                      </a:r>
                      <a:r>
                        <a:rPr lang="en-US" sz="1600" b="0" kern="1200">
                          <a:solidFill>
                            <a:schemeClr val="tx1"/>
                          </a:solidFill>
                          <a:effectLst/>
                          <a:latin typeface="Noto Sans"/>
                        </a:rPr>
                        <a:t> α</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Điều</a:t>
                      </a:r>
                      <a:r>
                        <a:rPr lang="en-US" sz="1600" b="0" kern="1200">
                          <a:solidFill>
                            <a:schemeClr val="tx1"/>
                          </a:solidFill>
                          <a:effectLst/>
                          <a:latin typeface="Noto Sans"/>
                        </a:rPr>
                        <a:t> </a:t>
                      </a:r>
                      <a:r>
                        <a:rPr lang="en-US" sz="1600" b="0" kern="1200" err="1">
                          <a:solidFill>
                            <a:schemeClr val="tx1"/>
                          </a:solidFill>
                          <a:effectLst/>
                          <a:latin typeface="Noto Sans"/>
                        </a:rPr>
                        <a:t>chỉnh</a:t>
                      </a:r>
                      <a:r>
                        <a:rPr lang="en-US" sz="1600" b="0" kern="1200">
                          <a:solidFill>
                            <a:schemeClr val="tx1"/>
                          </a:solidFill>
                          <a:effectLst/>
                          <a:latin typeface="Noto Sans"/>
                        </a:rPr>
                        <a:t> </a:t>
                      </a:r>
                      <a:r>
                        <a:rPr lang="en-US" sz="1600" b="0" kern="1200" err="1">
                          <a:solidFill>
                            <a:schemeClr val="tx1"/>
                          </a:solidFill>
                          <a:effectLst/>
                          <a:latin typeface="Noto Sans"/>
                        </a:rPr>
                        <a:t>phân</a:t>
                      </a:r>
                      <a:r>
                        <a:rPr lang="en-US" sz="1600" b="0" kern="1200">
                          <a:solidFill>
                            <a:schemeClr val="tx1"/>
                          </a:solidFill>
                          <a:effectLst/>
                          <a:latin typeface="Noto Sans"/>
                        </a:rPr>
                        <a:t> </a:t>
                      </a:r>
                      <a:r>
                        <a:rPr lang="en-US" sz="1600" b="0" kern="1200" err="1">
                          <a:solidFill>
                            <a:schemeClr val="tx1"/>
                          </a:solidFill>
                          <a:effectLst/>
                          <a:latin typeface="Noto Sans"/>
                        </a:rPr>
                        <a:t>bố</a:t>
                      </a:r>
                      <a:r>
                        <a:rPr lang="en-US" sz="1600" b="0" kern="1200">
                          <a:solidFill>
                            <a:schemeClr val="tx1"/>
                          </a:solidFill>
                          <a:effectLst/>
                          <a:latin typeface="Noto Sans"/>
                        </a:rPr>
                        <a:t> </a:t>
                      </a:r>
                      <a:r>
                        <a:rPr lang="en-US" sz="1600" b="0" kern="1200" err="1">
                          <a:solidFill>
                            <a:schemeClr val="tx1"/>
                          </a:solidFill>
                          <a:effectLst/>
                          <a:latin typeface="Noto Sans"/>
                        </a:rPr>
                        <a:t>độ</a:t>
                      </a:r>
                      <a:r>
                        <a:rPr lang="en-US" sz="1600" b="0" kern="1200">
                          <a:solidFill>
                            <a:schemeClr val="tx1"/>
                          </a:solidFill>
                          <a:effectLst/>
                          <a:latin typeface="Noto Sans"/>
                        </a:rPr>
                        <a:t> </a:t>
                      </a:r>
                      <a:r>
                        <a:rPr lang="en-US" sz="1600" b="0" kern="1200" err="1">
                          <a:solidFill>
                            <a:schemeClr val="tx1"/>
                          </a:solidFill>
                          <a:effectLst/>
                          <a:latin typeface="Noto Sans"/>
                        </a:rPr>
                        <a:t>cong</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3852681243"/>
                  </a:ext>
                </a:extLst>
              </a:tr>
              <a:tr h="406527">
                <a:tc>
                  <a:txBody>
                    <a:bodyPr/>
                    <a:lstStyle/>
                    <a:p>
                      <a:pPr marL="0" algn="l" rtl="0" eaLnBrk="1" latinLnBrk="0" hangingPunct="1">
                        <a:buNone/>
                      </a:pPr>
                      <a:r>
                        <a:rPr lang="en-US" sz="1600" b="0" kern="1200">
                          <a:solidFill>
                            <a:schemeClr val="tx1"/>
                          </a:solidFill>
                          <a:effectLst/>
                          <a:latin typeface="Noto Sans"/>
                        </a:rPr>
                        <a:t>curvature κ</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độ</a:t>
                      </a:r>
                      <a:r>
                        <a:rPr lang="en-US" sz="1600" b="0" kern="1200">
                          <a:solidFill>
                            <a:schemeClr val="tx1"/>
                          </a:solidFill>
                          <a:effectLst/>
                          <a:latin typeface="Noto Sans"/>
                        </a:rPr>
                        <a:t> </a:t>
                      </a:r>
                      <a:r>
                        <a:rPr lang="en-US" sz="1600" b="0" kern="1200" err="1">
                          <a:solidFill>
                            <a:schemeClr val="tx1"/>
                          </a:solidFill>
                          <a:effectLst/>
                          <a:latin typeface="Noto Sans"/>
                        </a:rPr>
                        <a:t>cong</a:t>
                      </a:r>
                      <a:r>
                        <a:rPr lang="en-US" sz="1600" b="0" kern="1200">
                          <a:solidFill>
                            <a:schemeClr val="tx1"/>
                          </a:solidFill>
                          <a:effectLst/>
                          <a:latin typeface="Noto Sans"/>
                        </a:rPr>
                        <a:t> κ</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a:solidFill>
                            <a:schemeClr val="tx1"/>
                          </a:solidFill>
                          <a:effectLst/>
                          <a:latin typeface="Noto Sans"/>
                        </a:rPr>
                        <a:t>Mức </a:t>
                      </a:r>
                      <a:r>
                        <a:rPr lang="en-US" sz="1600" b="0" kern="1200" err="1">
                          <a:solidFill>
                            <a:schemeClr val="tx1"/>
                          </a:solidFill>
                          <a:effectLst/>
                          <a:latin typeface="Noto Sans"/>
                        </a:rPr>
                        <a:t>đổi</a:t>
                      </a:r>
                      <a:r>
                        <a:rPr lang="en-US" sz="1600" b="0" kern="1200">
                          <a:solidFill>
                            <a:schemeClr val="tx1"/>
                          </a:solidFill>
                          <a:effectLst/>
                          <a:latin typeface="Noto Sans"/>
                        </a:rPr>
                        <a:t> </a:t>
                      </a:r>
                      <a:r>
                        <a:rPr lang="en-US" sz="1600" b="0" kern="1200" err="1">
                          <a:solidFill>
                            <a:schemeClr val="tx1"/>
                          </a:solidFill>
                          <a:effectLst/>
                          <a:latin typeface="Noto Sans"/>
                        </a:rPr>
                        <a:t>hướng</a:t>
                      </a:r>
                      <a:r>
                        <a:rPr lang="en-US" sz="1600" b="0" kern="1200">
                          <a:solidFill>
                            <a:schemeClr val="tx1"/>
                          </a:solidFill>
                          <a:effectLst/>
                          <a:latin typeface="Noto Sans"/>
                        </a:rPr>
                        <a:t> </a:t>
                      </a:r>
                      <a:r>
                        <a:rPr lang="en-US" sz="1600" b="0" kern="1200" err="1">
                          <a:solidFill>
                            <a:schemeClr val="tx1"/>
                          </a:solidFill>
                          <a:effectLst/>
                          <a:latin typeface="Noto Sans"/>
                        </a:rPr>
                        <a:t>trên</a:t>
                      </a:r>
                      <a:r>
                        <a:rPr lang="en-US" sz="1600" b="0" kern="1200">
                          <a:solidFill>
                            <a:schemeClr val="tx1"/>
                          </a:solidFill>
                          <a:effectLst/>
                          <a:latin typeface="Noto Sans"/>
                        </a:rPr>
                        <a:t> </a:t>
                      </a:r>
                      <a:r>
                        <a:rPr lang="en-US" sz="1600" b="0" kern="1200" err="1">
                          <a:solidFill>
                            <a:schemeClr val="tx1"/>
                          </a:solidFill>
                          <a:effectLst/>
                          <a:latin typeface="Noto Sans"/>
                        </a:rPr>
                        <a:t>một</a:t>
                      </a:r>
                      <a:r>
                        <a:rPr lang="en-US" sz="1600" b="0" kern="1200">
                          <a:solidFill>
                            <a:schemeClr val="tx1"/>
                          </a:solidFill>
                          <a:effectLst/>
                          <a:latin typeface="Noto Sans"/>
                        </a:rPr>
                        <a:t> </a:t>
                      </a:r>
                      <a:r>
                        <a:rPr lang="en-US" sz="1600" b="0" kern="1200" err="1">
                          <a:solidFill>
                            <a:schemeClr val="tx1"/>
                          </a:solidFill>
                          <a:effectLst/>
                          <a:latin typeface="Noto Sans"/>
                        </a:rPr>
                        <a:t>đơn</a:t>
                      </a:r>
                      <a:r>
                        <a:rPr lang="en-US" sz="1600" b="0" kern="1200">
                          <a:solidFill>
                            <a:schemeClr val="tx1"/>
                          </a:solidFill>
                          <a:effectLst/>
                          <a:latin typeface="Noto Sans"/>
                        </a:rPr>
                        <a:t> </a:t>
                      </a:r>
                      <a:r>
                        <a:rPr lang="en-US" sz="1600" b="0" kern="1200" err="1">
                          <a:solidFill>
                            <a:schemeClr val="tx1"/>
                          </a:solidFill>
                          <a:effectLst/>
                          <a:latin typeface="Noto Sans"/>
                        </a:rPr>
                        <a:t>vị</a:t>
                      </a:r>
                      <a:r>
                        <a:rPr lang="en-US" sz="1600" b="0" kern="1200">
                          <a:solidFill>
                            <a:schemeClr val="tx1"/>
                          </a:solidFill>
                          <a:effectLst/>
                          <a:latin typeface="Noto Sans"/>
                        </a:rPr>
                        <a:t> </a:t>
                      </a:r>
                      <a:r>
                        <a:rPr lang="en-US" sz="1600" b="0" kern="1200" err="1">
                          <a:solidFill>
                            <a:schemeClr val="tx1"/>
                          </a:solidFill>
                          <a:effectLst/>
                          <a:latin typeface="Noto Sans"/>
                        </a:rPr>
                        <a:t>chiều</a:t>
                      </a:r>
                      <a:r>
                        <a:rPr lang="en-US" sz="1600" b="0" kern="1200">
                          <a:solidFill>
                            <a:schemeClr val="tx1"/>
                          </a:solidFill>
                          <a:effectLst/>
                          <a:latin typeface="Noto Sans"/>
                        </a:rPr>
                        <a:t> </a:t>
                      </a:r>
                      <a:r>
                        <a:rPr lang="en-US" sz="1600" b="0" kern="1200" err="1">
                          <a:solidFill>
                            <a:schemeClr val="tx1"/>
                          </a:solidFill>
                          <a:effectLst/>
                          <a:latin typeface="Noto Sans"/>
                        </a:rPr>
                        <a:t>dài</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350537696"/>
                  </a:ext>
                </a:extLst>
              </a:tr>
              <a:tr h="406527">
                <a:tc>
                  <a:txBody>
                    <a:bodyPr/>
                    <a:lstStyle/>
                    <a:p>
                      <a:pPr marL="0" algn="l" rtl="0" eaLnBrk="1" latinLnBrk="0" hangingPunct="1">
                        <a:buNone/>
                      </a:pPr>
                      <a:r>
                        <a:rPr lang="en-US" sz="1600" b="0" kern="1200">
                          <a:solidFill>
                            <a:schemeClr val="tx1"/>
                          </a:solidFill>
                          <a:effectLst/>
                          <a:latin typeface="Noto Sans"/>
                        </a:rPr>
                        <a:t>curvature energy </a:t>
                      </a:r>
                      <a:r>
                        <a:rPr lang="en-US" sz="1600" b="0" kern="1200" err="1">
                          <a:solidFill>
                            <a:schemeClr val="tx1"/>
                          </a:solidFill>
                          <a:effectLst/>
                          <a:latin typeface="Noto Sans"/>
                        </a:rPr>
                        <a:t>Eκ</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tích</a:t>
                      </a:r>
                      <a:r>
                        <a:rPr lang="en-US" sz="1600" b="0" kern="1200">
                          <a:solidFill>
                            <a:schemeClr val="tx1"/>
                          </a:solidFill>
                          <a:effectLst/>
                          <a:latin typeface="Noto Sans"/>
                        </a:rPr>
                        <a:t> </a:t>
                      </a:r>
                      <a:r>
                        <a:rPr lang="en-US" sz="1600" b="0" kern="1200" err="1">
                          <a:solidFill>
                            <a:schemeClr val="tx1"/>
                          </a:solidFill>
                          <a:effectLst/>
                          <a:latin typeface="Noto Sans"/>
                        </a:rPr>
                        <a:t>phân</a:t>
                      </a:r>
                      <a:r>
                        <a:rPr lang="en-US" sz="1600" b="0" kern="1200">
                          <a:solidFill>
                            <a:schemeClr val="tx1"/>
                          </a:solidFill>
                          <a:effectLst/>
                          <a:latin typeface="Noto Sans"/>
                        </a:rPr>
                        <a:t> </a:t>
                      </a:r>
                      <a:r>
                        <a:rPr lang="en-US" sz="1600" b="0" kern="1200" err="1">
                          <a:solidFill>
                            <a:schemeClr val="tx1"/>
                          </a:solidFill>
                          <a:effectLst/>
                          <a:latin typeface="Noto Sans"/>
                        </a:rPr>
                        <a:t>bình</a:t>
                      </a:r>
                      <a:r>
                        <a:rPr lang="en-US" sz="1600" b="0" kern="1200">
                          <a:solidFill>
                            <a:schemeClr val="tx1"/>
                          </a:solidFill>
                          <a:effectLst/>
                          <a:latin typeface="Noto Sans"/>
                        </a:rPr>
                        <a:t> </a:t>
                      </a:r>
                      <a:r>
                        <a:rPr lang="en-US" sz="1600" b="0" kern="1200" err="1">
                          <a:solidFill>
                            <a:schemeClr val="tx1"/>
                          </a:solidFill>
                          <a:effectLst/>
                          <a:latin typeface="Noto Sans"/>
                        </a:rPr>
                        <a:t>phương</a:t>
                      </a:r>
                      <a:r>
                        <a:rPr lang="en-US" sz="1600" b="0" kern="1200">
                          <a:solidFill>
                            <a:schemeClr val="tx1"/>
                          </a:solidFill>
                          <a:effectLst/>
                          <a:latin typeface="Noto Sans"/>
                        </a:rPr>
                        <a:t> </a:t>
                      </a:r>
                      <a:r>
                        <a:rPr lang="en-US" sz="1600" b="0" kern="1200" err="1">
                          <a:solidFill>
                            <a:schemeClr val="tx1"/>
                          </a:solidFill>
                          <a:effectLst/>
                          <a:latin typeface="Noto Sans"/>
                        </a:rPr>
                        <a:t>độ</a:t>
                      </a:r>
                      <a:r>
                        <a:rPr lang="en-US" sz="1600" b="0" kern="1200">
                          <a:solidFill>
                            <a:schemeClr val="tx1"/>
                          </a:solidFill>
                          <a:effectLst/>
                          <a:latin typeface="Noto Sans"/>
                        </a:rPr>
                        <a:t> </a:t>
                      </a:r>
                      <a:r>
                        <a:rPr lang="en-US" sz="1600" b="0" kern="1200" err="1">
                          <a:solidFill>
                            <a:schemeClr val="tx1"/>
                          </a:solidFill>
                          <a:effectLst/>
                          <a:latin typeface="Noto Sans"/>
                        </a:rPr>
                        <a:t>cong</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Chỉ</a:t>
                      </a:r>
                      <a:r>
                        <a:rPr lang="en-US" sz="1600" b="0" kern="1200">
                          <a:solidFill>
                            <a:schemeClr val="tx1"/>
                          </a:solidFill>
                          <a:effectLst/>
                          <a:latin typeface="Noto Sans"/>
                        </a:rPr>
                        <a:t> </a:t>
                      </a:r>
                      <a:r>
                        <a:rPr lang="en-US" sz="1600" b="0" kern="1200" err="1">
                          <a:solidFill>
                            <a:schemeClr val="tx1"/>
                          </a:solidFill>
                          <a:effectLst/>
                          <a:latin typeface="Noto Sans"/>
                        </a:rPr>
                        <a:t>số</a:t>
                      </a:r>
                      <a:r>
                        <a:rPr lang="en-US" sz="1600" b="0" kern="1200">
                          <a:solidFill>
                            <a:schemeClr val="tx1"/>
                          </a:solidFill>
                          <a:effectLst/>
                          <a:latin typeface="Noto Sans"/>
                        </a:rPr>
                        <a:t> </a:t>
                      </a:r>
                      <a:r>
                        <a:rPr lang="en-US" sz="1600" b="0" kern="1200" err="1">
                          <a:solidFill>
                            <a:schemeClr val="tx1"/>
                          </a:solidFill>
                          <a:effectLst/>
                          <a:latin typeface="Noto Sans"/>
                        </a:rPr>
                        <a:t>uốn</a:t>
                      </a:r>
                      <a:r>
                        <a:rPr lang="en-US" sz="1600" b="0" kern="1200">
                          <a:solidFill>
                            <a:schemeClr val="tx1"/>
                          </a:solidFill>
                          <a:effectLst/>
                          <a:latin typeface="Noto Sans"/>
                        </a:rPr>
                        <a:t> </a:t>
                      </a:r>
                      <a:r>
                        <a:rPr lang="en-US" sz="1600" b="0" kern="1200" err="1">
                          <a:solidFill>
                            <a:schemeClr val="tx1"/>
                          </a:solidFill>
                          <a:effectLst/>
                          <a:latin typeface="Noto Sans"/>
                        </a:rPr>
                        <a:t>hình</a:t>
                      </a:r>
                      <a:r>
                        <a:rPr lang="en-US" sz="1600" b="0" kern="1200">
                          <a:solidFill>
                            <a:schemeClr val="tx1"/>
                          </a:solidFill>
                          <a:effectLst/>
                          <a:latin typeface="Noto Sans"/>
                        </a:rPr>
                        <a:t> </a:t>
                      </a:r>
                      <a:r>
                        <a:rPr lang="en-US" sz="1600" b="0" kern="1200" err="1">
                          <a:solidFill>
                            <a:schemeClr val="tx1"/>
                          </a:solidFill>
                          <a:effectLst/>
                          <a:latin typeface="Noto Sans"/>
                        </a:rPr>
                        <a:t>học</a:t>
                      </a:r>
                      <a:r>
                        <a:rPr lang="en-US" sz="1600" b="0" kern="1200">
                          <a:solidFill>
                            <a:schemeClr val="tx1"/>
                          </a:solidFill>
                          <a:effectLst/>
                          <a:latin typeface="Noto Sans"/>
                        </a:rPr>
                        <a:t>; </a:t>
                      </a:r>
                      <a:r>
                        <a:rPr lang="en-US" sz="1600" b="0" kern="1200" err="1">
                          <a:solidFill>
                            <a:schemeClr val="tx1"/>
                          </a:solidFill>
                          <a:effectLst/>
                          <a:latin typeface="Noto Sans"/>
                        </a:rPr>
                        <a:t>không</a:t>
                      </a:r>
                      <a:r>
                        <a:rPr lang="en-US" sz="1600" b="0" kern="1200">
                          <a:solidFill>
                            <a:schemeClr val="tx1"/>
                          </a:solidFill>
                          <a:effectLst/>
                          <a:latin typeface="Noto Sans"/>
                        </a:rPr>
                        <a:t> </a:t>
                      </a:r>
                      <a:r>
                        <a:rPr lang="en-US" sz="1600" b="0" kern="1200" err="1">
                          <a:solidFill>
                            <a:schemeClr val="tx1"/>
                          </a:solidFill>
                          <a:effectLst/>
                          <a:latin typeface="Noto Sans"/>
                        </a:rPr>
                        <a:t>phải</a:t>
                      </a:r>
                      <a:r>
                        <a:rPr lang="en-US" sz="1600" b="0" kern="1200">
                          <a:solidFill>
                            <a:schemeClr val="tx1"/>
                          </a:solidFill>
                          <a:effectLst/>
                          <a:latin typeface="Noto Sans"/>
                        </a:rPr>
                        <a:t> </a:t>
                      </a:r>
                      <a:r>
                        <a:rPr lang="en-US" sz="1600" b="0" kern="1200" err="1">
                          <a:solidFill>
                            <a:schemeClr val="tx1"/>
                          </a:solidFill>
                          <a:effectLst/>
                          <a:latin typeface="Noto Sans"/>
                        </a:rPr>
                        <a:t>điện</a:t>
                      </a:r>
                      <a:r>
                        <a:rPr lang="en-US" sz="1600" b="0" kern="1200">
                          <a:solidFill>
                            <a:schemeClr val="tx1"/>
                          </a:solidFill>
                          <a:effectLst/>
                          <a:latin typeface="Noto Sans"/>
                        </a:rPr>
                        <a:t> </a:t>
                      </a:r>
                      <a:r>
                        <a:rPr lang="en-US" sz="1600" b="0" kern="1200" err="1">
                          <a:solidFill>
                            <a:schemeClr val="tx1"/>
                          </a:solidFill>
                          <a:effectLst/>
                          <a:latin typeface="Noto Sans"/>
                        </a:rPr>
                        <a:t>năng</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2022431790"/>
                  </a:ext>
                </a:extLst>
              </a:tr>
              <a:tr h="406527">
                <a:tc>
                  <a:txBody>
                    <a:bodyPr/>
                    <a:lstStyle/>
                    <a:p>
                      <a:pPr marL="0" algn="l" rtl="0" eaLnBrk="1" latinLnBrk="0" hangingPunct="1">
                        <a:buNone/>
                      </a:pPr>
                      <a:r>
                        <a:rPr lang="en-US" sz="1600" b="0" kern="1200">
                          <a:solidFill>
                            <a:schemeClr val="tx1"/>
                          </a:solidFill>
                          <a:effectLst/>
                          <a:latin typeface="Noto Sans"/>
                        </a:rPr>
                        <a:t>speed limit / speed profile</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giới</a:t>
                      </a:r>
                      <a:r>
                        <a:rPr lang="en-US" sz="1600" b="0" kern="1200">
                          <a:solidFill>
                            <a:schemeClr val="tx1"/>
                          </a:solidFill>
                          <a:effectLst/>
                          <a:latin typeface="Noto Sans"/>
                        </a:rPr>
                        <a:t> </a:t>
                      </a:r>
                      <a:r>
                        <a:rPr lang="en-US" sz="1600" b="0" kern="1200" err="1">
                          <a:solidFill>
                            <a:schemeClr val="tx1"/>
                          </a:solidFill>
                          <a:effectLst/>
                          <a:latin typeface="Noto Sans"/>
                        </a:rPr>
                        <a:t>hạn</a:t>
                      </a:r>
                      <a:r>
                        <a:rPr lang="en-US" sz="1600" b="0" kern="1200">
                          <a:solidFill>
                            <a:schemeClr val="tx1"/>
                          </a:solidFill>
                          <a:effectLst/>
                          <a:latin typeface="Noto Sans"/>
                        </a:rPr>
                        <a:t> </a:t>
                      </a:r>
                      <a:r>
                        <a:rPr lang="en-US" sz="1600" b="0" kern="1200" err="1">
                          <a:solidFill>
                            <a:schemeClr val="tx1"/>
                          </a:solidFill>
                          <a:effectLst/>
                          <a:latin typeface="Noto Sans"/>
                        </a:rPr>
                        <a:t>vận</a:t>
                      </a:r>
                      <a:r>
                        <a:rPr lang="en-US" sz="1600" b="0" kern="1200">
                          <a:solidFill>
                            <a:schemeClr val="tx1"/>
                          </a:solidFill>
                          <a:effectLst/>
                          <a:latin typeface="Noto Sans"/>
                        </a:rPr>
                        <a:t> </a:t>
                      </a:r>
                      <a:r>
                        <a:rPr lang="en-US" sz="1600" b="0" kern="1200" err="1">
                          <a:solidFill>
                            <a:schemeClr val="tx1"/>
                          </a:solidFill>
                          <a:effectLst/>
                          <a:latin typeface="Noto Sans"/>
                        </a:rPr>
                        <a:t>tốc</a:t>
                      </a:r>
                      <a:r>
                        <a:rPr lang="en-US" sz="1600" b="0" kern="1200">
                          <a:solidFill>
                            <a:schemeClr val="tx1"/>
                          </a:solidFill>
                          <a:effectLst/>
                          <a:latin typeface="Noto Sans"/>
                        </a:rPr>
                        <a:t> / </a:t>
                      </a:r>
                      <a:r>
                        <a:rPr lang="en-US" sz="1600" b="0" kern="1200" err="1">
                          <a:solidFill>
                            <a:schemeClr val="tx1"/>
                          </a:solidFill>
                          <a:effectLst/>
                          <a:latin typeface="Noto Sans"/>
                        </a:rPr>
                        <a:t>biểu</a:t>
                      </a:r>
                      <a:r>
                        <a:rPr lang="en-US" sz="1600" b="0" kern="1200">
                          <a:solidFill>
                            <a:schemeClr val="tx1"/>
                          </a:solidFill>
                          <a:effectLst/>
                          <a:latin typeface="Noto Sans"/>
                        </a:rPr>
                        <a:t> </a:t>
                      </a:r>
                      <a:r>
                        <a:rPr lang="en-US" sz="1600" b="0" kern="1200" err="1">
                          <a:solidFill>
                            <a:schemeClr val="tx1"/>
                          </a:solidFill>
                          <a:effectLst/>
                          <a:latin typeface="Noto Sans"/>
                        </a:rPr>
                        <a:t>đồ</a:t>
                      </a:r>
                      <a:r>
                        <a:rPr lang="en-US" sz="1600" b="0" kern="1200">
                          <a:solidFill>
                            <a:schemeClr val="tx1"/>
                          </a:solidFill>
                          <a:effectLst/>
                          <a:latin typeface="Noto Sans"/>
                        </a:rPr>
                        <a:t> </a:t>
                      </a:r>
                      <a:r>
                        <a:rPr lang="en-US" sz="1600" b="0" kern="1200" err="1">
                          <a:solidFill>
                            <a:schemeClr val="tx1"/>
                          </a:solidFill>
                          <a:effectLst/>
                          <a:latin typeface="Noto Sans"/>
                        </a:rPr>
                        <a:t>vận</a:t>
                      </a:r>
                      <a:r>
                        <a:rPr lang="en-US" sz="1600" b="0" kern="1200">
                          <a:solidFill>
                            <a:schemeClr val="tx1"/>
                          </a:solidFill>
                          <a:effectLst/>
                          <a:latin typeface="Noto Sans"/>
                        </a:rPr>
                        <a:t> </a:t>
                      </a:r>
                      <a:r>
                        <a:rPr lang="en-US" sz="1600" b="0" kern="1200" err="1">
                          <a:solidFill>
                            <a:schemeClr val="tx1"/>
                          </a:solidFill>
                          <a:effectLst/>
                          <a:latin typeface="Noto Sans"/>
                        </a:rPr>
                        <a:t>tốc</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a:solidFill>
                            <a:schemeClr val="tx1"/>
                          </a:solidFill>
                          <a:effectLst/>
                          <a:latin typeface="Noto Sans"/>
                        </a:rPr>
                        <a:t>Ngưỡng </a:t>
                      </a:r>
                      <a:r>
                        <a:rPr lang="en-US" sz="1600" b="0" kern="1200" err="1">
                          <a:solidFill>
                            <a:schemeClr val="tx1"/>
                          </a:solidFill>
                          <a:effectLst/>
                          <a:latin typeface="Noto Sans"/>
                        </a:rPr>
                        <a:t>cục</a:t>
                      </a:r>
                      <a:r>
                        <a:rPr lang="en-US" sz="1600" b="0" kern="1200">
                          <a:solidFill>
                            <a:schemeClr val="tx1"/>
                          </a:solidFill>
                          <a:effectLst/>
                          <a:latin typeface="Noto Sans"/>
                        </a:rPr>
                        <a:t> </a:t>
                      </a:r>
                      <a:r>
                        <a:rPr lang="en-US" sz="1600" b="0" kern="1200" err="1">
                          <a:solidFill>
                            <a:schemeClr val="tx1"/>
                          </a:solidFill>
                          <a:effectLst/>
                          <a:latin typeface="Noto Sans"/>
                        </a:rPr>
                        <a:t>bộ</a:t>
                      </a:r>
                      <a:r>
                        <a:rPr lang="en-US" sz="1600" b="0" kern="1200">
                          <a:solidFill>
                            <a:schemeClr val="tx1"/>
                          </a:solidFill>
                          <a:effectLst/>
                          <a:latin typeface="Noto Sans"/>
                        </a:rPr>
                        <a:t> / </a:t>
                      </a:r>
                      <a:r>
                        <a:rPr lang="en-US" sz="1600" b="0" kern="1200" err="1">
                          <a:solidFill>
                            <a:schemeClr val="tx1"/>
                          </a:solidFill>
                          <a:effectLst/>
                          <a:latin typeface="Noto Sans"/>
                        </a:rPr>
                        <a:t>dãy</a:t>
                      </a:r>
                      <a:r>
                        <a:rPr lang="en-US" sz="1600" b="0" kern="1200">
                          <a:solidFill>
                            <a:schemeClr val="tx1"/>
                          </a:solidFill>
                          <a:effectLst/>
                          <a:latin typeface="Noto Sans"/>
                        </a:rPr>
                        <a:t> v(s) </a:t>
                      </a:r>
                      <a:r>
                        <a:rPr lang="en-US" sz="1600" b="0" kern="1200" err="1">
                          <a:solidFill>
                            <a:schemeClr val="tx1"/>
                          </a:solidFill>
                          <a:effectLst/>
                          <a:latin typeface="Noto Sans"/>
                        </a:rPr>
                        <a:t>sau</a:t>
                      </a:r>
                      <a:r>
                        <a:rPr lang="en-US" sz="1600" b="0" kern="1200">
                          <a:solidFill>
                            <a:schemeClr val="tx1"/>
                          </a:solidFill>
                          <a:effectLst/>
                          <a:latin typeface="Noto Sans"/>
                        </a:rPr>
                        <a:t> </a:t>
                      </a:r>
                      <a:r>
                        <a:rPr lang="en-US" sz="1600" b="0" kern="1200" err="1">
                          <a:solidFill>
                            <a:schemeClr val="tx1"/>
                          </a:solidFill>
                          <a:effectLst/>
                          <a:latin typeface="Noto Sans"/>
                        </a:rPr>
                        <a:t>quét</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3180350404"/>
                  </a:ext>
                </a:extLst>
              </a:tr>
              <a:tr h="406527">
                <a:tc>
                  <a:txBody>
                    <a:bodyPr/>
                    <a:lstStyle/>
                    <a:p>
                      <a:pPr marL="0" algn="l" rtl="0" eaLnBrk="1" latinLnBrk="0" hangingPunct="1">
                        <a:buNone/>
                      </a:pPr>
                      <a:r>
                        <a:rPr lang="en-US" sz="1600" b="0" kern="1200">
                          <a:solidFill>
                            <a:schemeClr val="tx1"/>
                          </a:solidFill>
                          <a:effectLst/>
                          <a:latin typeface="Noto Sans"/>
                        </a:rPr>
                        <a:t>swept-footprint</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vùng</a:t>
                      </a:r>
                      <a:r>
                        <a:rPr lang="en-US" sz="1600" b="0" kern="1200">
                          <a:solidFill>
                            <a:schemeClr val="tx1"/>
                          </a:solidFill>
                          <a:effectLst/>
                          <a:latin typeface="Noto Sans"/>
                        </a:rPr>
                        <a:t> </a:t>
                      </a:r>
                      <a:r>
                        <a:rPr lang="en-US" sz="1600" b="0" kern="1200" err="1">
                          <a:solidFill>
                            <a:schemeClr val="tx1"/>
                          </a:solidFill>
                          <a:effectLst/>
                          <a:latin typeface="Noto Sans"/>
                        </a:rPr>
                        <a:t>quét</a:t>
                      </a:r>
                      <a:r>
                        <a:rPr lang="en-US" sz="1600" b="0" kern="1200">
                          <a:solidFill>
                            <a:schemeClr val="tx1"/>
                          </a:solidFill>
                          <a:effectLst/>
                          <a:latin typeface="Noto Sans"/>
                        </a:rPr>
                        <a:t> </a:t>
                      </a:r>
                      <a:r>
                        <a:rPr lang="en-US" sz="1600" b="0" kern="1200" err="1">
                          <a:solidFill>
                            <a:schemeClr val="tx1"/>
                          </a:solidFill>
                          <a:effectLst/>
                          <a:latin typeface="Noto Sans"/>
                        </a:rPr>
                        <a:t>hình</a:t>
                      </a:r>
                      <a:r>
                        <a:rPr lang="en-US" sz="1600" b="0" kern="1200">
                          <a:solidFill>
                            <a:schemeClr val="tx1"/>
                          </a:solidFill>
                          <a:effectLst/>
                          <a:latin typeface="Noto Sans"/>
                        </a:rPr>
                        <a:t> bao robot</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Hợp</a:t>
                      </a:r>
                      <a:r>
                        <a:rPr lang="en-US" sz="1600" b="0" kern="1200">
                          <a:solidFill>
                            <a:schemeClr val="tx1"/>
                          </a:solidFill>
                          <a:effectLst/>
                          <a:latin typeface="Noto Sans"/>
                        </a:rPr>
                        <a:t> </a:t>
                      </a:r>
                      <a:r>
                        <a:rPr lang="en-US" sz="1600" b="0" kern="1200" err="1">
                          <a:solidFill>
                            <a:schemeClr val="tx1"/>
                          </a:solidFill>
                          <a:effectLst/>
                          <a:latin typeface="Noto Sans"/>
                        </a:rPr>
                        <a:t>của</a:t>
                      </a:r>
                      <a:r>
                        <a:rPr lang="en-US" sz="1600" b="0" kern="1200">
                          <a:solidFill>
                            <a:schemeClr val="tx1"/>
                          </a:solidFill>
                          <a:effectLst/>
                          <a:latin typeface="Noto Sans"/>
                        </a:rPr>
                        <a:t> footprint </a:t>
                      </a:r>
                      <a:r>
                        <a:rPr lang="en-US" sz="1600" b="0" kern="1200" err="1">
                          <a:solidFill>
                            <a:schemeClr val="tx1"/>
                          </a:solidFill>
                          <a:effectLst/>
                          <a:latin typeface="Noto Sans"/>
                        </a:rPr>
                        <a:t>dọc</a:t>
                      </a:r>
                      <a:r>
                        <a:rPr lang="en-US" sz="1600" b="0" kern="1200">
                          <a:solidFill>
                            <a:schemeClr val="tx1"/>
                          </a:solidFill>
                          <a:effectLst/>
                          <a:latin typeface="Noto Sans"/>
                        </a:rPr>
                        <a:t> </a:t>
                      </a:r>
                      <a:r>
                        <a:rPr lang="en-US" sz="1600" b="0" kern="1200" err="1">
                          <a:solidFill>
                            <a:schemeClr val="tx1"/>
                          </a:solidFill>
                          <a:effectLst/>
                          <a:latin typeface="Noto Sans"/>
                        </a:rPr>
                        <a:t>chuyển</a:t>
                      </a:r>
                      <a:r>
                        <a:rPr lang="en-US" sz="1600" b="0" kern="1200">
                          <a:solidFill>
                            <a:schemeClr val="tx1"/>
                          </a:solidFill>
                          <a:effectLst/>
                          <a:latin typeface="Noto Sans"/>
                        </a:rPr>
                        <a:t> </a:t>
                      </a:r>
                      <a:r>
                        <a:rPr lang="en-US" sz="1600" b="0" kern="1200" err="1">
                          <a:solidFill>
                            <a:schemeClr val="tx1"/>
                          </a:solidFill>
                          <a:effectLst/>
                          <a:latin typeface="Noto Sans"/>
                        </a:rPr>
                        <a:t>động</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408952373"/>
                  </a:ext>
                </a:extLst>
              </a:tr>
              <a:tr h="406527">
                <a:tc>
                  <a:txBody>
                    <a:bodyPr/>
                    <a:lstStyle/>
                    <a:p>
                      <a:pPr marL="0" algn="l" rtl="0" eaLnBrk="1" latinLnBrk="0" hangingPunct="1">
                        <a:buNone/>
                      </a:pPr>
                      <a:r>
                        <a:rPr lang="en-US" sz="1600" b="0" kern="1200">
                          <a:solidFill>
                            <a:schemeClr val="tx1"/>
                          </a:solidFill>
                          <a:effectLst/>
                          <a:latin typeface="Noto Sans"/>
                        </a:rPr>
                        <a:t>time gate</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err="1">
                          <a:solidFill>
                            <a:schemeClr val="tx1"/>
                          </a:solidFill>
                          <a:effectLst/>
                          <a:latin typeface="Noto Sans"/>
                        </a:rPr>
                        <a:t>điều</a:t>
                      </a:r>
                      <a:r>
                        <a:rPr lang="en-US" sz="1600" b="0" kern="1200">
                          <a:solidFill>
                            <a:schemeClr val="tx1"/>
                          </a:solidFill>
                          <a:effectLst/>
                          <a:latin typeface="Noto Sans"/>
                        </a:rPr>
                        <a:t> </a:t>
                      </a:r>
                      <a:r>
                        <a:rPr lang="en-US" sz="1600" b="0" kern="1200" err="1">
                          <a:solidFill>
                            <a:schemeClr val="tx1"/>
                          </a:solidFill>
                          <a:effectLst/>
                          <a:latin typeface="Noto Sans"/>
                        </a:rPr>
                        <a:t>kiện</a:t>
                      </a:r>
                      <a:r>
                        <a:rPr lang="en-US" sz="1600" b="0" kern="1200">
                          <a:solidFill>
                            <a:schemeClr val="tx1"/>
                          </a:solidFill>
                          <a:effectLst/>
                          <a:latin typeface="Noto Sans"/>
                        </a:rPr>
                        <a:t> </a:t>
                      </a:r>
                      <a:r>
                        <a:rPr lang="en-US" sz="1600" b="0" kern="1200" err="1">
                          <a:solidFill>
                            <a:schemeClr val="tx1"/>
                          </a:solidFill>
                          <a:effectLst/>
                          <a:latin typeface="Noto Sans"/>
                        </a:rPr>
                        <a:t>ưu</a:t>
                      </a:r>
                      <a:r>
                        <a:rPr lang="en-US" sz="1600" b="0" kern="1200">
                          <a:solidFill>
                            <a:schemeClr val="tx1"/>
                          </a:solidFill>
                          <a:effectLst/>
                          <a:latin typeface="Noto Sans"/>
                        </a:rPr>
                        <a:t> </a:t>
                      </a:r>
                      <a:r>
                        <a:rPr lang="en-US" sz="1600" b="0" kern="1200" err="1">
                          <a:solidFill>
                            <a:schemeClr val="tx1"/>
                          </a:solidFill>
                          <a:effectLst/>
                          <a:latin typeface="Noto Sans"/>
                        </a:rPr>
                        <a:t>thế</a:t>
                      </a:r>
                      <a:r>
                        <a:rPr lang="en-US" sz="1600" b="0" kern="1200">
                          <a:solidFill>
                            <a:schemeClr val="tx1"/>
                          </a:solidFill>
                          <a:effectLst/>
                          <a:latin typeface="Noto Sans"/>
                        </a:rPr>
                        <a:t> </a:t>
                      </a:r>
                      <a:r>
                        <a:rPr lang="en-US" sz="1600" b="0" kern="1200" err="1">
                          <a:solidFill>
                            <a:schemeClr val="tx1"/>
                          </a:solidFill>
                          <a:effectLst/>
                          <a:latin typeface="Noto Sans"/>
                        </a:rPr>
                        <a:t>thời</a:t>
                      </a:r>
                      <a:r>
                        <a:rPr lang="en-US" sz="1600" b="0" kern="1200">
                          <a:solidFill>
                            <a:schemeClr val="tx1"/>
                          </a:solidFill>
                          <a:effectLst/>
                          <a:latin typeface="Noto Sans"/>
                        </a:rPr>
                        <a:t> </a:t>
                      </a:r>
                      <a:r>
                        <a:rPr lang="en-US" sz="1600" b="0" kern="1200" err="1">
                          <a:solidFill>
                            <a:schemeClr val="tx1"/>
                          </a:solidFill>
                          <a:effectLst/>
                          <a:latin typeface="Noto Sans"/>
                        </a:rPr>
                        <a:t>gian</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a:solidFill>
                            <a:schemeClr val="tx1"/>
                          </a:solidFill>
                          <a:effectLst/>
                          <a:latin typeface="Noto Sans"/>
                        </a:rPr>
                        <a:t>Giữ </a:t>
                      </a:r>
                      <a:r>
                        <a:rPr lang="en-US" sz="1600" b="0" kern="1200" err="1">
                          <a:solidFill>
                            <a:schemeClr val="tx1"/>
                          </a:solidFill>
                          <a:effectLst/>
                          <a:latin typeface="Noto Sans"/>
                        </a:rPr>
                        <a:t>đoạn</a:t>
                      </a:r>
                      <a:r>
                        <a:rPr lang="en-US" sz="1600" b="0" kern="1200">
                          <a:solidFill>
                            <a:schemeClr val="tx1"/>
                          </a:solidFill>
                          <a:effectLst/>
                          <a:latin typeface="Noto Sans"/>
                        </a:rPr>
                        <a:t> </a:t>
                      </a:r>
                      <a:r>
                        <a:rPr lang="en-US" sz="1600" b="0" kern="1200" err="1">
                          <a:solidFill>
                            <a:schemeClr val="tx1"/>
                          </a:solidFill>
                          <a:effectLst/>
                          <a:latin typeface="Noto Sans"/>
                        </a:rPr>
                        <a:t>chuyển</a:t>
                      </a:r>
                      <a:r>
                        <a:rPr lang="en-US" sz="1600" b="0" kern="1200">
                          <a:solidFill>
                            <a:schemeClr val="tx1"/>
                          </a:solidFill>
                          <a:effectLst/>
                          <a:latin typeface="Noto Sans"/>
                        </a:rPr>
                        <a:t> </a:t>
                      </a:r>
                      <a:r>
                        <a:rPr lang="en-US" sz="1600" b="0" kern="1200" err="1">
                          <a:solidFill>
                            <a:schemeClr val="tx1"/>
                          </a:solidFill>
                          <a:effectLst/>
                          <a:latin typeface="Noto Sans"/>
                        </a:rPr>
                        <a:t>tiếp</a:t>
                      </a:r>
                      <a:r>
                        <a:rPr lang="en-US" sz="1600" b="0" kern="1200">
                          <a:solidFill>
                            <a:schemeClr val="tx1"/>
                          </a:solidFill>
                          <a:effectLst/>
                          <a:latin typeface="Noto Sans"/>
                        </a:rPr>
                        <a:t> </a:t>
                      </a:r>
                      <a:r>
                        <a:rPr lang="en-US" sz="1600" b="0" kern="1200" err="1">
                          <a:solidFill>
                            <a:schemeClr val="tx1"/>
                          </a:solidFill>
                          <a:effectLst/>
                          <a:latin typeface="Noto Sans"/>
                        </a:rPr>
                        <a:t>khi</a:t>
                      </a:r>
                      <a:r>
                        <a:rPr lang="en-US" sz="1600" b="0" kern="1200">
                          <a:solidFill>
                            <a:schemeClr val="tx1"/>
                          </a:solidFill>
                          <a:effectLst/>
                          <a:latin typeface="Noto Sans"/>
                        </a:rPr>
                        <a:t> </a:t>
                      </a:r>
                      <a:r>
                        <a:rPr lang="en-US" sz="1600" b="0" kern="1200" err="1">
                          <a:solidFill>
                            <a:schemeClr val="tx1"/>
                          </a:solidFill>
                          <a:effectLst/>
                          <a:latin typeface="Noto Sans"/>
                        </a:rPr>
                        <a:t>có</a:t>
                      </a:r>
                      <a:r>
                        <a:rPr lang="en-US" sz="1600" b="0" kern="1200">
                          <a:solidFill>
                            <a:schemeClr val="tx1"/>
                          </a:solidFill>
                          <a:effectLst/>
                          <a:latin typeface="Noto Sans"/>
                        </a:rPr>
                        <a:t> </a:t>
                      </a:r>
                      <a:r>
                        <a:rPr lang="en-US" sz="1600" b="0" kern="1200" err="1">
                          <a:solidFill>
                            <a:schemeClr val="tx1"/>
                          </a:solidFill>
                          <a:effectLst/>
                          <a:latin typeface="Noto Sans"/>
                        </a:rPr>
                        <a:t>lợi</a:t>
                      </a:r>
                      <a:r>
                        <a:rPr lang="en-US" sz="1600" b="0" kern="1200">
                          <a:solidFill>
                            <a:schemeClr val="tx1"/>
                          </a:solidFill>
                          <a:effectLst/>
                          <a:latin typeface="Noto Sans"/>
                        </a:rPr>
                        <a:t> </a:t>
                      </a:r>
                      <a:r>
                        <a:rPr lang="en-US" sz="1600" b="0" kern="1200" err="1">
                          <a:solidFill>
                            <a:schemeClr val="tx1"/>
                          </a:solidFill>
                          <a:effectLst/>
                          <a:latin typeface="Noto Sans"/>
                        </a:rPr>
                        <a:t>hơn</a:t>
                      </a:r>
                      <a:r>
                        <a:rPr lang="en-US" sz="1600" b="0" kern="1200">
                          <a:solidFill>
                            <a:schemeClr val="tx1"/>
                          </a:solidFill>
                          <a:effectLst/>
                          <a:latin typeface="Noto Sans"/>
                        </a:rPr>
                        <a:t> quay </a:t>
                      </a:r>
                      <a:r>
                        <a:rPr lang="en-US" sz="1600" b="0" kern="1200" err="1">
                          <a:solidFill>
                            <a:schemeClr val="tx1"/>
                          </a:solidFill>
                          <a:effectLst/>
                          <a:latin typeface="Noto Sans"/>
                        </a:rPr>
                        <a:t>tại</a:t>
                      </a:r>
                      <a:r>
                        <a:rPr lang="en-US" sz="1600" b="0" kern="1200">
                          <a:solidFill>
                            <a:schemeClr val="tx1"/>
                          </a:solidFill>
                          <a:effectLst/>
                          <a:latin typeface="Noto Sans"/>
                        </a:rPr>
                        <a:t> </a:t>
                      </a:r>
                      <a:r>
                        <a:rPr lang="en-US" sz="1600" b="0" kern="1200" err="1">
                          <a:solidFill>
                            <a:schemeClr val="tx1"/>
                          </a:solidFill>
                          <a:effectLst/>
                          <a:latin typeface="Noto Sans"/>
                        </a:rPr>
                        <a:t>chỗ</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127292582"/>
                  </a:ext>
                </a:extLst>
              </a:tr>
              <a:tr h="406527">
                <a:tc>
                  <a:txBody>
                    <a:bodyPr/>
                    <a:lstStyle/>
                    <a:p>
                      <a:pPr marL="0" algn="l" rtl="0" eaLnBrk="1" latinLnBrk="0" hangingPunct="1">
                        <a:buNone/>
                      </a:pPr>
                      <a:r>
                        <a:rPr lang="en-US" sz="1600" b="0" kern="1200">
                          <a:solidFill>
                            <a:schemeClr val="tx1"/>
                          </a:solidFill>
                          <a:effectLst/>
                          <a:latin typeface="Noto Sans"/>
                        </a:rPr>
                        <a:t>pivot</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a:solidFill>
                            <a:schemeClr val="tx1"/>
                          </a:solidFill>
                          <a:effectLst/>
                          <a:latin typeface="Noto Sans"/>
                        </a:rPr>
                        <a:t>quay </a:t>
                      </a:r>
                      <a:r>
                        <a:rPr lang="en-US" sz="1600" b="0" kern="1200" err="1">
                          <a:solidFill>
                            <a:schemeClr val="tx1"/>
                          </a:solidFill>
                          <a:effectLst/>
                          <a:latin typeface="Noto Sans"/>
                        </a:rPr>
                        <a:t>tại</a:t>
                      </a:r>
                      <a:r>
                        <a:rPr lang="en-US" sz="1600" b="0" kern="1200">
                          <a:solidFill>
                            <a:schemeClr val="tx1"/>
                          </a:solidFill>
                          <a:effectLst/>
                          <a:latin typeface="Noto Sans"/>
                        </a:rPr>
                        <a:t> </a:t>
                      </a:r>
                      <a:r>
                        <a:rPr lang="en-US" sz="1600" b="0" kern="1200" err="1">
                          <a:solidFill>
                            <a:schemeClr val="tx1"/>
                          </a:solidFill>
                          <a:effectLst/>
                          <a:latin typeface="Noto Sans"/>
                        </a:rPr>
                        <a:t>chỗ</a:t>
                      </a:r>
                      <a:endParaRPr lang="en-US" sz="1600">
                        <a:solidFill>
                          <a:schemeClr val="tx1"/>
                        </a:solidFill>
                        <a:effectLst/>
                        <a:latin typeface="Noto Sans"/>
                      </a:endParaRPr>
                    </a:p>
                  </a:txBody>
                  <a:tcPr marL="0" marR="0" marT="0" marB="0" anchor="ctr">
                    <a:lnL>
                      <a:noFill/>
                    </a:lnL>
                    <a:lnR>
                      <a:noFill/>
                    </a:lnR>
                    <a:lnT>
                      <a:noFill/>
                    </a:lnT>
                    <a:lnB>
                      <a:noFill/>
                    </a:lnB>
                    <a:noFill/>
                  </a:tcPr>
                </a:tc>
                <a:tc>
                  <a:txBody>
                    <a:bodyPr/>
                    <a:lstStyle/>
                    <a:p>
                      <a:pPr marL="0" algn="ctr" rtl="0" eaLnBrk="1" latinLnBrk="0" hangingPunct="1">
                        <a:buNone/>
                      </a:pPr>
                      <a:r>
                        <a:rPr lang="en-US" sz="1600" b="0" kern="1200">
                          <a:solidFill>
                            <a:schemeClr val="tx1"/>
                          </a:solidFill>
                          <a:effectLst/>
                          <a:latin typeface="Noto Sans"/>
                        </a:rPr>
                        <a:t>Hai bánh quay </a:t>
                      </a:r>
                      <a:r>
                        <a:rPr lang="en-US" sz="1600" b="0" kern="1200" err="1">
                          <a:solidFill>
                            <a:schemeClr val="tx1"/>
                          </a:solidFill>
                          <a:effectLst/>
                          <a:latin typeface="Noto Sans"/>
                        </a:rPr>
                        <a:t>ngược</a:t>
                      </a:r>
                      <a:r>
                        <a:rPr lang="en-US" sz="1600" b="0" kern="1200">
                          <a:solidFill>
                            <a:schemeClr val="tx1"/>
                          </a:solidFill>
                          <a:effectLst/>
                          <a:latin typeface="Noto Sans"/>
                        </a:rPr>
                        <a:t> </a:t>
                      </a:r>
                      <a:r>
                        <a:rPr lang="en-US" sz="1600" b="0" kern="1200" err="1">
                          <a:solidFill>
                            <a:schemeClr val="tx1"/>
                          </a:solidFill>
                          <a:effectLst/>
                          <a:latin typeface="Noto Sans"/>
                        </a:rPr>
                        <a:t>chiều</a:t>
                      </a:r>
                      <a:r>
                        <a:rPr lang="en-US" sz="1600" b="0" kern="1200">
                          <a:solidFill>
                            <a:schemeClr val="tx1"/>
                          </a:solidFill>
                          <a:effectLst/>
                          <a:latin typeface="Noto Sans"/>
                        </a:rPr>
                        <a:t> </a:t>
                      </a:r>
                      <a:r>
                        <a:rPr lang="en-US" sz="1600" b="0" kern="1200" err="1">
                          <a:solidFill>
                            <a:schemeClr val="tx1"/>
                          </a:solidFill>
                          <a:effectLst/>
                          <a:latin typeface="Noto Sans"/>
                        </a:rPr>
                        <a:t>để</a:t>
                      </a:r>
                      <a:r>
                        <a:rPr lang="en-US" sz="1600" b="0" kern="1200">
                          <a:solidFill>
                            <a:schemeClr val="tx1"/>
                          </a:solidFill>
                          <a:effectLst/>
                          <a:latin typeface="Noto Sans"/>
                        </a:rPr>
                        <a:t> </a:t>
                      </a:r>
                      <a:r>
                        <a:rPr lang="en-US" sz="1600" b="0" kern="1200" err="1">
                          <a:solidFill>
                            <a:schemeClr val="tx1"/>
                          </a:solidFill>
                          <a:effectLst/>
                          <a:latin typeface="Noto Sans"/>
                        </a:rPr>
                        <a:t>đổi</a:t>
                      </a:r>
                      <a:r>
                        <a:rPr lang="en-US" sz="1600" b="0" kern="1200">
                          <a:solidFill>
                            <a:schemeClr val="tx1"/>
                          </a:solidFill>
                          <a:effectLst/>
                          <a:latin typeface="Noto Sans"/>
                        </a:rPr>
                        <a:t> </a:t>
                      </a:r>
                      <a:r>
                        <a:rPr lang="en-US" sz="1600" b="0" kern="1200" err="1">
                          <a:solidFill>
                            <a:schemeClr val="tx1"/>
                          </a:solidFill>
                          <a:effectLst/>
                          <a:latin typeface="Noto Sans"/>
                        </a:rPr>
                        <a:t>góc</a:t>
                      </a:r>
                      <a:r>
                        <a:rPr lang="en-US" sz="1600" b="0" kern="1200">
                          <a:solidFill>
                            <a:schemeClr val="tx1"/>
                          </a:solidFill>
                          <a:effectLst/>
                          <a:latin typeface="Noto Sans"/>
                        </a:rPr>
                        <a:t> </a:t>
                      </a:r>
                      <a:r>
                        <a:rPr lang="en-US" sz="1600" b="0" kern="1200" err="1">
                          <a:solidFill>
                            <a:schemeClr val="tx1"/>
                          </a:solidFill>
                          <a:effectLst/>
                          <a:latin typeface="Noto Sans"/>
                        </a:rPr>
                        <a:t>hướng</a:t>
                      </a:r>
                      <a:endParaRPr lang="en-US" sz="1600">
                        <a:solidFill>
                          <a:schemeClr val="tx1"/>
                        </a:solidFill>
                        <a:effectLst/>
                        <a:latin typeface="Noto Sans"/>
                      </a:endParaRPr>
                    </a:p>
                  </a:txBody>
                  <a:tcPr marL="0" marR="0" marT="0" marB="0" anchor="ctr">
                    <a:lnL>
                      <a:noFill/>
                    </a:lnL>
                    <a:lnR>
                      <a:noFill/>
                    </a:lnR>
                    <a:lnT>
                      <a:noFill/>
                    </a:lnT>
                    <a:lnB>
                      <a:noFill/>
                    </a:lnB>
                    <a:noFill/>
                  </a:tcPr>
                </a:tc>
                <a:extLst>
                  <a:ext uri="{0D108BD9-81ED-4DB2-BD59-A6C34878D82A}">
                    <a16:rowId xmlns:a16="http://schemas.microsoft.com/office/drawing/2014/main" val="2780452850"/>
                  </a:ext>
                </a:extLst>
              </a:tr>
            </a:tbl>
          </a:graphicData>
        </a:graphic>
      </p:graphicFrame>
    </p:spTree>
    <p:extLst>
      <p:ext uri="{BB962C8B-B14F-4D97-AF65-F5344CB8AC3E}">
        <p14:creationId xmlns:p14="http://schemas.microsoft.com/office/powerpoint/2010/main" val="3157704771"/>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C220A8999F86104FB9EBB0E297B501C0" ma:contentTypeVersion="11" ma:contentTypeDescription="Tạo tài liệu mới." ma:contentTypeScope="" ma:versionID="36329f2c2de3cc9b43eab4ae8fa4c844">
  <xsd:schema xmlns:xsd="http://www.w3.org/2001/XMLSchema" xmlns:xs="http://www.w3.org/2001/XMLSchema" xmlns:p="http://schemas.microsoft.com/office/2006/metadata/properties" xmlns:ns3="bb57efac-17f8-4f20-be32-b7e833e3d620" targetNamespace="http://schemas.microsoft.com/office/2006/metadata/properties" ma:root="true" ma:fieldsID="cd9f271ffbc8132d3fdd74bc0c965fea" ns3:_="">
    <xsd:import namespace="bb57efac-17f8-4f20-be32-b7e833e3d62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Location" minOccurs="0"/>
                <xsd:element ref="ns3:MediaServiceGenerationTime" minOccurs="0"/>
                <xsd:element ref="ns3:MediaServiceEventHashCode"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57efac-17f8-4f20-be32-b7e833e3d62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bb57efac-17f8-4f20-be32-b7e833e3d62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CBB48D-E6BD-4689-9F4D-D74A47A3C4BB}">
  <ds:schemaRefs>
    <ds:schemaRef ds:uri="bb57efac-17f8-4f20-be32-b7e833e3d6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88D1534-5FB4-4390-ADEC-34E502E80DF2}">
  <ds:schemaRefs>
    <ds:schemaRef ds:uri="bb57efac-17f8-4f20-be32-b7e833e3d62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06843DD-9AC7-4627-A5D9-21A32BBDC1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38</Slides>
  <Notes>0</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Chủ đề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TIẾN CƯƠNG</dc:creator>
  <cp:revision>2</cp:revision>
  <dcterms:created xsi:type="dcterms:W3CDTF">2026-08-11T20:04:13Z</dcterms:created>
  <dcterms:modified xsi:type="dcterms:W3CDTF">2026-08-19T04:39:27Z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0x010100C220A8999F86104FB9EBB0E297B501C0</vt:lpwstr>
  </property>
</Properties>
</file>