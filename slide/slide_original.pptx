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3" r:id="rId22"/>
    <p:sldId id="278" r:id="rId23"/>
    <p:sldId id="280" r:id="rId24"/>
    <p:sldId id="279" r:id="rId25"/>
    <p:sldId id="282" r:id="rId26"/>
    <p:sldId id="281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3D7C3-8629-CEE8-EB1B-3242A7C87D12}" v="600" dt="2026-08-18T16:33:01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2B97AAA-5130-176D-2624-D40E5F545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3036CA3-87F5-8DE9-AF56-26F56D264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596958A-F113-D05F-67CE-33CEF3FF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13C9AD3-9C92-F8F8-95C1-88C65196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3580050-ADD0-80CC-E08E-F3DCD061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973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681570-99D3-FA1B-A3BE-C48BAEDE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3A88F62-3354-D11D-5C88-5FEEA0FDC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0917A45-9248-FC31-C00E-FED43095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B3EC779-DCAF-32FE-1E72-C7C3083F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528BA73-20BD-FA77-5F35-45C2D83E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115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C99BB0-17B1-ABBA-A9B9-024C4404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2705F45-2C76-FA3C-8FE6-A255B1497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8E8F58D-789E-1629-EA12-0062BBF1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18F72CB-9426-2A41-42F9-FD34B984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3E0E35-0EB7-C0AB-B694-A8D555E2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028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D7D293F-DCC6-94C1-327E-B613DC23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5966603-3BD8-2FAC-87A3-D9084ECCE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EF29553-6BBC-7210-2EA3-2C2BB8601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1874770-9BC2-D321-65F9-583A1E7E7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BA32CD96-B6F6-CF10-72BB-F7CCBFEEE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C60D7605-4245-54FE-22FB-F9EA9836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910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774AE9D-4FA7-7403-5EF4-1F9053A6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D30614F-3D5C-F5A4-3F2B-9094B69CD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0CA14A3-1BEC-DD31-E8C9-81D2F7D82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1D3E2C-EAD8-7973-943D-CF542B2BC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61EE17B-FA03-3CFF-E580-38370A560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EC1A7312-F127-C83B-D2DD-E238791F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A816665C-9BAA-EA2B-790A-380F532D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39BC2288-8322-ED10-68CA-88BFC21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638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328501F-0FBF-10D8-D799-693AB4A9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2BF788A3-C15E-AAFF-B761-BDCFF07D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4B6AB4F-552B-842A-7881-72013FAC3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660A896-2FDA-E6FB-5A14-85A0E097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820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CAD23DE8-C8F4-1F6C-8C47-37B28EA9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494A2044-9D12-5CF5-5EA2-40FD12E7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CD2027B-8C29-BAC9-4351-6F97B319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080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D24E1F-DF97-24E8-B1C2-7CEA2911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C664D57-75F3-D7D2-5574-F04089D79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EACA2A1-B789-AEF4-4319-0FB2836A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AD0EC906-5319-A797-2E86-DDB65DEA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BD80D04-8B2B-9A3E-4F5E-B2EDCF53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07E271C-DFCF-ADB7-4FDB-AB0F43C6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416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497527B-DBF3-91CC-85EE-F8548A180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B0201D2-A934-2DC9-2B1C-E7A7AF89B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3181F83C-07FB-A45C-FDF2-97A3417B1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1489380-BD15-F8F4-2BD8-60CFCAB9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A3EC75B-9E48-00F2-35A2-8975E715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A8D1EA4-1481-3548-5E51-F41FC14A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17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DE65DD-81AD-33F6-10C8-FA354CC06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F71B3A68-4953-8BC5-B5C5-44DE07A1A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479A9C0-E7E2-6882-D335-F04FAD98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5F8D3C1-674D-214C-8912-13408F56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458EA0D-59EF-E7C1-82EF-01A3B56E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962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977278A2-29F2-0F7B-39EB-0E36C65B6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827F584-247F-4BA4-21DE-72FA563AA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3B1089F-6C3E-50C1-A108-878DA4127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168D6CB-EDEF-8554-AE48-BCC8F0E1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9DBF80B-AC68-28A4-7204-97CFC618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750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111CBEE6-F3E8-4F53-E81F-FA62811F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41AAA14-349D-08F5-CE1A-02B68F4E4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7517856-1575-B76E-C674-D93F39B53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71B5E-EB6A-4E9B-AD77-5DA3B4E8F40C}" type="datetimeFigureOut">
              <a:rPr lang="vi-VN" smtClean="0"/>
              <a:t>18/08/2026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EBB57F1-9198-325A-6B89-389790DDA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9896989-B2F0-B2A4-6A88-6CBC4EB4A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136BA-1936-4D37-A1E2-C658F6F22C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3973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9B6E0321-3EC3-FBFB-A215-57A8DFDB8157}"/>
              </a:ext>
            </a:extLst>
          </p:cNvPr>
          <p:cNvSpPr txBox="1"/>
          <p:nvPr/>
        </p:nvSpPr>
        <p:spPr>
          <a:xfrm>
            <a:off x="594360" y="502920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err="1"/>
              <a:t>Mục</a:t>
            </a:r>
            <a:r>
              <a:t> </a:t>
            </a:r>
            <a:r>
              <a:rPr err="1"/>
              <a:t>lục</a:t>
            </a:r>
            <a:endParaRPr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B356B07-8A58-9A48-C78D-BEDD10874B6D}"/>
              </a:ext>
            </a:extLst>
          </p:cNvPr>
          <p:cNvSpPr txBox="1"/>
          <p:nvPr/>
        </p:nvSpPr>
        <p:spPr>
          <a:xfrm>
            <a:off x="594360" y="1298448"/>
            <a:ext cx="6528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UcPeriod"/>
            </a:pPr>
            <a:r>
              <a:rPr lang="vi-VN"/>
              <a:t>Tổng quan về hệ thống điều hướng dẫn đường Nav2</a:t>
            </a:r>
          </a:p>
          <a:p>
            <a:pPr marL="400050" indent="-400050">
              <a:buAutoNum type="romanUcPeriod"/>
            </a:pPr>
            <a:r>
              <a:rPr lang="vi-VN"/>
              <a:t>Phương pháp PSTMO</a:t>
            </a:r>
          </a:p>
          <a:p>
            <a:pPr marL="400050" indent="-400050">
              <a:buAutoNum type="romanUcPeriod"/>
            </a:pPr>
            <a:r>
              <a:rPr lang="vi-VN"/>
              <a:t>Thực nghiệm và đánh giá</a:t>
            </a:r>
          </a:p>
        </p:txBody>
      </p:sp>
    </p:spTree>
    <p:extLst>
      <p:ext uri="{BB962C8B-B14F-4D97-AF65-F5344CB8AC3E}">
        <p14:creationId xmlns:p14="http://schemas.microsoft.com/office/powerpoint/2010/main" val="242651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4031B-1F1E-0D9B-D138-46F88F8F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187E264D-DA7C-4933-5259-8486C2B09101}"/>
              </a:ext>
            </a:extLst>
          </p:cNvPr>
          <p:cNvSpPr txBox="1"/>
          <p:nvPr/>
        </p:nvSpPr>
        <p:spPr>
          <a:xfrm>
            <a:off x="594360" y="530352"/>
            <a:ext cx="10698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I. Tổng quan về hệ thống điều hướng dẫn đường Nav2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2270850-6261-6EE7-DAFF-71C205E62A94}"/>
              </a:ext>
            </a:extLst>
          </p:cNvPr>
          <p:cNvSpPr txBox="1"/>
          <p:nvPr/>
        </p:nvSpPr>
        <p:spPr>
          <a:xfrm>
            <a:off x="594360" y="1416749"/>
            <a:ext cx="5321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/>
              <a:t>Tổng quan hệ thống điều hướng Nav2</a:t>
            </a:r>
          </a:p>
          <a:p>
            <a:pPr marL="342900" indent="-342900">
              <a:buAutoNum type="arabicPeriod"/>
            </a:pPr>
            <a:r>
              <a:rPr lang="vi-VN"/>
              <a:t>Quy trình xử lý đường đi của hệ thống Nav2</a:t>
            </a:r>
          </a:p>
          <a:p>
            <a:pPr marL="342900" indent="-342900">
              <a:buAutoNum type="arabicPeriod"/>
            </a:pPr>
            <a:r>
              <a:rPr lang="vi-VN"/>
              <a:t>Bài toán làm mượt đường đi trong Nav2</a:t>
            </a:r>
          </a:p>
          <a:p>
            <a:pPr marL="342900" indent="-342900">
              <a:buAutoNum type="arabicPeriod"/>
            </a:pPr>
            <a:r>
              <a:rPr lang="vi-VN"/>
              <a:t>Các phương pháp làm mượt đường đi đã có</a:t>
            </a:r>
          </a:p>
        </p:txBody>
      </p:sp>
    </p:spTree>
    <p:extLst>
      <p:ext uri="{BB962C8B-B14F-4D97-AF65-F5344CB8AC3E}">
        <p14:creationId xmlns:p14="http://schemas.microsoft.com/office/powerpoint/2010/main" val="174704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4FA6-E8E0-8B77-7A2E-97F6B11E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A4898418-0E94-DD3E-D99B-929FB5EC03CC}"/>
              </a:ext>
            </a:extLst>
          </p:cNvPr>
          <p:cNvSpPr txBox="1"/>
          <p:nvPr/>
        </p:nvSpPr>
        <p:spPr>
          <a:xfrm>
            <a:off x="594360" y="530352"/>
            <a:ext cx="10698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I. Tổng quan về hệ thống điều hướng dẫn đường Nav2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F5059BC-D15E-3CA7-6AA1-22D24BF4BC35}"/>
              </a:ext>
            </a:extLst>
          </p:cNvPr>
          <p:cNvSpPr txBox="1"/>
          <p:nvPr/>
        </p:nvSpPr>
        <p:spPr>
          <a:xfrm>
            <a:off x="594360" y="1232083"/>
            <a:ext cx="532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/>
              <a:t>Tổng quan hệ thống điều hướng Nav2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26D6B4EA-DDE7-F886-0CDD-6CADBA09A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155" y="1416749"/>
            <a:ext cx="4856932" cy="5221352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C90AC083-9D73-2119-9F1D-D973BEAC9BEA}"/>
              </a:ext>
            </a:extLst>
          </p:cNvPr>
          <p:cNvSpPr txBox="1"/>
          <p:nvPr/>
        </p:nvSpPr>
        <p:spPr>
          <a:xfrm>
            <a:off x="896111" y="1911095"/>
            <a:ext cx="7107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Nav2 là hệ thống bộ công cụ hoàn chỉnh gồm nhiều </a:t>
            </a:r>
            <a:r>
              <a:rPr lang="vi-VN" err="1"/>
              <a:t>plugin</a:t>
            </a:r>
            <a:r>
              <a:rPr lang="vi-VN"/>
              <a:t> độc lập để </a:t>
            </a:r>
            <a:r>
              <a:rPr lang="vi-VN" err="1"/>
              <a:t>robot</a:t>
            </a:r>
            <a:r>
              <a:rPr lang="vi-VN"/>
              <a:t> tự động di chuyển từ điểm A đến điểm B trong môi trường đã biết hoặc chưa biết. 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3AD727B3-198C-199B-3965-B412C0787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30" y="3328771"/>
            <a:ext cx="5689931" cy="291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91C5-B951-17CE-27F7-D53000B8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0FFF8432-222C-F124-1230-9BF530826E83}"/>
              </a:ext>
            </a:extLst>
          </p:cNvPr>
          <p:cNvSpPr txBox="1"/>
          <p:nvPr/>
        </p:nvSpPr>
        <p:spPr>
          <a:xfrm>
            <a:off x="594360" y="530352"/>
            <a:ext cx="10698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I. Tổng quan về hệ thống điều hướng dẫn đường Nav2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8C8DADF2-BA2B-5D6E-9CCC-C54DF151A3B6}"/>
              </a:ext>
            </a:extLst>
          </p:cNvPr>
          <p:cNvSpPr txBox="1"/>
          <p:nvPr/>
        </p:nvSpPr>
        <p:spPr>
          <a:xfrm>
            <a:off x="594360" y="1232083"/>
            <a:ext cx="532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2. Quy trình xử lý đường đi của hệ thống Nav2</a:t>
            </a:r>
          </a:p>
        </p:txBody>
      </p:sp>
      <p:cxnSp>
        <p:nvCxnSpPr>
          <p:cNvPr id="3" name="Connector 5">
            <a:extLst>
              <a:ext uri="{FF2B5EF4-FFF2-40B4-BE49-F238E27FC236}">
                <a16:creationId xmlns:a16="http://schemas.microsoft.com/office/drawing/2014/main" id="{F3EB7038-3420-7FF6-ACBD-0A20653EFA38}"/>
              </a:ext>
            </a:extLst>
          </p:cNvPr>
          <p:cNvCxnSpPr/>
          <p:nvPr/>
        </p:nvCxnSpPr>
        <p:spPr>
          <a:xfrm>
            <a:off x="568453" y="1983106"/>
            <a:ext cx="10991088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DF0267C7-73F2-792C-BBDA-96B8D570C057}"/>
              </a:ext>
            </a:extLst>
          </p:cNvPr>
          <p:cNvSpPr/>
          <p:nvPr/>
        </p:nvSpPr>
        <p:spPr>
          <a:xfrm>
            <a:off x="723901" y="2303146"/>
            <a:ext cx="179771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20461650-2D21-5340-30C2-3E826F2F7D45}"/>
              </a:ext>
            </a:extLst>
          </p:cNvPr>
          <p:cNvSpPr txBox="1"/>
          <p:nvPr/>
        </p:nvSpPr>
        <p:spPr>
          <a:xfrm>
            <a:off x="769621" y="2358010"/>
            <a:ext cx="170627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40" b="0" i="0">
                <a:solidFill>
                  <a:srgbClr val="172B3A"/>
                </a:solidFill>
                <a:latin typeface="Arial"/>
              </a:defRPr>
            </a:pPr>
            <a:r>
              <a:t>Map + Sensor</a:t>
            </a:r>
          </a:p>
        </p:txBody>
      </p:sp>
      <p:sp>
        <p:nvSpPr>
          <p:cNvPr id="9" name="Right Arrow 9">
            <a:extLst>
              <a:ext uri="{FF2B5EF4-FFF2-40B4-BE49-F238E27FC236}">
                <a16:creationId xmlns:a16="http://schemas.microsoft.com/office/drawing/2014/main" id="{8B428BD8-B699-6271-3EEF-9A5694411A16}"/>
              </a:ext>
            </a:extLst>
          </p:cNvPr>
          <p:cNvSpPr/>
          <p:nvPr/>
        </p:nvSpPr>
        <p:spPr>
          <a:xfrm>
            <a:off x="2613051" y="2623186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227A5D62-CB94-C23A-E372-5BE3280EA540}"/>
              </a:ext>
            </a:extLst>
          </p:cNvPr>
          <p:cNvSpPr/>
          <p:nvPr/>
        </p:nvSpPr>
        <p:spPr>
          <a:xfrm>
            <a:off x="2960523" y="2303146"/>
            <a:ext cx="179771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19A3D96-3871-0005-AA72-D507107B1EBA}"/>
              </a:ext>
            </a:extLst>
          </p:cNvPr>
          <p:cNvSpPr txBox="1"/>
          <p:nvPr/>
        </p:nvSpPr>
        <p:spPr>
          <a:xfrm>
            <a:off x="3006243" y="2358010"/>
            <a:ext cx="170627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40" b="0" i="0">
                <a:solidFill>
                  <a:srgbClr val="172B3A"/>
                </a:solidFill>
                <a:latin typeface="Arial"/>
              </a:defRPr>
            </a:pPr>
            <a:r>
              <a:t>Global Planner</a:t>
            </a:r>
          </a:p>
        </p:txBody>
      </p:sp>
      <p:sp>
        <p:nvSpPr>
          <p:cNvPr id="12" name="Right Arrow 12">
            <a:extLst>
              <a:ext uri="{FF2B5EF4-FFF2-40B4-BE49-F238E27FC236}">
                <a16:creationId xmlns:a16="http://schemas.microsoft.com/office/drawing/2014/main" id="{F7A39EEE-22D5-6A49-C103-1526EA868A5A}"/>
              </a:ext>
            </a:extLst>
          </p:cNvPr>
          <p:cNvSpPr/>
          <p:nvPr/>
        </p:nvSpPr>
        <p:spPr>
          <a:xfrm>
            <a:off x="4849673" y="2623186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103620A2-1FA6-40A3-2E97-AD6A4D66C128}"/>
              </a:ext>
            </a:extLst>
          </p:cNvPr>
          <p:cNvSpPr/>
          <p:nvPr/>
        </p:nvSpPr>
        <p:spPr>
          <a:xfrm>
            <a:off x="5197145" y="2303146"/>
            <a:ext cx="1797710" cy="822960"/>
          </a:xfrm>
          <a:prstGeom prst="roundRect">
            <a:avLst/>
          </a:prstGeom>
          <a:solidFill>
            <a:srgbClr val="E2F1EF"/>
          </a:solidFill>
          <a:ln w="1905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BB599A5-86BA-5BEC-5B0B-464951288E7E}"/>
              </a:ext>
            </a:extLst>
          </p:cNvPr>
          <p:cNvSpPr txBox="1"/>
          <p:nvPr/>
        </p:nvSpPr>
        <p:spPr>
          <a:xfrm>
            <a:off x="5242865" y="2358010"/>
            <a:ext cx="170627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40" b="1" i="0">
                <a:solidFill>
                  <a:srgbClr val="075D59"/>
                </a:solidFill>
                <a:latin typeface="Arial"/>
              </a:defRPr>
            </a:pPr>
            <a:r>
              <a:t>Smoother</a:t>
            </a:r>
          </a:p>
        </p:txBody>
      </p:sp>
      <p:sp>
        <p:nvSpPr>
          <p:cNvPr id="15" name="Right Arrow 15">
            <a:extLst>
              <a:ext uri="{FF2B5EF4-FFF2-40B4-BE49-F238E27FC236}">
                <a16:creationId xmlns:a16="http://schemas.microsoft.com/office/drawing/2014/main" id="{D9760896-A1D7-226C-C6BA-8BCBD19BC0B4}"/>
              </a:ext>
            </a:extLst>
          </p:cNvPr>
          <p:cNvSpPr/>
          <p:nvPr/>
        </p:nvSpPr>
        <p:spPr>
          <a:xfrm>
            <a:off x="7086296" y="2623186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4F29B886-AD4C-E019-52E3-0F037B84CEF1}"/>
              </a:ext>
            </a:extLst>
          </p:cNvPr>
          <p:cNvSpPr/>
          <p:nvPr/>
        </p:nvSpPr>
        <p:spPr>
          <a:xfrm>
            <a:off x="7433768" y="2303146"/>
            <a:ext cx="179771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2C2DCD8-CD5E-614F-C43F-33A60690D934}"/>
              </a:ext>
            </a:extLst>
          </p:cNvPr>
          <p:cNvSpPr txBox="1"/>
          <p:nvPr/>
        </p:nvSpPr>
        <p:spPr>
          <a:xfrm>
            <a:off x="7479488" y="2358010"/>
            <a:ext cx="170627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40" b="0" i="0">
                <a:solidFill>
                  <a:srgbClr val="172B3A"/>
                </a:solidFill>
                <a:latin typeface="Arial"/>
              </a:defRPr>
            </a:pPr>
            <a:r>
              <a:t>Controller</a:t>
            </a:r>
          </a:p>
        </p:txBody>
      </p:sp>
      <p:sp>
        <p:nvSpPr>
          <p:cNvPr id="18" name="Right Arrow 18">
            <a:extLst>
              <a:ext uri="{FF2B5EF4-FFF2-40B4-BE49-F238E27FC236}">
                <a16:creationId xmlns:a16="http://schemas.microsoft.com/office/drawing/2014/main" id="{228799F4-A0E2-83A8-E917-86EF3528BC4C}"/>
              </a:ext>
            </a:extLst>
          </p:cNvPr>
          <p:cNvSpPr/>
          <p:nvPr/>
        </p:nvSpPr>
        <p:spPr>
          <a:xfrm>
            <a:off x="9322918" y="2623186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D2140951-5B61-406C-913D-DCAF02DBD376}"/>
              </a:ext>
            </a:extLst>
          </p:cNvPr>
          <p:cNvSpPr/>
          <p:nvPr/>
        </p:nvSpPr>
        <p:spPr>
          <a:xfrm>
            <a:off x="9670390" y="2303146"/>
            <a:ext cx="179771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2AF06AB-8941-E511-382C-1099899F87F6}"/>
              </a:ext>
            </a:extLst>
          </p:cNvPr>
          <p:cNvSpPr txBox="1"/>
          <p:nvPr/>
        </p:nvSpPr>
        <p:spPr>
          <a:xfrm>
            <a:off x="9716110" y="2358010"/>
            <a:ext cx="170627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40" b="0" i="0">
                <a:solidFill>
                  <a:srgbClr val="172B3A"/>
                </a:solidFill>
                <a:latin typeface="Arial"/>
              </a:defRPr>
            </a:pPr>
            <a:r>
              <a:t>Robot</a:t>
            </a:r>
          </a:p>
        </p:txBody>
      </p:sp>
      <p:sp>
        <p:nvSpPr>
          <p:cNvPr id="58" name="TextBox 22">
            <a:extLst>
              <a:ext uri="{FF2B5EF4-FFF2-40B4-BE49-F238E27FC236}">
                <a16:creationId xmlns:a16="http://schemas.microsoft.com/office/drawing/2014/main" id="{97C36DC8-B0CF-C966-E8EA-BF51FBA39D69}"/>
              </a:ext>
            </a:extLst>
          </p:cNvPr>
          <p:cNvSpPr txBox="1"/>
          <p:nvPr/>
        </p:nvSpPr>
        <p:spPr>
          <a:xfrm>
            <a:off x="970485" y="3675888"/>
            <a:ext cx="294436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F6FED"/>
                </a:solidFill>
                <a:latin typeface="Arial"/>
              </a:defRPr>
            </a:pPr>
            <a:r>
              <a:t>PLANNER</a:t>
            </a: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44614AAF-1ADD-70FB-F8CD-75C18F3ABBD9}"/>
              </a:ext>
            </a:extLst>
          </p:cNvPr>
          <p:cNvSpPr txBox="1"/>
          <p:nvPr/>
        </p:nvSpPr>
        <p:spPr>
          <a:xfrm>
            <a:off x="1025349" y="4270247"/>
            <a:ext cx="283464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72B3A"/>
                </a:solidFill>
                <a:latin typeface="Arial"/>
              </a:defRPr>
            </a:pPr>
            <a:r>
              <a:t>Tìm chuỗi pose đi từ start tới goal trên costmap.</a:t>
            </a:r>
          </a:p>
        </p:txBody>
      </p:sp>
      <p:sp>
        <p:nvSpPr>
          <p:cNvPr id="62" name="Rounded Rectangle 24">
            <a:extLst>
              <a:ext uri="{FF2B5EF4-FFF2-40B4-BE49-F238E27FC236}">
                <a16:creationId xmlns:a16="http://schemas.microsoft.com/office/drawing/2014/main" id="{DF1946A9-3774-1DAA-F7CF-A17570C9F9A6}"/>
              </a:ext>
            </a:extLst>
          </p:cNvPr>
          <p:cNvSpPr/>
          <p:nvPr/>
        </p:nvSpPr>
        <p:spPr>
          <a:xfrm>
            <a:off x="1372821" y="5166360"/>
            <a:ext cx="2139696" cy="34747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EE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25">
            <a:extLst>
              <a:ext uri="{FF2B5EF4-FFF2-40B4-BE49-F238E27FC236}">
                <a16:creationId xmlns:a16="http://schemas.microsoft.com/office/drawing/2014/main" id="{18A0D0ED-9B06-E658-A510-13FC00FFFD4D}"/>
              </a:ext>
            </a:extLst>
          </p:cNvPr>
          <p:cNvSpPr txBox="1"/>
          <p:nvPr/>
        </p:nvSpPr>
        <p:spPr>
          <a:xfrm>
            <a:off x="1491693" y="5239512"/>
            <a:ext cx="19019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102A43"/>
                </a:solidFill>
                <a:latin typeface="Arial"/>
              </a:defRPr>
            </a:pPr>
            <a:r>
              <a:t>OUTPUT: Đường thô</a:t>
            </a:r>
          </a:p>
        </p:txBody>
      </p:sp>
      <p:sp>
        <p:nvSpPr>
          <p:cNvPr id="68" name="TextBox 27">
            <a:extLst>
              <a:ext uri="{FF2B5EF4-FFF2-40B4-BE49-F238E27FC236}">
                <a16:creationId xmlns:a16="http://schemas.microsoft.com/office/drawing/2014/main" id="{D2D76FEF-988E-1527-AE76-9FE6BCD80234}"/>
              </a:ext>
            </a:extLst>
          </p:cNvPr>
          <p:cNvSpPr txBox="1"/>
          <p:nvPr/>
        </p:nvSpPr>
        <p:spPr>
          <a:xfrm>
            <a:off x="4673804" y="3675888"/>
            <a:ext cx="294436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B7A75"/>
                </a:solidFill>
                <a:latin typeface="Arial"/>
              </a:defRPr>
            </a:pPr>
            <a:r>
              <a:t>SMOOTHER</a:t>
            </a:r>
          </a:p>
        </p:txBody>
      </p:sp>
      <p:sp>
        <p:nvSpPr>
          <p:cNvPr id="70" name="TextBox 28">
            <a:extLst>
              <a:ext uri="{FF2B5EF4-FFF2-40B4-BE49-F238E27FC236}">
                <a16:creationId xmlns:a16="http://schemas.microsoft.com/office/drawing/2014/main" id="{D3E80170-FC09-1EE4-8C71-1C5CED4CBB94}"/>
              </a:ext>
            </a:extLst>
          </p:cNvPr>
          <p:cNvSpPr txBox="1"/>
          <p:nvPr/>
        </p:nvSpPr>
        <p:spPr>
          <a:xfrm>
            <a:off x="4728669" y="4270247"/>
            <a:ext cx="283464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72B3A"/>
                </a:solidFill>
                <a:latin typeface="Arial"/>
              </a:defRPr>
            </a:pPr>
            <a:r>
              <a:rPr err="1"/>
              <a:t>Điều</a:t>
            </a:r>
            <a:r>
              <a:t> </a:t>
            </a:r>
            <a:r>
              <a:rPr err="1"/>
              <a:t>chỉnh</a:t>
            </a:r>
            <a:r>
              <a:t> </a:t>
            </a:r>
            <a:r>
              <a:rPr err="1"/>
              <a:t>hình</a:t>
            </a:r>
            <a:r>
              <a:t> </a:t>
            </a:r>
            <a:r>
              <a:rPr err="1"/>
              <a:t>học</a:t>
            </a:r>
            <a:r>
              <a:t> </a:t>
            </a:r>
            <a:r>
              <a:rPr err="1"/>
              <a:t>của</a:t>
            </a:r>
            <a:r>
              <a:t> path; </a:t>
            </a:r>
            <a:r>
              <a:rPr err="1"/>
              <a:t>giữ</a:t>
            </a:r>
            <a:r>
              <a:t> start/goal.</a:t>
            </a:r>
          </a:p>
        </p:txBody>
      </p:sp>
      <p:sp>
        <p:nvSpPr>
          <p:cNvPr id="72" name="Rounded Rectangle 29">
            <a:extLst>
              <a:ext uri="{FF2B5EF4-FFF2-40B4-BE49-F238E27FC236}">
                <a16:creationId xmlns:a16="http://schemas.microsoft.com/office/drawing/2014/main" id="{8D7248E5-8858-7FED-BBAC-496A8260C8F8}"/>
              </a:ext>
            </a:extLst>
          </p:cNvPr>
          <p:cNvSpPr/>
          <p:nvPr/>
        </p:nvSpPr>
        <p:spPr>
          <a:xfrm>
            <a:off x="5076141" y="5166360"/>
            <a:ext cx="2020824" cy="46095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EE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30">
            <a:extLst>
              <a:ext uri="{FF2B5EF4-FFF2-40B4-BE49-F238E27FC236}">
                <a16:creationId xmlns:a16="http://schemas.microsoft.com/office/drawing/2014/main" id="{249274CB-5047-CF94-25FE-FC9451A5E0A8}"/>
              </a:ext>
            </a:extLst>
          </p:cNvPr>
          <p:cNvSpPr txBox="1"/>
          <p:nvPr/>
        </p:nvSpPr>
        <p:spPr>
          <a:xfrm>
            <a:off x="5195013" y="5239512"/>
            <a:ext cx="1901952" cy="3877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102A43"/>
                </a:solidFill>
                <a:latin typeface="Arial"/>
              </a:defRPr>
            </a:pPr>
            <a:r>
              <a:t>OUTPUT: </a:t>
            </a:r>
            <a:r>
              <a:rPr err="1"/>
              <a:t>Đường</a:t>
            </a:r>
            <a:r>
              <a:rPr lang="vi-VN"/>
              <a:t> mới đã được làm mượt</a:t>
            </a:r>
            <a:endParaRPr/>
          </a:p>
        </p:txBody>
      </p:sp>
      <p:sp>
        <p:nvSpPr>
          <p:cNvPr id="78" name="TextBox 32">
            <a:extLst>
              <a:ext uri="{FF2B5EF4-FFF2-40B4-BE49-F238E27FC236}">
                <a16:creationId xmlns:a16="http://schemas.microsoft.com/office/drawing/2014/main" id="{56562516-125E-FE84-F796-3B30BE80308B}"/>
              </a:ext>
            </a:extLst>
          </p:cNvPr>
          <p:cNvSpPr txBox="1"/>
          <p:nvPr/>
        </p:nvSpPr>
        <p:spPr>
          <a:xfrm>
            <a:off x="8377125" y="3675888"/>
            <a:ext cx="294436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07A2F"/>
                </a:solidFill>
                <a:latin typeface="Arial"/>
              </a:defRPr>
            </a:pPr>
            <a:r>
              <a:t>CONTROLLER</a:t>
            </a:r>
          </a:p>
        </p:txBody>
      </p:sp>
      <p:sp>
        <p:nvSpPr>
          <p:cNvPr id="80" name="TextBox 33">
            <a:extLst>
              <a:ext uri="{FF2B5EF4-FFF2-40B4-BE49-F238E27FC236}">
                <a16:creationId xmlns:a16="http://schemas.microsoft.com/office/drawing/2014/main" id="{1CAA2220-C602-6979-8C21-EDFC74AD93BD}"/>
              </a:ext>
            </a:extLst>
          </p:cNvPr>
          <p:cNvSpPr txBox="1"/>
          <p:nvPr/>
        </p:nvSpPr>
        <p:spPr>
          <a:xfrm>
            <a:off x="8431989" y="4270247"/>
            <a:ext cx="2834640" cy="6555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defRPr sz="1300" b="0" i="0">
                <a:solidFill>
                  <a:srgbClr val="172B3A"/>
                </a:solidFill>
                <a:latin typeface="Arial"/>
              </a:defRPr>
            </a:pPr>
            <a:r>
              <a:rPr dirty="0"/>
              <a:t>So </a:t>
            </a:r>
            <a:r>
              <a:rPr dirty="0" err="1"/>
              <a:t>sánh</a:t>
            </a:r>
            <a:r>
              <a:rPr dirty="0"/>
              <a:t> pose robot </a:t>
            </a:r>
            <a:r>
              <a:rPr dirty="0" err="1"/>
              <a:t>với</a:t>
            </a:r>
            <a:r>
              <a:rPr dirty="0"/>
              <a:t> path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lệnh</a:t>
            </a:r>
            <a:r>
              <a:rPr dirty="0"/>
              <a:t> v, ω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kiển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 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 </a:t>
            </a:r>
            <a:r>
              <a:rPr lang="en-US" dirty="0" err="1"/>
              <a:t>mượt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82" name="Rounded Rectangle 34">
            <a:extLst>
              <a:ext uri="{FF2B5EF4-FFF2-40B4-BE49-F238E27FC236}">
                <a16:creationId xmlns:a16="http://schemas.microsoft.com/office/drawing/2014/main" id="{EFF62846-375A-01A2-702E-00DE0CC08AF0}"/>
              </a:ext>
            </a:extLst>
          </p:cNvPr>
          <p:cNvSpPr/>
          <p:nvPr/>
        </p:nvSpPr>
        <p:spPr>
          <a:xfrm>
            <a:off x="8779461" y="5166360"/>
            <a:ext cx="2139696" cy="34747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EE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35">
            <a:extLst>
              <a:ext uri="{FF2B5EF4-FFF2-40B4-BE49-F238E27FC236}">
                <a16:creationId xmlns:a16="http://schemas.microsoft.com/office/drawing/2014/main" id="{8E3C88DF-E029-8D37-2A2D-094A4BF18510}"/>
              </a:ext>
            </a:extLst>
          </p:cNvPr>
          <p:cNvSpPr txBox="1"/>
          <p:nvPr/>
        </p:nvSpPr>
        <p:spPr>
          <a:xfrm>
            <a:off x="8898333" y="5239512"/>
            <a:ext cx="19019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102A43"/>
                </a:solidFill>
                <a:latin typeface="Arial"/>
              </a:defRPr>
            </a:pPr>
            <a:r>
              <a:t>OUTPUT: cmd_vel</a:t>
            </a:r>
          </a:p>
        </p:txBody>
      </p:sp>
      <p:sp>
        <p:nvSpPr>
          <p:cNvPr id="86" name="Rounded Rectangle 36">
            <a:extLst>
              <a:ext uri="{FF2B5EF4-FFF2-40B4-BE49-F238E27FC236}">
                <a16:creationId xmlns:a16="http://schemas.microsoft.com/office/drawing/2014/main" id="{EC675334-1504-A701-1F38-2ED0D82331C7}"/>
              </a:ext>
            </a:extLst>
          </p:cNvPr>
          <p:cNvSpPr/>
          <p:nvPr/>
        </p:nvSpPr>
        <p:spPr>
          <a:xfrm>
            <a:off x="1839164" y="6135624"/>
            <a:ext cx="8412480" cy="4937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2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37">
            <a:extLst>
              <a:ext uri="{FF2B5EF4-FFF2-40B4-BE49-F238E27FC236}">
                <a16:creationId xmlns:a16="http://schemas.microsoft.com/office/drawing/2014/main" id="{A78E5251-813E-E1D4-CC66-F99F4F8C658C}"/>
              </a:ext>
            </a:extLst>
          </p:cNvPr>
          <p:cNvSpPr txBox="1"/>
          <p:nvPr/>
        </p:nvSpPr>
        <p:spPr>
          <a:xfrm>
            <a:off x="1985469" y="6245352"/>
            <a:ext cx="8119871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75D59"/>
                </a:solidFill>
                <a:latin typeface="Arial"/>
              </a:defRPr>
            </a:pPr>
            <a:r>
              <a:t>Controller </a:t>
            </a:r>
            <a:r>
              <a:rPr lang="vi-VN"/>
              <a:t>sẽ</a:t>
            </a:r>
            <a:r>
              <a:t> </a:t>
            </a:r>
            <a:r>
              <a:rPr err="1"/>
              <a:t>bám</a:t>
            </a:r>
            <a:r>
              <a:t> </a:t>
            </a:r>
            <a:r>
              <a:rPr err="1"/>
              <a:t>đường</a:t>
            </a:r>
            <a:r>
              <a:rPr lang="vi-VN"/>
              <a:t> sau</a:t>
            </a:r>
            <a:r>
              <a:t> smoother, </a:t>
            </a:r>
            <a:r>
              <a:rPr err="1"/>
              <a:t>không</a:t>
            </a:r>
            <a:r>
              <a:t> </a:t>
            </a:r>
            <a:r>
              <a:rPr err="1"/>
              <a:t>bám</a:t>
            </a:r>
            <a:r>
              <a:t> </a:t>
            </a:r>
            <a:r>
              <a:rPr err="1"/>
              <a:t>lại</a:t>
            </a:r>
            <a:r>
              <a:t> raw path.</a:t>
            </a:r>
          </a:p>
        </p:txBody>
      </p:sp>
    </p:spTree>
    <p:extLst>
      <p:ext uri="{BB962C8B-B14F-4D97-AF65-F5344CB8AC3E}">
        <p14:creationId xmlns:p14="http://schemas.microsoft.com/office/powerpoint/2010/main" val="214974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F2F9-1222-196A-3CE6-1D89A65D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DA68DB94-38A0-454E-0897-05920C318A3C}"/>
              </a:ext>
            </a:extLst>
          </p:cNvPr>
          <p:cNvSpPr txBox="1"/>
          <p:nvPr/>
        </p:nvSpPr>
        <p:spPr>
          <a:xfrm>
            <a:off x="594360" y="530352"/>
            <a:ext cx="10698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I. Tổng quan về hệ thống điều hướng dẫn đường Nav2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28EC924-301A-0AB6-3617-BB1047B7CACC}"/>
              </a:ext>
            </a:extLst>
          </p:cNvPr>
          <p:cNvSpPr txBox="1"/>
          <p:nvPr/>
        </p:nvSpPr>
        <p:spPr>
          <a:xfrm>
            <a:off x="594360" y="1232083"/>
            <a:ext cx="532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Bài toán làm mượt đường đi trong Nav2 </a:t>
            </a:r>
          </a:p>
        </p:txBody>
      </p:sp>
      <p:pic>
        <p:nvPicPr>
          <p:cNvPr id="21" name="Picture 8" descr="image4.png">
            <a:extLst>
              <a:ext uri="{FF2B5EF4-FFF2-40B4-BE49-F238E27FC236}">
                <a16:creationId xmlns:a16="http://schemas.microsoft.com/office/drawing/2014/main" id="{2BFB03CA-A7B5-071C-8C83-A18B96BF0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737360"/>
            <a:ext cx="5244068" cy="4078224"/>
          </a:xfrm>
          <a:prstGeom prst="rect">
            <a:avLst/>
          </a:prstGeom>
        </p:spPr>
      </p:pic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B6BA7079-1FBF-4136-1104-D246E3883068}"/>
              </a:ext>
            </a:extLst>
          </p:cNvPr>
          <p:cNvSpPr txBox="1"/>
          <p:nvPr/>
        </p:nvSpPr>
        <p:spPr>
          <a:xfrm>
            <a:off x="594360" y="1819656"/>
            <a:ext cx="4745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Vấn đề của </a:t>
            </a:r>
            <a:r>
              <a:rPr lang="vi-VN" err="1"/>
              <a:t>global</a:t>
            </a:r>
            <a:r>
              <a:rPr lang="vi-VN"/>
              <a:t> </a:t>
            </a:r>
            <a:r>
              <a:rPr lang="vi-VN" err="1"/>
              <a:t>planner</a:t>
            </a:r>
            <a:r>
              <a:rPr lang="vi-VN"/>
              <a:t> tạo ra các tập hợp điểm rời rạc nối liền nhau bằng các đoạn thẳng gây ra đoạn gấp khúc tại các điểm nối.</a:t>
            </a:r>
          </a:p>
          <a:p>
            <a:r>
              <a:rPr lang="vi-VN"/>
              <a:t>Việc này gây ra vấn đề:</a:t>
            </a:r>
          </a:p>
          <a:p>
            <a:pPr marL="285750" indent="-285750">
              <a:buFontTx/>
              <a:buChar char="-"/>
            </a:pPr>
            <a:r>
              <a:rPr lang="vi-VN">
                <a:solidFill>
                  <a:srgbClr val="172B3A"/>
                </a:solidFill>
                <a:latin typeface="Arial"/>
              </a:rPr>
              <a:t>Phải giảm tốc hoặc quay tại chỗ.</a:t>
            </a:r>
          </a:p>
          <a:p>
            <a:pPr marL="285750" indent="-285750">
              <a:buFontTx/>
              <a:buChar char="-"/>
            </a:pPr>
            <a:r>
              <a:rPr lang="vi-VN">
                <a:solidFill>
                  <a:srgbClr val="172B3A"/>
                </a:solidFill>
                <a:latin typeface="Arial"/>
              </a:rPr>
              <a:t>Hướng tiếp tuyến cạnh vào và cạnh ra khác nhau;</a:t>
            </a:r>
          </a:p>
          <a:p>
            <a:pPr marL="285750" indent="-285750">
              <a:buFontTx/>
              <a:buChar char="-"/>
            </a:pPr>
            <a:r>
              <a:rPr lang="vi-VN">
                <a:solidFill>
                  <a:srgbClr val="172B3A"/>
                </a:solidFill>
                <a:latin typeface="Arial"/>
              </a:rPr>
              <a:t>Độ cong rất lớn hoặc không xác định tại điểm gấp khúc</a:t>
            </a:r>
          </a:p>
        </p:txBody>
      </p:sp>
    </p:spTree>
    <p:extLst>
      <p:ext uri="{BB962C8B-B14F-4D97-AF65-F5344CB8AC3E}">
        <p14:creationId xmlns:p14="http://schemas.microsoft.com/office/powerpoint/2010/main" val="78170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E5AC-378A-DADD-C4DC-85DCB0A26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C6E65CF1-E2C5-9EF4-49C0-691D6E371073}"/>
              </a:ext>
            </a:extLst>
          </p:cNvPr>
          <p:cNvSpPr txBox="1"/>
          <p:nvPr/>
        </p:nvSpPr>
        <p:spPr>
          <a:xfrm>
            <a:off x="594360" y="530352"/>
            <a:ext cx="10698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I. Tổng quan về hệ thống điều hướng dẫn đường Nav2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8A7DD51B-7C20-D444-6487-6C6AAF4C7336}"/>
              </a:ext>
            </a:extLst>
          </p:cNvPr>
          <p:cNvSpPr txBox="1"/>
          <p:nvPr/>
        </p:nvSpPr>
        <p:spPr>
          <a:xfrm>
            <a:off x="594360" y="1232083"/>
            <a:ext cx="532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Bài toán làm mượt đường đi trong Nav2 </a:t>
            </a:r>
          </a:p>
        </p:txBody>
      </p:sp>
      <p:pic>
        <p:nvPicPr>
          <p:cNvPr id="4" name="Picture 8" descr="image17.png">
            <a:extLst>
              <a:ext uri="{FF2B5EF4-FFF2-40B4-BE49-F238E27FC236}">
                <a16:creationId xmlns:a16="http://schemas.microsoft.com/office/drawing/2014/main" id="{63C6A183-1615-6239-9F80-876D4078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70" y="2203704"/>
            <a:ext cx="2865182" cy="2753996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EB045EDD-7CEC-45DE-FD61-F71A9266D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812" y="1601415"/>
            <a:ext cx="6742084" cy="514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76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C590F-EF52-B82B-127D-F3643185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C8904E24-D9DF-C29A-7E2E-23467A2005AA}"/>
              </a:ext>
            </a:extLst>
          </p:cNvPr>
          <p:cNvSpPr txBox="1"/>
          <p:nvPr/>
        </p:nvSpPr>
        <p:spPr>
          <a:xfrm>
            <a:off x="594360" y="530352"/>
            <a:ext cx="10698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I. Tổng quan về hệ thống điều hướng dẫn đường Nav2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4AB0C083-5B19-A376-A8F1-3210573FB8E6}"/>
              </a:ext>
            </a:extLst>
          </p:cNvPr>
          <p:cNvSpPr txBox="1"/>
          <p:nvPr/>
        </p:nvSpPr>
        <p:spPr>
          <a:xfrm>
            <a:off x="594360" y="1232083"/>
            <a:ext cx="532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4. Các phương pháp làm mượt đường đi đã có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F93268B-3D8B-BFC9-894B-8E0EBD4F3A80}"/>
              </a:ext>
            </a:extLst>
          </p:cNvPr>
          <p:cNvSpPr txBox="1"/>
          <p:nvPr/>
        </p:nvSpPr>
        <p:spPr>
          <a:xfrm>
            <a:off x="786384" y="1773936"/>
            <a:ext cx="323697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F6FED"/>
                </a:solidFill>
                <a:latin typeface="Arial"/>
              </a:defRPr>
            </a:pPr>
            <a:r>
              <a:rPr sz="2000"/>
              <a:t>Simple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1C5F1129-6AFA-A1E3-1A87-8D04A388D915}"/>
              </a:ext>
            </a:extLst>
          </p:cNvPr>
          <p:cNvSpPr txBox="1"/>
          <p:nvPr/>
        </p:nvSpPr>
        <p:spPr>
          <a:xfrm>
            <a:off x="4687824" y="1755304"/>
            <a:ext cx="230428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07A2F"/>
                </a:solidFill>
                <a:latin typeface="Arial"/>
              </a:defRPr>
            </a:pPr>
            <a:r>
              <a:rPr sz="2000" err="1"/>
              <a:t>Savitzky</a:t>
            </a:r>
            <a:r>
              <a:rPr sz="2000"/>
              <a:t>–Golay</a:t>
            </a: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0B42AD03-0A80-5E49-58EF-3390935EBED3}"/>
              </a:ext>
            </a:extLst>
          </p:cNvPr>
          <p:cNvSpPr txBox="1"/>
          <p:nvPr/>
        </p:nvSpPr>
        <p:spPr>
          <a:xfrm>
            <a:off x="8168642" y="1755304"/>
            <a:ext cx="230428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6E5AE6"/>
                </a:solidFill>
                <a:latin typeface="Arial"/>
              </a:defRPr>
            </a:pPr>
            <a:r>
              <a:rPr sz="2000"/>
              <a:t>Constrained</a:t>
            </a:r>
          </a:p>
        </p:txBody>
      </p:sp>
    </p:spTree>
    <p:extLst>
      <p:ext uri="{BB962C8B-B14F-4D97-AF65-F5344CB8AC3E}">
        <p14:creationId xmlns:p14="http://schemas.microsoft.com/office/powerpoint/2010/main" val="114036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502920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t>Simple Smoother: lặp cục bộ từng waypoint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515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526777"/>
                </a:solidFill>
                <a:latin typeface="Arial"/>
              </a:defRPr>
            </a:pPr>
            <a:r>
              <a:t>Mỗi điểm được kéo về gần dữ liệu gốc và đồng thời kéo về trung bình hai điểm lân cận.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80160"/>
            <a:ext cx="10991088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simple_smoo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48827"/>
            <a:ext cx="6492240" cy="3327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25384" y="1648523"/>
            <a:ext cx="3401568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F6FED"/>
                </a:solidFill>
                <a:latin typeface="Arial"/>
              </a:defRPr>
            </a:pPr>
            <a:r>
              <a:rPr sz="2400"/>
              <a:t>Công </a:t>
            </a:r>
            <a:r>
              <a:rPr sz="2400" err="1"/>
              <a:t>thức</a:t>
            </a:r>
            <a:r>
              <a:rPr sz="2400"/>
              <a:t> </a:t>
            </a:r>
            <a:r>
              <a:rPr sz="2400" err="1"/>
              <a:t>cập</a:t>
            </a:r>
            <a:r>
              <a:rPr sz="2400"/>
              <a:t> </a:t>
            </a:r>
            <a:r>
              <a:rPr sz="2400" err="1"/>
              <a:t>nhậ</a:t>
            </a:r>
            <a:r>
              <a:rPr lang="vi-VN" sz="2400"/>
              <a:t>t</a:t>
            </a:r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7312151" y="2232490"/>
            <a:ext cx="5004512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80" b="1" i="0">
                <a:solidFill>
                  <a:srgbClr val="102A43"/>
                </a:solidFill>
                <a:latin typeface="Arial"/>
              </a:defRPr>
            </a:pPr>
            <a:r>
              <a:rPr sz="2000"/>
              <a:t>yᵢ ← yᵢ + wd(xᵢ−yᵢ) + </a:t>
            </a:r>
            <a:r>
              <a:rPr sz="2000" err="1"/>
              <a:t>ws</a:t>
            </a:r>
            <a:r>
              <a:rPr sz="2000"/>
              <a:t>(yᵢ₋₁+yᵢ₊₁−2yᵢ)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251960"/>
            <a:ext cx="2761488" cy="953008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8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648448" y="5369560"/>
            <a:ext cx="3980688" cy="1196848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773A18-D817-5ABC-C108-3CE803AF5F22}"/>
              </a:ext>
            </a:extLst>
          </p:cNvPr>
          <p:cNvSpPr txBox="1"/>
          <p:nvPr/>
        </p:nvSpPr>
        <p:spPr>
          <a:xfrm>
            <a:off x="7648214" y="2587438"/>
            <a:ext cx="401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Trong </a:t>
            </a:r>
            <a:r>
              <a:rPr lang="en-US" err="1"/>
              <a:t>đó</a:t>
            </a:r>
            <a:r>
              <a:rPr lang="en-US"/>
              <a:t> : </a:t>
            </a:r>
            <a:br>
              <a:rPr lang="en-US"/>
            </a:br>
            <a:r>
              <a:rPr lang="en-US">
                <a:ea typeface="+mn-lt"/>
                <a:cs typeface="+mn-lt"/>
              </a:rPr>
              <a:t>xᵢ: điểm ban đầu</a:t>
            </a:r>
            <a:endParaRPr lang="en-US"/>
          </a:p>
          <a:p>
            <a:r>
              <a:rPr lang="en-US">
                <a:ea typeface="+mn-lt"/>
                <a:cs typeface="+mn-lt"/>
              </a:rPr>
              <a:t>yᵢ: điểm sau làm mượt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w_data: mức giữ gần đường gốc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w_smooth: mức làm mượt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D455F-6DA7-DCDB-856A-98E49E74FAA9}"/>
              </a:ext>
            </a:extLst>
          </p:cNvPr>
          <p:cNvSpPr txBox="1"/>
          <p:nvPr/>
        </p:nvSpPr>
        <p:spPr>
          <a:xfrm>
            <a:off x="7685881" y="4262718"/>
            <a:ext cx="26009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Phù</a:t>
            </a:r>
            <a:r>
              <a:rPr lang="en-US"/>
              <a:t> ​</a:t>
            </a:r>
            <a:r>
              <a:rPr lang="en-US" err="1"/>
              <a:t>hợp</a:t>
            </a:r>
            <a:r>
              <a:rPr lang="en-US"/>
              <a:t> : </a:t>
            </a:r>
          </a:p>
          <a:p>
            <a:r>
              <a:rPr lang="en-US">
                <a:ea typeface="+mn-lt"/>
                <a:cs typeface="+mn-lt"/>
              </a:rPr>
              <a:t>Giảm </a:t>
            </a:r>
            <a:r>
              <a:rPr lang="en-US" err="1">
                <a:ea typeface="+mn-lt"/>
                <a:cs typeface="+mn-lt"/>
              </a:rPr>
              <a:t>góc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gãy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nhanh</a:t>
            </a:r>
            <a:r>
              <a:rPr lang="en-US">
                <a:ea typeface="+mn-lt"/>
                <a:cs typeface="+mn-lt"/>
              </a:rPr>
              <a:t>, chi </a:t>
            </a:r>
            <a:r>
              <a:rPr lang="en-US" err="1">
                <a:ea typeface="+mn-lt"/>
                <a:cs typeface="+mn-lt"/>
              </a:rPr>
              <a:t>phí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tính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toán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thấp</a:t>
            </a:r>
            <a:endParaRPr lang="en-US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3D22B-252F-C09D-BADF-84E398416E0D}"/>
              </a:ext>
            </a:extLst>
          </p:cNvPr>
          <p:cNvSpPr txBox="1"/>
          <p:nvPr/>
        </p:nvSpPr>
        <p:spPr>
          <a:xfrm>
            <a:off x="7675969" y="5384775"/>
            <a:ext cx="40233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Đánh </a:t>
            </a:r>
            <a:r>
              <a:rPr lang="en-US" err="1"/>
              <a:t>đổi</a:t>
            </a:r>
            <a:r>
              <a:rPr lang="en-US"/>
              <a:t> : </a:t>
            </a:r>
          </a:p>
          <a:p>
            <a:r>
              <a:rPr lang="en-US" err="1">
                <a:ea typeface="+mn-lt"/>
                <a:cs typeface="+mn-lt"/>
              </a:rPr>
              <a:t>Không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dùng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costmap</a:t>
            </a:r>
            <a:r>
              <a:rPr lang="en-US">
                <a:ea typeface="+mn-lt"/>
                <a:cs typeface="+mn-lt"/>
              </a:rPr>
              <a:t>/footprint </a:t>
            </a:r>
            <a:r>
              <a:rPr lang="en-US" err="1">
                <a:ea typeface="+mn-lt"/>
                <a:cs typeface="+mn-lt"/>
              </a:rPr>
              <a:t>trong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phép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làm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mượt</a:t>
            </a:r>
            <a:r>
              <a:rPr lang="en-US">
                <a:ea typeface="+mn-lt"/>
                <a:cs typeface="+mn-lt"/>
              </a:rPr>
              <a:t>; </a:t>
            </a:r>
            <a:r>
              <a:rPr lang="en-US" err="1">
                <a:ea typeface="+mn-lt"/>
                <a:cs typeface="+mn-lt"/>
              </a:rPr>
              <a:t>có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làm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mất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ràng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buộc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động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học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của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đường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đầu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vào</a:t>
            </a:r>
            <a:endParaRPr lang="en-US" err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502920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t>Savitzky–Golay Smoother: lọc đa thức cửa sổ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515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526777"/>
                </a:solidFill>
                <a:latin typeface="Arial"/>
              </a:defRPr>
            </a:pPr>
            <a:r>
              <a:t>Thay mỗi điểm bằng tổ hợp tuyến tính của bảy điểm lân cận để giảm nhiễu cao tần.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256032"/>
            <a:ext cx="34747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26777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9" name="Picture 8" descr="savitzky_go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48827"/>
            <a:ext cx="6492240" cy="3327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82127" y="1645920"/>
            <a:ext cx="341985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07A2F"/>
                </a:solidFill>
                <a:latin typeface="Arial"/>
              </a:defRPr>
            </a:pPr>
            <a:r>
              <a:rPr sz="2000" err="1"/>
              <a:t>Bộ</a:t>
            </a:r>
            <a:r>
              <a:rPr sz="2000"/>
              <a:t> </a:t>
            </a:r>
            <a:r>
              <a:rPr sz="2000" err="1"/>
              <a:t>lọc</a:t>
            </a:r>
            <a:r>
              <a:rPr sz="2000"/>
              <a:t> </a:t>
            </a:r>
            <a:r>
              <a:rPr sz="2000" err="1"/>
              <a:t>cố</a:t>
            </a:r>
            <a:r>
              <a:rPr sz="2000"/>
              <a:t> </a:t>
            </a:r>
            <a:r>
              <a:rPr sz="2000" err="1"/>
              <a:t>định</a:t>
            </a:r>
            <a:r>
              <a:rPr sz="2000"/>
              <a:t> 7 </a:t>
            </a:r>
            <a:r>
              <a:rPr sz="2000" err="1"/>
              <a:t>điểm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7882127" y="2048256"/>
            <a:ext cx="341985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2A43"/>
                </a:solidFill>
                <a:latin typeface="Arial"/>
              </a:defRPr>
            </a:pPr>
            <a:r>
              <a:rPr sz="2000"/>
              <a:t>[−2, 3, 6, 7, 6, 3, −2] / 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2560" y="3866896"/>
            <a:ext cx="3696208" cy="1034288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8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90688" y="5106416"/>
            <a:ext cx="3675888" cy="942848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D52F3-5678-A895-73E6-163EE651F7F7}"/>
              </a:ext>
            </a:extLst>
          </p:cNvPr>
          <p:cNvSpPr txBox="1"/>
          <p:nvPr/>
        </p:nvSpPr>
        <p:spPr>
          <a:xfrm>
            <a:off x="7787103" y="3872555"/>
            <a:ext cx="36880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: </a:t>
            </a:r>
          </a:p>
          <a:p>
            <a:r>
              <a:rPr lang="en-US" err="1">
                <a:ea typeface="+mn-lt"/>
                <a:cs typeface="+mn-lt"/>
              </a:rPr>
              <a:t>Lọc</a:t>
            </a:r>
            <a:r>
              <a:rPr lang="en-US">
                <a:ea typeface="+mn-lt"/>
                <a:cs typeface="+mn-lt"/>
              </a:rPr>
              <a:t> dao </a:t>
            </a:r>
            <a:r>
              <a:rPr lang="en-US" err="1">
                <a:ea typeface="+mn-lt"/>
                <a:cs typeface="+mn-lt"/>
              </a:rPr>
              <a:t>động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nhỏ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giữ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gần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đường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gốc</a:t>
            </a:r>
            <a:r>
              <a:rPr lang="en-US">
                <a:ea typeface="+mn-lt"/>
                <a:cs typeface="+mn-lt"/>
              </a:rPr>
              <a:t>, runtime </a:t>
            </a:r>
            <a:r>
              <a:rPr lang="en-US" err="1">
                <a:ea typeface="+mn-lt"/>
                <a:cs typeface="+mn-lt"/>
              </a:rPr>
              <a:t>rất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thấp</a:t>
            </a:r>
            <a:endParaRPr lang="en-US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46782-82A6-1E4A-625B-6201A741B6EC}"/>
              </a:ext>
            </a:extLst>
          </p:cNvPr>
          <p:cNvSpPr txBox="1"/>
          <p:nvPr/>
        </p:nvSpPr>
        <p:spPr>
          <a:xfrm>
            <a:off x="7787729" y="5108476"/>
            <a:ext cx="35661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Đánh </a:t>
            </a:r>
            <a:r>
              <a:rPr lang="en-US" err="1"/>
              <a:t>đổi</a:t>
            </a:r>
            <a:r>
              <a:rPr lang="en-US"/>
              <a:t> : </a:t>
            </a:r>
          </a:p>
          <a:p>
            <a:r>
              <a:rPr lang="en-US" err="1">
                <a:ea typeface="+mn-lt"/>
                <a:cs typeface="+mn-lt"/>
              </a:rPr>
              <a:t>Khó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xử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góc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gãy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lớn</a:t>
            </a:r>
            <a:r>
              <a:rPr lang="en-US">
                <a:ea typeface="+mn-lt"/>
                <a:cs typeface="+mn-lt"/>
              </a:rPr>
              <a:t>; </a:t>
            </a:r>
            <a:r>
              <a:rPr lang="en-US" err="1">
                <a:ea typeface="+mn-lt"/>
                <a:cs typeface="+mn-lt"/>
              </a:rPr>
              <a:t>không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dùng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costmap</a:t>
            </a:r>
            <a:r>
              <a:rPr lang="en-US">
                <a:ea typeface="+mn-lt"/>
                <a:cs typeface="+mn-lt"/>
              </a:rPr>
              <a:t>/footprint </a:t>
            </a:r>
            <a:r>
              <a:rPr lang="en-US" err="1">
                <a:ea typeface="+mn-lt"/>
                <a:cs typeface="+mn-lt"/>
              </a:rPr>
              <a:t>trong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phép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lọc</a:t>
            </a:r>
            <a:endParaRPr lang="en-US" err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502920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t>Constrained Smoother: </a:t>
            </a:r>
            <a:r>
              <a:rPr err="1"/>
              <a:t>tối</a:t>
            </a:r>
            <a:r>
              <a:t> </a:t>
            </a:r>
            <a:r>
              <a:rPr err="1"/>
              <a:t>ưu</a:t>
            </a:r>
            <a:r>
              <a:t> </a:t>
            </a:r>
            <a:r>
              <a:rPr err="1"/>
              <a:t>nhiều</a:t>
            </a:r>
            <a:r>
              <a:t> </a:t>
            </a:r>
            <a:r>
              <a:rPr err="1"/>
              <a:t>thành</a:t>
            </a:r>
            <a:r>
              <a:t> </a:t>
            </a:r>
            <a:r>
              <a:rPr err="1"/>
              <a:t>phần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515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526777"/>
                </a:solidFill>
                <a:latin typeface="Arial"/>
              </a:defRPr>
            </a:pPr>
            <a:r>
              <a:t>Ceres </a:t>
            </a:r>
            <a:r>
              <a:rPr err="1"/>
              <a:t>điều</a:t>
            </a:r>
            <a:r>
              <a:t> </a:t>
            </a:r>
            <a:r>
              <a:rPr err="1"/>
              <a:t>chỉnh</a:t>
            </a:r>
            <a:r>
              <a:t> waypoint </a:t>
            </a:r>
            <a:r>
              <a:rPr err="1"/>
              <a:t>để</a:t>
            </a:r>
            <a:r>
              <a:t> </a:t>
            </a:r>
            <a:r>
              <a:rPr err="1"/>
              <a:t>cân</a:t>
            </a:r>
            <a:r>
              <a:t> </a:t>
            </a:r>
            <a:r>
              <a:rPr err="1"/>
              <a:t>bằng</a:t>
            </a:r>
            <a:r>
              <a:t> </a:t>
            </a:r>
            <a:r>
              <a:rPr err="1"/>
              <a:t>độ</a:t>
            </a:r>
            <a:r>
              <a:t> </a:t>
            </a:r>
            <a:r>
              <a:rPr err="1"/>
              <a:t>mượt</a:t>
            </a:r>
            <a:r>
              <a:t>, curvature, </a:t>
            </a:r>
            <a:r>
              <a:rPr err="1"/>
              <a:t>bám</a:t>
            </a:r>
            <a:r>
              <a:t> </a:t>
            </a:r>
            <a:r>
              <a:rPr err="1"/>
              <a:t>đường</a:t>
            </a:r>
            <a:r>
              <a:t> </a:t>
            </a:r>
            <a:r>
              <a:rPr err="1"/>
              <a:t>gốc</a:t>
            </a:r>
            <a:r>
              <a:t> </a:t>
            </a:r>
            <a:r>
              <a:rPr err="1"/>
              <a:t>và</a:t>
            </a:r>
            <a:r>
              <a:t> </a:t>
            </a:r>
            <a:r>
              <a:rPr err="1"/>
              <a:t>costmap</a:t>
            </a:r>
            <a:r>
              <a:t>.</a:t>
            </a:r>
          </a:p>
        </p:txBody>
      </p:sp>
      <p:pic>
        <p:nvPicPr>
          <p:cNvPr id="9" name="Picture 8" descr="constrained_smoo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91836"/>
            <a:ext cx="7104888" cy="3641255"/>
          </a:xfrm>
          <a:prstGeom prst="rect">
            <a:avLst/>
          </a:prstGeom>
        </p:spPr>
      </p:pic>
      <p:sp>
        <p:nvSpPr>
          <p:cNvPr id="3" name="Rounded Rectangle 14">
            <a:extLst>
              <a:ext uri="{FF2B5EF4-FFF2-40B4-BE49-F238E27FC236}">
                <a16:creationId xmlns:a16="http://schemas.microsoft.com/office/drawing/2014/main" id="{58363705-E3D1-B157-0111-37064CD64B5E}"/>
              </a:ext>
            </a:extLst>
          </p:cNvPr>
          <p:cNvSpPr/>
          <p:nvPr/>
        </p:nvSpPr>
        <p:spPr>
          <a:xfrm>
            <a:off x="8087360" y="3490976"/>
            <a:ext cx="3665728" cy="1034288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8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4997A66D-4D86-79C1-306F-57C5663AB524}"/>
              </a:ext>
            </a:extLst>
          </p:cNvPr>
          <p:cNvSpPr/>
          <p:nvPr/>
        </p:nvSpPr>
        <p:spPr>
          <a:xfrm>
            <a:off x="8095488" y="4730496"/>
            <a:ext cx="3645408" cy="942848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0EBC6-63BF-7B01-4B63-D0CC33A165CD}"/>
              </a:ext>
            </a:extLst>
          </p:cNvPr>
          <p:cNvSpPr txBox="1"/>
          <p:nvPr/>
        </p:nvSpPr>
        <p:spPr>
          <a:xfrm>
            <a:off x="8091903" y="3496635"/>
            <a:ext cx="36576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: </a:t>
            </a:r>
          </a:p>
          <a:p>
            <a:r>
              <a:rPr lang="en-US" err="1">
                <a:ea typeface="+mn-lt"/>
                <a:cs typeface="+mn-lt"/>
              </a:rPr>
              <a:t>Cần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tối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ưu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mục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tiêu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và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đẩy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đường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khỏi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vùng</a:t>
            </a:r>
            <a:r>
              <a:rPr lang="en-US">
                <a:ea typeface="+mn-lt"/>
                <a:cs typeface="+mn-lt"/>
              </a:rPr>
              <a:t> cost </a:t>
            </a:r>
            <a:r>
              <a:rPr lang="en-US" err="1">
                <a:ea typeface="+mn-lt"/>
                <a:cs typeface="+mn-lt"/>
              </a:rPr>
              <a:t>cao</a:t>
            </a:r>
            <a:endParaRPr lang="en-US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00F77-3018-9CEE-EE50-2BD2B02659EB}"/>
              </a:ext>
            </a:extLst>
          </p:cNvPr>
          <p:cNvSpPr txBox="1"/>
          <p:nvPr/>
        </p:nvSpPr>
        <p:spPr>
          <a:xfrm>
            <a:off x="8092529" y="4732556"/>
            <a:ext cx="3657600" cy="933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Đánh </a:t>
            </a:r>
            <a:r>
              <a:rPr lang="en-US" err="1"/>
              <a:t>đổi</a:t>
            </a:r>
            <a:r>
              <a:rPr lang="en-US"/>
              <a:t> : </a:t>
            </a:r>
          </a:p>
          <a:p>
            <a:r>
              <a:rPr lang="en-US" err="1">
                <a:ea typeface="+mn-lt"/>
                <a:cs typeface="+mn-lt"/>
              </a:rPr>
              <a:t>Tối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ưu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nặng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hơn</a:t>
            </a:r>
            <a:r>
              <a:rPr lang="en-US">
                <a:ea typeface="+mn-lt"/>
                <a:cs typeface="+mn-lt"/>
              </a:rPr>
              <a:t>; </a:t>
            </a:r>
            <a:r>
              <a:rPr lang="en-US" err="1">
                <a:ea typeface="+mn-lt"/>
                <a:cs typeface="+mn-lt"/>
              </a:rPr>
              <a:t>kết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quả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phụ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thuộc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mạnh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vào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trọng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số</a:t>
            </a:r>
            <a:endParaRPr lang="en-US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08D5F-DE86-3FF2-5F7F-2D874AA4A951}"/>
              </a:ext>
            </a:extLst>
          </p:cNvPr>
          <p:cNvSpPr txBox="1"/>
          <p:nvPr/>
        </p:nvSpPr>
        <p:spPr>
          <a:xfrm>
            <a:off x="7851783" y="1892849"/>
            <a:ext cx="41554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6E5AE6"/>
                </a:solidFill>
                <a:latin typeface="Arial"/>
                <a:cs typeface="Arial"/>
              </a:rPr>
              <a:t>J = </a:t>
            </a:r>
            <a:r>
              <a:rPr lang="en-US" b="1" err="1">
                <a:solidFill>
                  <a:srgbClr val="6E5AE6"/>
                </a:solidFill>
                <a:latin typeface="Arial"/>
                <a:cs typeface="Arial"/>
              </a:rPr>
              <a:t>wsJs</a:t>
            </a:r>
            <a:r>
              <a:rPr lang="en-US" b="1">
                <a:solidFill>
                  <a:srgbClr val="6E5AE6"/>
                </a:solidFill>
                <a:latin typeface="Arial"/>
                <a:cs typeface="Arial"/>
              </a:rPr>
              <a:t> + </a:t>
            </a:r>
            <a:r>
              <a:rPr lang="en-US" b="1" err="1">
                <a:solidFill>
                  <a:srgbClr val="6E5AE6"/>
                </a:solidFill>
                <a:latin typeface="Arial"/>
                <a:cs typeface="Arial"/>
              </a:rPr>
              <a:t>wcJκ</a:t>
            </a:r>
            <a:r>
              <a:rPr lang="en-US" b="1">
                <a:solidFill>
                  <a:srgbClr val="6E5AE6"/>
                </a:solidFill>
                <a:latin typeface="Arial"/>
                <a:cs typeface="Arial"/>
              </a:rPr>
              <a:t> + </a:t>
            </a:r>
            <a:r>
              <a:rPr lang="en-US" b="1" err="1">
                <a:solidFill>
                  <a:srgbClr val="6E5AE6"/>
                </a:solidFill>
                <a:latin typeface="Arial"/>
                <a:cs typeface="Arial"/>
              </a:rPr>
              <a:t>wdJd</a:t>
            </a:r>
            <a:r>
              <a:rPr lang="en-US" b="1">
                <a:solidFill>
                  <a:srgbClr val="6E5AE6"/>
                </a:solidFill>
                <a:latin typeface="Arial"/>
                <a:cs typeface="Arial"/>
              </a:rPr>
              <a:t> + </a:t>
            </a:r>
            <a:r>
              <a:rPr lang="en-US" b="1" err="1">
                <a:solidFill>
                  <a:srgbClr val="6E5AE6"/>
                </a:solidFill>
                <a:latin typeface="Arial"/>
                <a:cs typeface="Arial"/>
              </a:rPr>
              <a:t>woJcost</a:t>
            </a:r>
            <a:endParaRPr lang="en-US">
              <a:latin typeface="Arial"/>
              <a:cs typeface="Arial"/>
            </a:endParaRPr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BB42D-41D0-F029-A167-D6D5C84C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B1708567-3368-CD28-AB5B-734B02A22244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ED0DDE2-014A-3909-3D0D-EDBE403FFF30}"/>
              </a:ext>
            </a:extLst>
          </p:cNvPr>
          <p:cNvSpPr txBox="1"/>
          <p:nvPr/>
        </p:nvSpPr>
        <p:spPr>
          <a:xfrm>
            <a:off x="594360" y="1232083"/>
            <a:ext cx="53218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/>
              <a:t>Ý tưởng và mục tiêu của PSTMO</a:t>
            </a:r>
          </a:p>
          <a:p>
            <a:pPr marL="342900" indent="-342900">
              <a:buAutoNum type="arabicPeriod"/>
            </a:pPr>
            <a:r>
              <a:rPr lang="vi-VN"/>
              <a:t>Quy trình tổng thể của PSTMO</a:t>
            </a:r>
          </a:p>
          <a:p>
            <a:pPr marL="342900" indent="-342900">
              <a:buFontTx/>
              <a:buAutoNum type="arabicPeriod"/>
            </a:pPr>
            <a:r>
              <a:rPr lang="vi-VN"/>
              <a:t>Tiền xử lý đường đi và xác định góc chuyển hướng</a:t>
            </a:r>
          </a:p>
          <a:p>
            <a:pPr marL="342900" indent="-342900">
              <a:buFontTx/>
              <a:buAutoNum type="arabicPeriod"/>
            </a:pPr>
            <a:r>
              <a:rPr lang="vi-VN"/>
              <a:t>Mô hình chuyển tiếp </a:t>
            </a:r>
            <a:r>
              <a:rPr lang="vi-VN" err="1"/>
              <a:t>Bézier</a:t>
            </a:r>
            <a:r>
              <a:rPr lang="vi-VN"/>
              <a:t> bậc năm G²</a:t>
            </a:r>
            <a:endParaRPr lang="vi-VN">
              <a:effectLst/>
            </a:endParaRPr>
          </a:p>
          <a:p>
            <a:pPr marL="342900" indent="-342900">
              <a:buFontTx/>
              <a:buAutoNum type="arabicPeriod"/>
            </a:pPr>
            <a:r>
              <a:rPr lang="vi-VN"/>
              <a:t>Sinh và tìm kiếm ứng viên chuyển tiếp</a:t>
            </a:r>
            <a:endParaRPr lang="vi-VN">
              <a:effectLst/>
            </a:endParaRPr>
          </a:p>
          <a:p>
            <a:pPr marL="342900" indent="-342900">
              <a:buFontTx/>
              <a:buAutoNum type="arabicPeriod"/>
            </a:pPr>
            <a:r>
              <a:rPr lang="vi-VN"/>
              <a:t>Đánh giá tính khả thi của ứng viên</a:t>
            </a:r>
            <a:endParaRPr lang="vi-VN">
              <a:effectLst/>
            </a:endParaRPr>
          </a:p>
          <a:p>
            <a:pPr marL="342900" indent="-342900">
              <a:buFontTx/>
              <a:buAutoNum type="arabicPeriod"/>
            </a:pPr>
            <a:r>
              <a:rPr lang="vi-VN"/>
              <a:t>Lựa chọn chuỗi chuyển tiếp bằng quy hoạch động</a:t>
            </a:r>
            <a:endParaRPr lang="vi-VN">
              <a:effectLst/>
            </a:endParaRPr>
          </a:p>
          <a:p>
            <a:pPr marL="342900" indent="-342900">
              <a:buFontTx/>
              <a:buAutoNum type="arabicPeriod"/>
            </a:pPr>
            <a:r>
              <a:rPr lang="vi-VN"/>
              <a:t>Tạo đường đi làm mượt cuối cùng</a:t>
            </a:r>
            <a:endParaRPr lang="vi-VN">
              <a:effectLst/>
            </a:endParaRPr>
          </a:p>
          <a:p>
            <a:pPr marL="342900" indent="-342900">
              <a:buFontTx/>
              <a:buAutoNum type="arabicPeriod"/>
            </a:pPr>
            <a:endParaRPr lang="vi-VN" b="1">
              <a:effectLst/>
            </a:endParaRPr>
          </a:p>
          <a:p>
            <a:pPr marL="342900" indent="-342900">
              <a:buAutoNum type="arabicPeriod"/>
            </a:pP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7845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E731-EBD6-8F3D-209B-49292857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43BED451-022C-E889-926A-A1E72E3E6E41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5906DD29-69A7-69A5-A7D9-513FA28279F9}"/>
              </a:ext>
            </a:extLst>
          </p:cNvPr>
          <p:cNvSpPr txBox="1"/>
          <p:nvPr/>
        </p:nvSpPr>
        <p:spPr>
          <a:xfrm>
            <a:off x="594360" y="1232083"/>
            <a:ext cx="5321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/>
              <a:t>Ý tưởng và mục tiêu của PSTMO</a:t>
            </a:r>
          </a:p>
          <a:p>
            <a:pPr marL="342900" indent="-342900">
              <a:buFontTx/>
              <a:buAutoNum type="arabicPeriod"/>
            </a:pPr>
            <a:endParaRPr lang="vi-VN" b="1">
              <a:effectLst/>
            </a:endParaRPr>
          </a:p>
          <a:p>
            <a:pPr marL="342900" indent="-342900">
              <a:buAutoNum type="arabicPeriod"/>
            </a:pPr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BFB5E5B-1D47-1605-7E60-54D9694A1371}"/>
              </a:ext>
            </a:extLst>
          </p:cNvPr>
          <p:cNvSpPr txBox="1"/>
          <p:nvPr/>
        </p:nvSpPr>
        <p:spPr>
          <a:xfrm>
            <a:off x="594360" y="1786819"/>
            <a:ext cx="53218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vi-VN"/>
              <a:t>Mục tiêu:</a:t>
            </a:r>
          </a:p>
          <a:p>
            <a:pPr lvl="1" fontAlgn="base"/>
            <a:r>
              <a:rPr lang="vi-VN"/>
              <a:t>giảm chuyển hướng gắt;</a:t>
            </a:r>
          </a:p>
          <a:p>
            <a:pPr lvl="1" fontAlgn="base"/>
            <a:r>
              <a:rPr lang="vi-VN"/>
              <a:t>hạn chế quay tại chỗ;</a:t>
            </a:r>
          </a:p>
          <a:p>
            <a:pPr lvl="1" fontAlgn="base"/>
            <a:r>
              <a:rPr lang="vi-VN"/>
              <a:t>duy trì an toàn;</a:t>
            </a:r>
          </a:p>
          <a:p>
            <a:pPr lvl="1" fontAlgn="base"/>
            <a:r>
              <a:rPr lang="vi-VN"/>
              <a:t>đảm bảo khả thi với </a:t>
            </a:r>
            <a:r>
              <a:rPr lang="vi-VN" err="1"/>
              <a:t>robot</a:t>
            </a:r>
            <a:r>
              <a:rPr lang="vi-VN"/>
              <a:t> </a:t>
            </a:r>
            <a:r>
              <a:rPr lang="vi-VN" err="1"/>
              <a:t>differential-drive</a:t>
            </a:r>
            <a:r>
              <a:rPr lang="vi-VN"/>
              <a:t>.</a:t>
            </a:r>
          </a:p>
          <a:p>
            <a:endParaRPr lang="vi-VN" b="1">
              <a:effectLst/>
            </a:endParaRPr>
          </a:p>
          <a:p>
            <a:pPr marL="342900" indent="-342900">
              <a:buAutoNum type="arabicPeriod"/>
            </a:pPr>
            <a:endParaRPr lang="vi-VN"/>
          </a:p>
        </p:txBody>
      </p:sp>
      <p:pic>
        <p:nvPicPr>
          <p:cNvPr id="9" name="Picture 8" descr="image5.png">
            <a:extLst>
              <a:ext uri="{FF2B5EF4-FFF2-40B4-BE49-F238E27FC236}">
                <a16:creationId xmlns:a16="http://schemas.microsoft.com/office/drawing/2014/main" id="{8F760D00-520C-5E95-A041-5EEDEAD38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834" y="1502615"/>
            <a:ext cx="5010912" cy="221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25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6AD6-2135-1062-4B0E-786D4B22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98DFCF3A-8195-8EA9-67C1-78B4CAEE4D46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C8D6F9F-4A8B-6D79-A3EE-3AEB06CCC32F}"/>
              </a:ext>
            </a:extLst>
          </p:cNvPr>
          <p:cNvSpPr txBox="1"/>
          <p:nvPr/>
        </p:nvSpPr>
        <p:spPr>
          <a:xfrm>
            <a:off x="594360" y="1232083"/>
            <a:ext cx="5321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2. Quy trình tổng thể của PSTMO</a:t>
            </a:r>
          </a:p>
          <a:p>
            <a:endParaRPr lang="vi-VN"/>
          </a:p>
          <a:p>
            <a:pPr marL="342900" indent="-342900">
              <a:buFontTx/>
              <a:buAutoNum type="arabicPeriod"/>
            </a:pPr>
            <a:endParaRPr lang="vi-VN" b="1">
              <a:effectLst/>
            </a:endParaRPr>
          </a:p>
          <a:p>
            <a:pPr marL="342900" indent="-342900">
              <a:buAutoNum type="arabicPeriod"/>
            </a:pPr>
            <a:endParaRPr lang="vi-VN"/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358B35EB-83D8-FDC5-781B-AD688A040F0E}"/>
              </a:ext>
            </a:extLst>
          </p:cNvPr>
          <p:cNvSpPr/>
          <p:nvPr/>
        </p:nvSpPr>
        <p:spPr>
          <a:xfrm>
            <a:off x="432818" y="2432412"/>
            <a:ext cx="102184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AD947CFE-EE6D-5F1D-279C-D0C0B1D0E09D}"/>
              </a:ext>
            </a:extLst>
          </p:cNvPr>
          <p:cNvSpPr txBox="1"/>
          <p:nvPr/>
        </p:nvSpPr>
        <p:spPr>
          <a:xfrm>
            <a:off x="478538" y="2517827"/>
            <a:ext cx="93040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r>
              <a:rPr lang="vi-VN" sz="2000" b="1"/>
              <a:t>Đường đi thô</a:t>
            </a:r>
            <a:endParaRPr sz="2000"/>
          </a:p>
        </p:txBody>
      </p:sp>
      <p:sp>
        <p:nvSpPr>
          <p:cNvPr id="39" name="Right Arrow 9">
            <a:extLst>
              <a:ext uri="{FF2B5EF4-FFF2-40B4-BE49-F238E27FC236}">
                <a16:creationId xmlns:a16="http://schemas.microsoft.com/office/drawing/2014/main" id="{FBD45271-38AC-700A-E9BC-18CE649B8EF7}"/>
              </a:ext>
            </a:extLst>
          </p:cNvPr>
          <p:cNvSpPr/>
          <p:nvPr/>
        </p:nvSpPr>
        <p:spPr>
          <a:xfrm>
            <a:off x="1546100" y="2734164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ounded Rectangle 10">
            <a:extLst>
              <a:ext uri="{FF2B5EF4-FFF2-40B4-BE49-F238E27FC236}">
                <a16:creationId xmlns:a16="http://schemas.microsoft.com/office/drawing/2014/main" id="{CE73B052-3458-CBF0-A005-BEDF0098A211}"/>
              </a:ext>
            </a:extLst>
          </p:cNvPr>
          <p:cNvSpPr/>
          <p:nvPr/>
        </p:nvSpPr>
        <p:spPr>
          <a:xfrm>
            <a:off x="1893572" y="2432412"/>
            <a:ext cx="102184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2293DF61-F343-807A-4541-C85BB98EA36D}"/>
              </a:ext>
            </a:extLst>
          </p:cNvPr>
          <p:cNvSpPr txBox="1"/>
          <p:nvPr/>
        </p:nvSpPr>
        <p:spPr>
          <a:xfrm>
            <a:off x="1939292" y="2517827"/>
            <a:ext cx="93040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r>
              <a:rPr lang="vi-VN" sz="2000" b="1"/>
              <a:t>Tiền xử lý</a:t>
            </a:r>
            <a:endParaRPr sz="2000"/>
          </a:p>
        </p:txBody>
      </p:sp>
      <p:sp>
        <p:nvSpPr>
          <p:cNvPr id="45" name="Right Arrow 12">
            <a:extLst>
              <a:ext uri="{FF2B5EF4-FFF2-40B4-BE49-F238E27FC236}">
                <a16:creationId xmlns:a16="http://schemas.microsoft.com/office/drawing/2014/main" id="{C95A5C6E-6977-4673-2DBD-990096B8AF35}"/>
              </a:ext>
            </a:extLst>
          </p:cNvPr>
          <p:cNvSpPr/>
          <p:nvPr/>
        </p:nvSpPr>
        <p:spPr>
          <a:xfrm>
            <a:off x="3006854" y="2734164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Rounded Rectangle 13">
            <a:extLst>
              <a:ext uri="{FF2B5EF4-FFF2-40B4-BE49-F238E27FC236}">
                <a16:creationId xmlns:a16="http://schemas.microsoft.com/office/drawing/2014/main" id="{ABD5ED91-455F-BB37-B186-9A182102E2CB}"/>
              </a:ext>
            </a:extLst>
          </p:cNvPr>
          <p:cNvSpPr/>
          <p:nvPr/>
        </p:nvSpPr>
        <p:spPr>
          <a:xfrm>
            <a:off x="3354326" y="2432412"/>
            <a:ext cx="102184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9" name="TextBox 14">
            <a:extLst>
              <a:ext uri="{FF2B5EF4-FFF2-40B4-BE49-F238E27FC236}">
                <a16:creationId xmlns:a16="http://schemas.microsoft.com/office/drawing/2014/main" id="{C082466F-C0FB-2A15-1F98-AD93002A6DEB}"/>
              </a:ext>
            </a:extLst>
          </p:cNvPr>
          <p:cNvSpPr txBox="1"/>
          <p:nvPr/>
        </p:nvSpPr>
        <p:spPr>
          <a:xfrm>
            <a:off x="3400046" y="2363939"/>
            <a:ext cx="930402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r>
              <a:rPr lang="vi-VN" sz="2000" b="1"/>
              <a:t>Phát hiện góc</a:t>
            </a:r>
            <a:endParaRPr sz="2000"/>
          </a:p>
        </p:txBody>
      </p:sp>
      <p:sp>
        <p:nvSpPr>
          <p:cNvPr id="51" name="Right Arrow 15">
            <a:extLst>
              <a:ext uri="{FF2B5EF4-FFF2-40B4-BE49-F238E27FC236}">
                <a16:creationId xmlns:a16="http://schemas.microsoft.com/office/drawing/2014/main" id="{937AC449-17CC-D058-B94B-8E2B37C65751}"/>
              </a:ext>
            </a:extLst>
          </p:cNvPr>
          <p:cNvSpPr/>
          <p:nvPr/>
        </p:nvSpPr>
        <p:spPr>
          <a:xfrm>
            <a:off x="4467608" y="2734164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33F6F6C7-3320-A0C3-F2EC-5E20C2131226}"/>
              </a:ext>
            </a:extLst>
          </p:cNvPr>
          <p:cNvSpPr txBox="1"/>
          <p:nvPr/>
        </p:nvSpPr>
        <p:spPr>
          <a:xfrm>
            <a:off x="4868800" y="2147602"/>
            <a:ext cx="930402" cy="15388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r>
              <a:rPr lang="vi-VN" sz="2000" b="1"/>
              <a:t>Sinh chuyển tiếp </a:t>
            </a:r>
            <a:r>
              <a:rPr lang="vi-VN" sz="2000" b="1" err="1"/>
              <a:t>Bézier</a:t>
            </a:r>
            <a:r>
              <a:rPr lang="vi-VN" sz="2000" b="1"/>
              <a:t> G²</a:t>
            </a:r>
            <a:endParaRPr sz="2000"/>
          </a:p>
        </p:txBody>
      </p:sp>
      <p:sp>
        <p:nvSpPr>
          <p:cNvPr id="57" name="Right Arrow 18">
            <a:extLst>
              <a:ext uri="{FF2B5EF4-FFF2-40B4-BE49-F238E27FC236}">
                <a16:creationId xmlns:a16="http://schemas.microsoft.com/office/drawing/2014/main" id="{B6AE28EB-DDD3-881C-613D-A6B9D90B2E49}"/>
              </a:ext>
            </a:extLst>
          </p:cNvPr>
          <p:cNvSpPr/>
          <p:nvPr/>
        </p:nvSpPr>
        <p:spPr>
          <a:xfrm>
            <a:off x="5928361" y="2734164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12E62797-28AA-2B98-F235-10B8FD933C7C}"/>
              </a:ext>
            </a:extLst>
          </p:cNvPr>
          <p:cNvSpPr txBox="1"/>
          <p:nvPr/>
        </p:nvSpPr>
        <p:spPr>
          <a:xfrm>
            <a:off x="6279262" y="2118610"/>
            <a:ext cx="930402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r>
              <a:rPr lang="vi-VN" sz="2000" b="1"/>
              <a:t>Tìm kiếm hình học</a:t>
            </a:r>
            <a:endParaRPr sz="2000"/>
          </a:p>
        </p:txBody>
      </p:sp>
      <p:sp>
        <p:nvSpPr>
          <p:cNvPr id="63" name="Right Arrow 21">
            <a:extLst>
              <a:ext uri="{FF2B5EF4-FFF2-40B4-BE49-F238E27FC236}">
                <a16:creationId xmlns:a16="http://schemas.microsoft.com/office/drawing/2014/main" id="{87038F0B-2740-C1AC-0272-FD71DAE4A8E4}"/>
              </a:ext>
            </a:extLst>
          </p:cNvPr>
          <p:cNvSpPr/>
          <p:nvPr/>
        </p:nvSpPr>
        <p:spPr>
          <a:xfrm>
            <a:off x="7389116" y="2734164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7" name="TextBox 23">
            <a:extLst>
              <a:ext uri="{FF2B5EF4-FFF2-40B4-BE49-F238E27FC236}">
                <a16:creationId xmlns:a16="http://schemas.microsoft.com/office/drawing/2014/main" id="{46E46235-F0DE-DE61-F181-376B95878A6C}"/>
              </a:ext>
            </a:extLst>
          </p:cNvPr>
          <p:cNvSpPr txBox="1"/>
          <p:nvPr/>
        </p:nvSpPr>
        <p:spPr>
          <a:xfrm>
            <a:off x="7782308" y="1902274"/>
            <a:ext cx="930402" cy="1846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r>
              <a:rPr lang="vi-VN" sz="2000" b="1"/>
              <a:t>Đánh giá tính khả thi của ứng viên</a:t>
            </a:r>
            <a:endParaRPr sz="2000"/>
          </a:p>
        </p:txBody>
      </p:sp>
      <p:sp>
        <p:nvSpPr>
          <p:cNvPr id="69" name="Right Arrow 24">
            <a:extLst>
              <a:ext uri="{FF2B5EF4-FFF2-40B4-BE49-F238E27FC236}">
                <a16:creationId xmlns:a16="http://schemas.microsoft.com/office/drawing/2014/main" id="{DBB84866-E213-9D92-DA7C-F2D4A667EDE5}"/>
              </a:ext>
            </a:extLst>
          </p:cNvPr>
          <p:cNvSpPr/>
          <p:nvPr/>
        </p:nvSpPr>
        <p:spPr>
          <a:xfrm>
            <a:off x="8849870" y="2734164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3" name="TextBox 26">
            <a:extLst>
              <a:ext uri="{FF2B5EF4-FFF2-40B4-BE49-F238E27FC236}">
                <a16:creationId xmlns:a16="http://schemas.microsoft.com/office/drawing/2014/main" id="{98E2362A-ABE4-E58B-9BBC-FB82181F6DCB}"/>
              </a:ext>
            </a:extLst>
          </p:cNvPr>
          <p:cNvSpPr txBox="1"/>
          <p:nvPr/>
        </p:nvSpPr>
        <p:spPr>
          <a:xfrm>
            <a:off x="9220202" y="2391479"/>
            <a:ext cx="930402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75D59"/>
                </a:solidFill>
                <a:latin typeface="Arial"/>
              </a:defRPr>
            </a:pPr>
            <a:r>
              <a:rPr lang="vi-VN" sz="2000" b="1"/>
              <a:t>Quy hoạch động</a:t>
            </a:r>
            <a:endParaRPr sz="2000"/>
          </a:p>
        </p:txBody>
      </p:sp>
      <p:sp>
        <p:nvSpPr>
          <p:cNvPr id="75" name="Right Arrow 27">
            <a:extLst>
              <a:ext uri="{FF2B5EF4-FFF2-40B4-BE49-F238E27FC236}">
                <a16:creationId xmlns:a16="http://schemas.microsoft.com/office/drawing/2014/main" id="{8E39C685-4F0F-528E-217D-8F0CFB8AFD67}"/>
              </a:ext>
            </a:extLst>
          </p:cNvPr>
          <p:cNvSpPr/>
          <p:nvPr/>
        </p:nvSpPr>
        <p:spPr>
          <a:xfrm>
            <a:off x="10310624" y="2734164"/>
            <a:ext cx="256032" cy="182880"/>
          </a:xfrm>
          <a:prstGeom prst="rightArrow">
            <a:avLst/>
          </a:prstGeom>
          <a:solidFill>
            <a:srgbClr val="AA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9" name="TextBox 29">
            <a:extLst>
              <a:ext uri="{FF2B5EF4-FFF2-40B4-BE49-F238E27FC236}">
                <a16:creationId xmlns:a16="http://schemas.microsoft.com/office/drawing/2014/main" id="{28848BF0-632D-B458-2A02-009EDB105EE9}"/>
              </a:ext>
            </a:extLst>
          </p:cNvPr>
          <p:cNvSpPr txBox="1"/>
          <p:nvPr/>
        </p:nvSpPr>
        <p:spPr>
          <a:xfrm>
            <a:off x="10703816" y="2301491"/>
            <a:ext cx="930402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r>
              <a:rPr lang="vi-VN" sz="2000" b="1"/>
              <a:t>Đường đi làm mượt 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72B3A"/>
                </a:solidFill>
                <a:latin typeface="Arial"/>
              </a:defRPr>
            </a:pP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1335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D0C08-CEE0-484E-A259-72EC0B36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175C4FF9-A949-01B5-2170-A9CBC22039CF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2DAE51B-0B4D-0DE4-EC12-F30EA371FF40}"/>
              </a:ext>
            </a:extLst>
          </p:cNvPr>
          <p:cNvSpPr txBox="1"/>
          <p:nvPr/>
        </p:nvSpPr>
        <p:spPr>
          <a:xfrm>
            <a:off x="594360" y="1232083"/>
            <a:ext cx="5321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Tiền xử lý đường đi và xác định góc chuyển hướng</a:t>
            </a:r>
          </a:p>
          <a:p>
            <a:endParaRPr lang="vi-VN"/>
          </a:p>
        </p:txBody>
      </p:sp>
      <p:pic>
        <p:nvPicPr>
          <p:cNvPr id="4" name="Picture 8" descr="figure_03_conditioning_actual.png">
            <a:extLst>
              <a:ext uri="{FF2B5EF4-FFF2-40B4-BE49-F238E27FC236}">
                <a16:creationId xmlns:a16="http://schemas.microsoft.com/office/drawing/2014/main" id="{915BF04D-CF2C-17A0-E3F1-50654F592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9414"/>
            <a:ext cx="12068402" cy="3519578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2075D6EB-E2C5-3D9C-400D-85A8ADB0DB85}"/>
              </a:ext>
            </a:extLst>
          </p:cNvPr>
          <p:cNvSpPr txBox="1"/>
          <p:nvPr/>
        </p:nvSpPr>
        <p:spPr>
          <a:xfrm>
            <a:off x="170688" y="1989028"/>
            <a:ext cx="1956816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02A43"/>
                </a:solidFill>
                <a:latin typeface="Arial"/>
              </a:defRPr>
            </a:pPr>
            <a:r>
              <a:rPr err="1"/>
              <a:t>Mục</a:t>
            </a:r>
            <a:r>
              <a:t> </a:t>
            </a:r>
            <a:r>
              <a:rPr lang="vi-VN"/>
              <a:t>tiêu: </a:t>
            </a:r>
            <a:endParaRPr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ED8DCB47-7DA5-DA7B-3C02-72CF176FA978}"/>
              </a:ext>
            </a:extLst>
          </p:cNvPr>
          <p:cNvSpPr txBox="1"/>
          <p:nvPr/>
        </p:nvSpPr>
        <p:spPr>
          <a:xfrm>
            <a:off x="2127504" y="1991978"/>
            <a:ext cx="2103120" cy="8434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70" b="1">
                <a:solidFill>
                  <a:srgbClr val="0B7A75"/>
                </a:solidFill>
                <a:latin typeface="Arial"/>
              </a:rPr>
              <a:t>• </a:t>
            </a:r>
            <a:r>
              <a:rPr sz="1270" b="0" err="1">
                <a:solidFill>
                  <a:srgbClr val="172B3A"/>
                </a:solidFill>
                <a:latin typeface="Arial"/>
              </a:rPr>
              <a:t>bỏ</a:t>
            </a:r>
            <a:r>
              <a:rPr sz="1270" b="0">
                <a:solidFill>
                  <a:srgbClr val="172B3A"/>
                </a:solidFill>
                <a:latin typeface="Arial"/>
              </a:rPr>
              <a:t> </a:t>
            </a:r>
            <a:r>
              <a:rPr sz="1270" b="0" err="1">
                <a:solidFill>
                  <a:srgbClr val="172B3A"/>
                </a:solidFill>
                <a:latin typeface="Arial"/>
              </a:rPr>
              <a:t>điểm</a:t>
            </a:r>
            <a:r>
              <a:rPr sz="1270" b="0">
                <a:solidFill>
                  <a:srgbClr val="172B3A"/>
                </a:solidFill>
                <a:latin typeface="Arial"/>
              </a:rPr>
              <a:t> </a:t>
            </a:r>
            <a:r>
              <a:rPr sz="1270" b="0" err="1">
                <a:solidFill>
                  <a:srgbClr val="172B3A"/>
                </a:solidFill>
                <a:latin typeface="Arial"/>
              </a:rPr>
              <a:t>trùng</a:t>
            </a:r>
            <a:endParaRPr sz="1270" b="0">
              <a:solidFill>
                <a:srgbClr val="172B3A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70" b="1">
                <a:solidFill>
                  <a:srgbClr val="0B7A75"/>
                </a:solidFill>
                <a:latin typeface="Arial"/>
              </a:rPr>
              <a:t>• </a:t>
            </a:r>
            <a:r>
              <a:rPr sz="1270" b="0" err="1">
                <a:solidFill>
                  <a:srgbClr val="172B3A"/>
                </a:solidFill>
                <a:latin typeface="Arial"/>
              </a:rPr>
              <a:t>triệt</a:t>
            </a:r>
            <a:r>
              <a:rPr sz="1270" b="0">
                <a:solidFill>
                  <a:srgbClr val="172B3A"/>
                </a:solidFill>
                <a:latin typeface="Arial"/>
              </a:rPr>
              <a:t> zigzag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70" b="1">
                <a:solidFill>
                  <a:srgbClr val="0B7A75"/>
                </a:solidFill>
                <a:latin typeface="Arial"/>
              </a:rPr>
              <a:t>• </a:t>
            </a:r>
            <a:r>
              <a:rPr sz="1270" b="0" err="1">
                <a:solidFill>
                  <a:srgbClr val="172B3A"/>
                </a:solidFill>
                <a:latin typeface="Arial"/>
              </a:rPr>
              <a:t>giữ</a:t>
            </a:r>
            <a:r>
              <a:rPr sz="1270" b="0">
                <a:solidFill>
                  <a:srgbClr val="172B3A"/>
                </a:solidFill>
                <a:latin typeface="Arial"/>
              </a:rPr>
              <a:t> endpoints</a:t>
            </a:r>
          </a:p>
        </p:txBody>
      </p:sp>
    </p:spTree>
    <p:extLst>
      <p:ext uri="{BB962C8B-B14F-4D97-AF65-F5344CB8AC3E}">
        <p14:creationId xmlns:p14="http://schemas.microsoft.com/office/powerpoint/2010/main" val="3358487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CE20-5BA9-A72B-61F2-1C43A399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E076EC40-35E0-D7F8-8137-92C0DDD6D4F8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32F6E27-5036-EC5E-8BD2-E877126E5FCE}"/>
              </a:ext>
            </a:extLst>
          </p:cNvPr>
          <p:cNvSpPr txBox="1"/>
          <p:nvPr/>
        </p:nvSpPr>
        <p:spPr>
          <a:xfrm>
            <a:off x="594360" y="1232083"/>
            <a:ext cx="5321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Tiền xử lý đường đi và xác định góc chuyển hướng</a:t>
            </a:r>
          </a:p>
          <a:p>
            <a:endParaRPr lang="vi-VN"/>
          </a:p>
        </p:txBody>
      </p:sp>
      <p:pic>
        <p:nvPicPr>
          <p:cNvPr id="5" name="Picture 8" descr="image13.png">
            <a:extLst>
              <a:ext uri="{FF2B5EF4-FFF2-40B4-BE49-F238E27FC236}">
                <a16:creationId xmlns:a16="http://schemas.microsoft.com/office/drawing/2014/main" id="{E7D06B31-76D0-B0BB-F578-36CC9E008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48" y="2386246"/>
            <a:ext cx="10632368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56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06118-49C9-9F86-A9D6-C397DE7C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CCD8E350-EE39-EB1C-1334-9578BD178D45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64BDA44-6B62-E446-830A-382AE0D6AD47}"/>
              </a:ext>
            </a:extLst>
          </p:cNvPr>
          <p:cNvSpPr txBox="1"/>
          <p:nvPr/>
        </p:nvSpPr>
        <p:spPr>
          <a:xfrm>
            <a:off x="594360" y="1232083"/>
            <a:ext cx="5321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Tiền xử lý đường đi và xác định góc chuyển hướng</a:t>
            </a:r>
          </a:p>
          <a:p>
            <a:endParaRPr lang="vi-VN"/>
          </a:p>
        </p:txBody>
      </p:sp>
      <p:pic>
        <p:nvPicPr>
          <p:cNvPr id="4" name="Picture 12" descr="image16.png">
            <a:extLst>
              <a:ext uri="{FF2B5EF4-FFF2-40B4-BE49-F238E27FC236}">
                <a16:creationId xmlns:a16="http://schemas.microsoft.com/office/drawing/2014/main" id="{3CAA591F-01F0-9649-018A-35BF46C5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86" y="2657310"/>
            <a:ext cx="9462382" cy="356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05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A932-82F7-71AF-289F-B8E573C7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94D413D5-FB9C-47E0-E7D7-5B678FCD41BD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6BF9A38-ABE9-AC57-968C-974277B9EA8F}"/>
              </a:ext>
            </a:extLst>
          </p:cNvPr>
          <p:cNvSpPr txBox="1"/>
          <p:nvPr/>
        </p:nvSpPr>
        <p:spPr>
          <a:xfrm>
            <a:off x="594360" y="1232083"/>
            <a:ext cx="5321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Tiền xử lý đường đi và xác định góc chuyển hướng</a:t>
            </a:r>
          </a:p>
          <a:p>
            <a:endParaRPr lang="vi-VN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49139D9-3B41-5C7B-6EC9-BBC77B79A644}"/>
              </a:ext>
            </a:extLst>
          </p:cNvPr>
          <p:cNvSpPr txBox="1"/>
          <p:nvPr/>
        </p:nvSpPr>
        <p:spPr>
          <a:xfrm>
            <a:off x="694944" y="2155413"/>
            <a:ext cx="4736592" cy="11172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102A43"/>
                </a:solidFill>
                <a:latin typeface="Arial"/>
              </a:defRPr>
            </a:pPr>
            <a:r>
              <a:t>|θ| &lt; 5°</a:t>
            </a:r>
            <a:r>
              <a:rPr lang="vi-VN"/>
              <a:t> -&gt; bỏ qua điểm</a:t>
            </a:r>
          </a:p>
          <a:p>
            <a:pPr>
              <a:defRPr sz="2300" b="1" i="0">
                <a:solidFill>
                  <a:srgbClr val="102A43"/>
                </a:solidFill>
                <a:latin typeface="Arial"/>
              </a:defRPr>
            </a:pPr>
            <a:r>
              <a:rPr lang="el-GR" dirty="0"/>
              <a:t>5° &lt; |θ| </a:t>
            </a:r>
            <a:r>
              <a:rPr lang="vi-VN"/>
              <a:t> &lt; 170</a:t>
            </a:r>
            <a:r>
              <a:rPr lang="el-GR" dirty="0"/>
              <a:t>°</a:t>
            </a:r>
            <a:r>
              <a:rPr lang="vi-VN" dirty="0"/>
              <a:t>  -&gt; đưa vào bộ chuyển tiếp xử lý góc</a:t>
            </a:r>
            <a:endParaRPr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143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A465-7404-AB36-BC4C-FF272BF8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C3EE9BC8-9543-EB96-061D-6E38C299457E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F4F31D1B-5406-18FD-B235-5FDD0458DB27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4. Mô hình chuyển tiếp </a:t>
            </a:r>
            <a:r>
              <a:rPr lang="vi-VN" err="1"/>
              <a:t>Bézier</a:t>
            </a:r>
            <a:r>
              <a:rPr lang="vi-VN"/>
              <a:t> bậc năm G²</a:t>
            </a:r>
            <a:endParaRPr lang="vi-VN">
              <a:effectLst/>
            </a:endParaRPr>
          </a:p>
          <a:p>
            <a:endParaRPr lang="vi-VN"/>
          </a:p>
        </p:txBody>
      </p:sp>
      <p:pic>
        <p:nvPicPr>
          <p:cNvPr id="3" name="Picture 13">
            <a:extLst>
              <a:ext uri="{FF2B5EF4-FFF2-40B4-BE49-F238E27FC236}">
                <a16:creationId xmlns:a16="http://schemas.microsoft.com/office/drawing/2014/main" id="{82B9C21E-D458-4EB8-5157-62546FE4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24" y="1692805"/>
            <a:ext cx="11317915" cy="3468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0D005E-2AD2-78AA-99CA-15900EE5CB95}"/>
              </a:ext>
            </a:extLst>
          </p:cNvPr>
          <p:cNvSpPr txBox="1"/>
          <p:nvPr/>
        </p:nvSpPr>
        <p:spPr>
          <a:xfrm>
            <a:off x="1488281" y="5375394"/>
            <a:ext cx="862150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G1: Tạo 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nhảy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ngột</a:t>
            </a:r>
            <a:r>
              <a:rPr lang="en-US" dirty="0"/>
              <a:t> giữa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cong</a:t>
            </a:r>
            <a:endParaRPr lang="en-US" dirty="0"/>
          </a:p>
          <a:p>
            <a:r>
              <a:rPr lang="en-US" dirty="0"/>
              <a:t>G2: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nhảy</a:t>
            </a:r>
            <a:r>
              <a:rPr lang="en-US" dirty="0"/>
              <a:t> curvature,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cong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 k=0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 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 cong. </a:t>
            </a:r>
          </a:p>
          <a:p>
            <a:r>
              <a:rPr lang="en-US" dirty="0"/>
              <a:t>Suy </a:t>
            </a:r>
            <a:r>
              <a:rPr lang="en-US" dirty="0" err="1"/>
              <a:t>ra</a:t>
            </a:r>
            <a:r>
              <a:rPr lang="en-US" dirty="0"/>
              <a:t>, </a:t>
            </a:r>
            <a:r>
              <a:rPr lang="en-US" dirty="0" err="1"/>
              <a:t>chọn</a:t>
            </a:r>
            <a:r>
              <a:rPr lang="en-US" dirty="0"/>
              <a:t> G2</a:t>
            </a:r>
          </a:p>
        </p:txBody>
      </p:sp>
    </p:spTree>
    <p:extLst>
      <p:ext uri="{BB962C8B-B14F-4D97-AF65-F5344CB8AC3E}">
        <p14:creationId xmlns:p14="http://schemas.microsoft.com/office/powerpoint/2010/main" val="3102185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EAA1-097E-EF1B-9B1A-A7F7F9EA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A634BE93-0D3C-78F7-8821-861D85B9BF24}"/>
              </a:ext>
            </a:extLst>
          </p:cNvPr>
          <p:cNvSpPr txBox="1"/>
          <p:nvPr/>
        </p:nvSpPr>
        <p:spPr>
          <a:xfrm>
            <a:off x="567779" y="255678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CCBB0B1-B170-4CA6-6BB6-A2CC919881E6}"/>
              </a:ext>
            </a:extLst>
          </p:cNvPr>
          <p:cNvSpPr txBox="1"/>
          <p:nvPr/>
        </p:nvSpPr>
        <p:spPr>
          <a:xfrm>
            <a:off x="567779" y="727037"/>
            <a:ext cx="5321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>
                <a:latin typeface="Arial"/>
                <a:cs typeface="Arial"/>
              </a:rPr>
              <a:t>4. Mô hình chuyển tiếp Bézier bậc năm G²</a:t>
            </a:r>
            <a:endParaRPr lang="vi-VN">
              <a:effectLst/>
              <a:latin typeface="Arial"/>
              <a:cs typeface="Arial"/>
            </a:endParaRPr>
          </a:p>
        </p:txBody>
      </p:sp>
      <p:pic>
        <p:nvPicPr>
          <p:cNvPr id="4" name="Picture 8" descr="image19.png">
            <a:extLst>
              <a:ext uri="{FF2B5EF4-FFF2-40B4-BE49-F238E27FC236}">
                <a16:creationId xmlns:a16="http://schemas.microsoft.com/office/drawing/2014/main" id="{F14B243D-F35E-E613-2810-1FED311ED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28" y="1098693"/>
            <a:ext cx="11894832" cy="2980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BEFB0D-117C-C57D-1746-C7333AC3D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41" y="4076257"/>
            <a:ext cx="11239500" cy="20193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600855-0F2A-8DAE-0630-F8BCE9340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969662"/>
              </p:ext>
            </p:extLst>
          </p:nvPr>
        </p:nvGraphicFramePr>
        <p:xfrm>
          <a:off x="248093" y="6211185"/>
          <a:ext cx="11941586" cy="5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41586">
                  <a:extLst>
                    <a:ext uri="{9D8B030D-6E8A-4147-A177-3AD203B41FA5}">
                      <a16:colId xmlns:a16="http://schemas.microsoft.com/office/drawing/2014/main" val="1878954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PSTMO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dùng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Bézier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bậc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năm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vì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đây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là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cấu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trúc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gọn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cho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phép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thỏa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toàn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bộ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điều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kiện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biên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G²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và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vẫn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tối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ưu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được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hình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dạng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Bậc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hai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thiếu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điều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kiện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curvature;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bậc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bốn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thiếu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mức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tự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do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mong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muốn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658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973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56A49-9220-3F3D-B09E-504F6C50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0BBD1C6F-CACA-CD21-AB3D-05F1A80E88E3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8DAD285-26A5-52BE-6188-72D4D608238E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4. Mô hình chuyển tiếp </a:t>
            </a:r>
            <a:r>
              <a:rPr lang="vi-VN" err="1"/>
              <a:t>Bézier</a:t>
            </a:r>
            <a:r>
              <a:rPr lang="vi-VN"/>
              <a:t> bậc năm G²</a:t>
            </a:r>
            <a:endParaRPr lang="vi-VN">
              <a:effectLst/>
            </a:endParaRPr>
          </a:p>
          <a:p>
            <a:endParaRPr lang="vi-VN"/>
          </a:p>
        </p:txBody>
      </p:sp>
      <p:pic>
        <p:nvPicPr>
          <p:cNvPr id="5" name="Picture 8" descr="image22.png">
            <a:extLst>
              <a:ext uri="{FF2B5EF4-FFF2-40B4-BE49-F238E27FC236}">
                <a16:creationId xmlns:a16="http://schemas.microsoft.com/office/drawing/2014/main" id="{02F5997F-680B-EF3B-0128-FE0C1888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69" y="1878414"/>
            <a:ext cx="6053328" cy="4009293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9CCC8AD8-BC73-D525-571E-4D1E85A35508}"/>
              </a:ext>
            </a:extLst>
          </p:cNvPr>
          <p:cNvSpPr txBox="1"/>
          <p:nvPr/>
        </p:nvSpPr>
        <p:spPr>
          <a:xfrm>
            <a:off x="6852706" y="2491740"/>
            <a:ext cx="3419856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02A43"/>
                </a:solidFill>
                <a:latin typeface="Arial"/>
              </a:defRPr>
            </a:pPr>
            <a:r>
              <a:t>A = V − </a:t>
            </a:r>
            <a:r>
              <a:rPr err="1"/>
              <a:t>d·u</a:t>
            </a:r>
            <a:endParaRPr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72B25E09-1B6E-A387-CFC7-092CA06C96D9}"/>
              </a:ext>
            </a:extLst>
          </p:cNvPr>
          <p:cNvSpPr txBox="1"/>
          <p:nvPr/>
        </p:nvSpPr>
        <p:spPr>
          <a:xfrm>
            <a:off x="6852706" y="3044934"/>
            <a:ext cx="3419856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02A43"/>
                </a:solidFill>
                <a:latin typeface="Arial"/>
              </a:defRPr>
            </a:pPr>
            <a:r>
              <a:t>B = V + d·v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566AB31-52FC-C2F5-0AB2-C546CF81AF12}"/>
              </a:ext>
            </a:extLst>
          </p:cNvPr>
          <p:cNvSpPr txBox="1"/>
          <p:nvPr/>
        </p:nvSpPr>
        <p:spPr>
          <a:xfrm>
            <a:off x="7538506" y="3776491"/>
            <a:ext cx="1051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F6FED"/>
                </a:solidFill>
                <a:latin typeface="Arial"/>
              </a:defRPr>
            </a:pPr>
            <a:r>
              <a:t>d nhỏ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FE4B05-17AA-BCA4-A98E-50A6ED515353}"/>
              </a:ext>
            </a:extLst>
          </p:cNvPr>
          <p:cNvSpPr txBox="1"/>
          <p:nvPr/>
        </p:nvSpPr>
        <p:spPr>
          <a:xfrm>
            <a:off x="8562634" y="3776491"/>
            <a:ext cx="1371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172B3A"/>
                </a:solidFill>
                <a:latin typeface="Arial"/>
              </a:defRPr>
            </a:pPr>
            <a:r>
              <a:t>giữ gần đỉnh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0A6B39EF-9B49-8A98-A35B-BBD8AF6FF022}"/>
              </a:ext>
            </a:extLst>
          </p:cNvPr>
          <p:cNvSpPr txBox="1"/>
          <p:nvPr/>
        </p:nvSpPr>
        <p:spPr>
          <a:xfrm>
            <a:off x="7511074" y="4242872"/>
            <a:ext cx="1051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07A2F"/>
                </a:solidFill>
                <a:latin typeface="Arial"/>
              </a:defRPr>
            </a:pPr>
            <a:r>
              <a:t>d </a:t>
            </a:r>
            <a:r>
              <a:rPr err="1"/>
              <a:t>lớn</a:t>
            </a:r>
            <a:endParaRPr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2D6B4214-60DC-AE7F-5DB0-63E1AB05E907}"/>
              </a:ext>
            </a:extLst>
          </p:cNvPr>
          <p:cNvSpPr txBox="1"/>
          <p:nvPr/>
        </p:nvSpPr>
        <p:spPr>
          <a:xfrm>
            <a:off x="8562634" y="4242872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172B3A"/>
                </a:solidFill>
                <a:latin typeface="Arial"/>
              </a:defRPr>
            </a:pPr>
            <a:r>
              <a:rPr err="1"/>
              <a:t>cong</a:t>
            </a:r>
            <a:r>
              <a:t> </a:t>
            </a:r>
            <a:r>
              <a:rPr err="1"/>
              <a:t>trải</a:t>
            </a:r>
            <a:r>
              <a:t> </a:t>
            </a:r>
            <a:r>
              <a:rPr err="1"/>
              <a:t>rộng</a:t>
            </a:r>
            <a:r>
              <a:t> </a:t>
            </a:r>
            <a:r>
              <a:rPr err="1"/>
              <a:t>hơn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6276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DE98E-3D96-561F-4ABC-61BE9FE9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BF8C044C-9F47-049C-EDB5-B1DEB858880D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F2597A8-0C57-B158-0D60-A8351E3A80E0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4. Mô hình chuyển tiếp </a:t>
            </a:r>
            <a:r>
              <a:rPr lang="vi-VN" err="1"/>
              <a:t>Bézier</a:t>
            </a:r>
            <a:r>
              <a:rPr lang="vi-VN"/>
              <a:t> bậc năm G²</a:t>
            </a:r>
            <a:endParaRPr lang="vi-VN">
              <a:effectLst/>
            </a:endParaRPr>
          </a:p>
          <a:p>
            <a:endParaRPr lang="vi-VN"/>
          </a:p>
        </p:txBody>
      </p:sp>
      <p:pic>
        <p:nvPicPr>
          <p:cNvPr id="5" name="Picture 8" descr="image23.png">
            <a:extLst>
              <a:ext uri="{FF2B5EF4-FFF2-40B4-BE49-F238E27FC236}">
                <a16:creationId xmlns:a16="http://schemas.microsoft.com/office/drawing/2014/main" id="{8002AD3C-C790-3606-144A-E621450CD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52" y="1637782"/>
            <a:ext cx="5746430" cy="4846334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A448A21A-8136-726A-115B-A5E57204AD44}"/>
              </a:ext>
            </a:extLst>
          </p:cNvPr>
          <p:cNvSpPr txBox="1"/>
          <p:nvPr/>
        </p:nvSpPr>
        <p:spPr>
          <a:xfrm>
            <a:off x="8027709" y="636496"/>
            <a:ext cx="2871216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F6FED"/>
                </a:solidFill>
                <a:latin typeface="Arial"/>
              </a:defRPr>
            </a:pPr>
            <a:r>
              <a:rPr err="1"/>
              <a:t>Nhánh</a:t>
            </a:r>
            <a:r>
              <a:t> </a:t>
            </a:r>
            <a:r>
              <a:rPr err="1"/>
              <a:t>vào</a:t>
            </a: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A79398-56CC-125C-FF79-06A6B72DF00E}"/>
              </a:ext>
            </a:extLst>
          </p:cNvPr>
          <p:cNvSpPr txBox="1"/>
          <p:nvPr/>
        </p:nvSpPr>
        <p:spPr>
          <a:xfrm>
            <a:off x="7854695" y="1053536"/>
            <a:ext cx="1517904" cy="12070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P₀=A</a:t>
            </a:r>
            <a:br/>
            <a:r>
              <a:t>P₁=A+q·u</a:t>
            </a:r>
            <a:br/>
            <a:r>
              <a:t>P₂=A+2q·u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857AA-86DC-DFA5-3EFF-16BE6EAFFC84}"/>
              </a:ext>
            </a:extLst>
          </p:cNvPr>
          <p:cNvSpPr txBox="1"/>
          <p:nvPr/>
        </p:nvSpPr>
        <p:spPr>
          <a:xfrm>
            <a:off x="9847365" y="636496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B7A75"/>
                </a:solidFill>
                <a:latin typeface="Arial"/>
              </a:defRPr>
            </a:pPr>
            <a:r>
              <a:t>Nhánh ra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E891F445-0CA3-CDD2-464D-056CB8B24DA4}"/>
              </a:ext>
            </a:extLst>
          </p:cNvPr>
          <p:cNvSpPr txBox="1"/>
          <p:nvPr/>
        </p:nvSpPr>
        <p:spPr>
          <a:xfrm>
            <a:off x="9564624" y="1053536"/>
            <a:ext cx="1609344" cy="12070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P₅=B</a:t>
            </a:r>
            <a:br/>
            <a:r>
              <a:t>P₄=B−q·v</a:t>
            </a:r>
            <a:br/>
            <a:r>
              <a:t>P₃=B−2q·v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6652F998-A050-1F4C-9003-D692C28E4723}"/>
              </a:ext>
            </a:extLst>
          </p:cNvPr>
          <p:cNvSpPr txBox="1"/>
          <p:nvPr/>
        </p:nvSpPr>
        <p:spPr>
          <a:xfrm>
            <a:off x="7722543" y="4537475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75D59"/>
                </a:solidFill>
                <a:latin typeface="Arial"/>
              </a:defRPr>
            </a:pPr>
            <a:r>
              <a:rPr err="1"/>
              <a:t>Cách</a:t>
            </a:r>
            <a:r>
              <a:t> </a:t>
            </a:r>
            <a:r>
              <a:rPr err="1"/>
              <a:t>bố</a:t>
            </a:r>
            <a:r>
              <a:t> </a:t>
            </a:r>
            <a:r>
              <a:rPr err="1"/>
              <a:t>trí</a:t>
            </a:r>
            <a:r>
              <a:t> </a:t>
            </a:r>
            <a:r>
              <a:rPr err="1"/>
              <a:t>này</a:t>
            </a:r>
            <a:r>
              <a:t> </a:t>
            </a:r>
            <a:r>
              <a:rPr err="1"/>
              <a:t>làm</a:t>
            </a:r>
            <a:r>
              <a:t> B″ </a:t>
            </a:r>
            <a:r>
              <a:rPr err="1"/>
              <a:t>bằng</a:t>
            </a:r>
            <a:r>
              <a:t> 0 </a:t>
            </a:r>
            <a:r>
              <a:rPr err="1"/>
              <a:t>tại</a:t>
            </a:r>
            <a:r>
              <a:t> </a:t>
            </a:r>
            <a:r>
              <a:rPr err="1"/>
              <a:t>hai</a:t>
            </a:r>
            <a:r>
              <a:t> endpoint.</a:t>
            </a:r>
          </a:p>
        </p:txBody>
      </p:sp>
      <p:pic>
        <p:nvPicPr>
          <p:cNvPr id="18" name="Picture 8" descr="image24.png">
            <a:extLst>
              <a:ext uri="{FF2B5EF4-FFF2-40B4-BE49-F238E27FC236}">
                <a16:creationId xmlns:a16="http://schemas.microsoft.com/office/drawing/2014/main" id="{209BA6F4-9126-9AFF-B578-BE5F71ADA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682" y="1942978"/>
            <a:ext cx="5074920" cy="2417317"/>
          </a:xfrm>
          <a:prstGeom prst="rect">
            <a:avLst/>
          </a:prstGeom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991968B8-33D5-1791-2B3C-8819700B72C9}"/>
              </a:ext>
            </a:extLst>
          </p:cNvPr>
          <p:cNvSpPr txBox="1"/>
          <p:nvPr/>
        </p:nvSpPr>
        <p:spPr>
          <a:xfrm>
            <a:off x="6923498" y="5075976"/>
            <a:ext cx="45537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2F6FED"/>
                </a:solidFill>
                <a:latin typeface="Arial"/>
              </a:defRPr>
            </a:pPr>
            <a:r>
              <a:t>P₀, P₁, P₂ </a:t>
            </a:r>
            <a:r>
              <a:rPr err="1"/>
              <a:t>thẳng</a:t>
            </a:r>
            <a:r>
              <a:t> </a:t>
            </a:r>
            <a:r>
              <a:rPr err="1"/>
              <a:t>hàng</a:t>
            </a:r>
            <a:r>
              <a:t> </a:t>
            </a:r>
            <a:r>
              <a:rPr err="1"/>
              <a:t>và</a:t>
            </a:r>
            <a:r>
              <a:t> </a:t>
            </a:r>
            <a:r>
              <a:rPr err="1"/>
              <a:t>cách</a:t>
            </a:r>
            <a:r>
              <a:t> </a:t>
            </a:r>
            <a:r>
              <a:rPr err="1"/>
              <a:t>đều</a:t>
            </a:r>
            <a:r>
              <a:t> ⇒ B″(0)=0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CDE6C788-1D04-F061-9EB1-F6058B21017B}"/>
              </a:ext>
            </a:extLst>
          </p:cNvPr>
          <p:cNvSpPr txBox="1"/>
          <p:nvPr/>
        </p:nvSpPr>
        <p:spPr>
          <a:xfrm>
            <a:off x="6864210" y="5356103"/>
            <a:ext cx="455371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075D59"/>
                </a:solidFill>
                <a:latin typeface="Arial"/>
              </a:defRPr>
            </a:pPr>
            <a:r>
              <a:t>P₃, P₄, P₅ </a:t>
            </a:r>
            <a:r>
              <a:rPr err="1"/>
              <a:t>thẳng</a:t>
            </a:r>
            <a:r>
              <a:t> </a:t>
            </a:r>
            <a:r>
              <a:rPr err="1"/>
              <a:t>hàng</a:t>
            </a:r>
            <a:r>
              <a:t> </a:t>
            </a:r>
            <a:r>
              <a:rPr err="1"/>
              <a:t>và</a:t>
            </a:r>
            <a:r>
              <a:t> </a:t>
            </a:r>
            <a:r>
              <a:rPr err="1"/>
              <a:t>cách</a:t>
            </a:r>
            <a:r>
              <a:t> </a:t>
            </a:r>
            <a:r>
              <a:rPr err="1"/>
              <a:t>đều</a:t>
            </a:r>
            <a:r>
              <a:t> ⇒ B″(1)=0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44DB4617-135C-283F-5504-9A102B498265}"/>
              </a:ext>
            </a:extLst>
          </p:cNvPr>
          <p:cNvSpPr txBox="1"/>
          <p:nvPr/>
        </p:nvSpPr>
        <p:spPr>
          <a:xfrm>
            <a:off x="6977639" y="5709382"/>
            <a:ext cx="400507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75D59"/>
                </a:solidFill>
                <a:latin typeface="Arial"/>
              </a:defRPr>
            </a:pPr>
            <a:r>
              <a:t>κ ∝ B′×B″ ⇒ κ(0)=κ(1)=0.</a:t>
            </a:r>
          </a:p>
        </p:txBody>
      </p:sp>
    </p:spTree>
    <p:extLst>
      <p:ext uri="{BB962C8B-B14F-4D97-AF65-F5344CB8AC3E}">
        <p14:creationId xmlns:p14="http://schemas.microsoft.com/office/powerpoint/2010/main" val="3974291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ED53-7D12-B996-A70C-7DB67442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5F0DA964-1555-507D-6542-E00EA2D615EA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FF9E59DF-3495-6A80-46DB-510F811D77A7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4. Mô hình chuyển tiếp </a:t>
            </a:r>
            <a:r>
              <a:rPr lang="vi-VN" err="1"/>
              <a:t>Bézier</a:t>
            </a:r>
            <a:r>
              <a:rPr lang="vi-VN"/>
              <a:t> bậc năm G²</a:t>
            </a:r>
            <a:endParaRPr lang="vi-VN">
              <a:effectLst/>
            </a:endParaRPr>
          </a:p>
          <a:p>
            <a:endParaRPr lang="vi-VN"/>
          </a:p>
        </p:txBody>
      </p:sp>
      <p:pic>
        <p:nvPicPr>
          <p:cNvPr id="4" name="Picture 8" descr="image25.png">
            <a:extLst>
              <a:ext uri="{FF2B5EF4-FFF2-40B4-BE49-F238E27FC236}">
                <a16:creationId xmlns:a16="http://schemas.microsoft.com/office/drawing/2014/main" id="{C06B8888-224A-6EFC-666B-F2ADB50A3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95" y="1700784"/>
            <a:ext cx="4224891" cy="3456432"/>
          </a:xfrm>
          <a:prstGeom prst="rect">
            <a:avLst/>
          </a:prstGeom>
        </p:spPr>
      </p:pic>
      <p:pic>
        <p:nvPicPr>
          <p:cNvPr id="9" name="Picture 12" descr="image26.png">
            <a:extLst>
              <a:ext uri="{FF2B5EF4-FFF2-40B4-BE49-F238E27FC236}">
                <a16:creationId xmlns:a16="http://schemas.microsoft.com/office/drawing/2014/main" id="{D256ACD5-FE21-C745-801B-56FB565C0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17" y="2064273"/>
            <a:ext cx="4681728" cy="2729453"/>
          </a:xfrm>
          <a:prstGeom prst="rect">
            <a:avLst/>
          </a:prstGeom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3661F009-02A6-DD29-A899-0AD4A973C531}"/>
              </a:ext>
            </a:extLst>
          </p:cNvPr>
          <p:cNvSpPr txBox="1"/>
          <p:nvPr/>
        </p:nvSpPr>
        <p:spPr>
          <a:xfrm>
            <a:off x="1581912" y="5351597"/>
            <a:ext cx="1188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F6FED"/>
                </a:solidFill>
                <a:latin typeface="Arial"/>
              </a:defRPr>
            </a:pPr>
            <a:r>
              <a:t>Thay d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6610376-264B-6A62-33C9-16794E872BD7}"/>
              </a:ext>
            </a:extLst>
          </p:cNvPr>
          <p:cNvSpPr txBox="1"/>
          <p:nvPr/>
        </p:nvSpPr>
        <p:spPr>
          <a:xfrm>
            <a:off x="2606040" y="5351597"/>
            <a:ext cx="33101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72B3A"/>
                </a:solidFill>
                <a:latin typeface="Arial"/>
              </a:defRPr>
            </a:pPr>
            <a:r>
              <a:rPr err="1"/>
              <a:t>thay</a:t>
            </a:r>
            <a:r>
              <a:t> </a:t>
            </a:r>
            <a:r>
              <a:rPr err="1"/>
              <a:t>kích</a:t>
            </a:r>
            <a:r>
              <a:t> </a:t>
            </a:r>
            <a:r>
              <a:rPr err="1"/>
              <a:t>thước</a:t>
            </a:r>
            <a:r>
              <a:t> transition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7277F94A-378C-573E-F93A-FC25994EC722}"/>
              </a:ext>
            </a:extLst>
          </p:cNvPr>
          <p:cNvSpPr txBox="1"/>
          <p:nvPr/>
        </p:nvSpPr>
        <p:spPr>
          <a:xfrm>
            <a:off x="7388352" y="5351597"/>
            <a:ext cx="1188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B7A75"/>
                </a:solidFill>
                <a:latin typeface="Arial"/>
              </a:defRPr>
            </a:pPr>
            <a:r>
              <a:t>Thay α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CAC4CF38-B913-743E-4577-001684F146DA}"/>
              </a:ext>
            </a:extLst>
          </p:cNvPr>
          <p:cNvSpPr txBox="1"/>
          <p:nvPr/>
        </p:nvSpPr>
        <p:spPr>
          <a:xfrm>
            <a:off x="8467344" y="5351597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72B3A"/>
                </a:solidFill>
                <a:latin typeface="Arial"/>
              </a:defRPr>
            </a:pPr>
            <a:r>
              <a:t>thay profile curvature và Eκ</a:t>
            </a:r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4D6CF640-CCCE-2268-49BA-B22BD0EB38DA}"/>
              </a:ext>
            </a:extLst>
          </p:cNvPr>
          <p:cNvSpPr txBox="1"/>
          <p:nvPr/>
        </p:nvSpPr>
        <p:spPr>
          <a:xfrm>
            <a:off x="3561540" y="5883706"/>
            <a:ext cx="609442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526777"/>
                </a:solidFill>
                <a:latin typeface="Arial"/>
              </a:defRPr>
            </a:pPr>
            <a:r>
              <a:rPr lang="vi-VN" sz="1350"/>
              <a:t>d thay quy mô vùng cong; </a:t>
            </a:r>
            <a:r>
              <a:rPr lang="el-GR" sz="1350"/>
              <a:t>α </a:t>
            </a:r>
            <a:r>
              <a:rPr lang="vi-VN" sz="1350"/>
              <a:t>thay hình dạng bên trong vùng đó.</a:t>
            </a:r>
          </a:p>
        </p:txBody>
      </p:sp>
    </p:spTree>
    <p:extLst>
      <p:ext uri="{BB962C8B-B14F-4D97-AF65-F5344CB8AC3E}">
        <p14:creationId xmlns:p14="http://schemas.microsoft.com/office/powerpoint/2010/main" val="1390461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41CEE-DC95-FF63-2794-7CB00E61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9A673851-27C8-E14E-D5BF-CA18E57F9435}"/>
              </a:ext>
            </a:extLst>
          </p:cNvPr>
          <p:cNvSpPr txBox="1"/>
          <p:nvPr/>
        </p:nvSpPr>
        <p:spPr>
          <a:xfrm>
            <a:off x="594360" y="530352"/>
            <a:ext cx="1069848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B2F3A22-BEF6-5BAB-9285-ED7C436FA207}"/>
              </a:ext>
            </a:extLst>
          </p:cNvPr>
          <p:cNvSpPr txBox="1"/>
          <p:nvPr/>
        </p:nvSpPr>
        <p:spPr>
          <a:xfrm>
            <a:off x="594360" y="1403711"/>
            <a:ext cx="738606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Tìm </a:t>
            </a:r>
            <a:r>
              <a:rPr lang="el-GR"/>
              <a:t>α </a:t>
            </a:r>
            <a:r>
              <a:rPr lang="vi-VN"/>
              <a:t>theo </a:t>
            </a:r>
            <a:r>
              <a:rPr lang="vi-VN" err="1"/>
              <a:t>coarse</a:t>
            </a:r>
            <a:r>
              <a:rPr lang="vi-VN"/>
              <a:t> → </a:t>
            </a:r>
            <a:r>
              <a:rPr lang="vi-VN" err="1"/>
              <a:t>recovery</a:t>
            </a:r>
            <a:r>
              <a:rPr lang="vi-VN"/>
              <a:t> → </a:t>
            </a:r>
            <a:r>
              <a:rPr lang="vi-VN" err="1"/>
              <a:t>refinement</a:t>
            </a:r>
            <a:endParaRPr lang="vi-VN"/>
          </a:p>
        </p:txBody>
      </p:sp>
      <p:pic>
        <p:nvPicPr>
          <p:cNvPr id="9" name="Picture 8" descr="figure_05_alpha_search.png">
            <a:extLst>
              <a:ext uri="{FF2B5EF4-FFF2-40B4-BE49-F238E27FC236}">
                <a16:creationId xmlns:a16="http://schemas.microsoft.com/office/drawing/2014/main" id="{30A5CE8C-30AC-EEA4-DE3F-AB3E8EC5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2" y="2400562"/>
            <a:ext cx="9018142" cy="32830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2E1DD-ECC6-0656-2EB9-982886ABEFFF}"/>
              </a:ext>
            </a:extLst>
          </p:cNvPr>
          <p:cNvSpPr txBox="1"/>
          <p:nvPr/>
        </p:nvSpPr>
        <p:spPr>
          <a:xfrm>
            <a:off x="9061704" y="1892807"/>
            <a:ext cx="200253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2F6FED"/>
                </a:solidFill>
                <a:latin typeface="Arial"/>
              </a:defRPr>
            </a:pPr>
            <a:r>
              <a:t>Coarse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4358AE47-5261-CFA4-5684-6998716CE239}"/>
              </a:ext>
            </a:extLst>
          </p:cNvPr>
          <p:cNvSpPr txBox="1"/>
          <p:nvPr/>
        </p:nvSpPr>
        <p:spPr>
          <a:xfrm>
            <a:off x="9061704" y="2231136"/>
            <a:ext cx="2002536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72B3A"/>
                </a:solidFill>
                <a:latin typeface="Arial"/>
              </a:defRPr>
            </a:pPr>
            <a:r>
              <a:t>0,1; 0,2; …; 0,5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76C4F655-8EAF-3438-40EF-D89606766F79}"/>
              </a:ext>
            </a:extLst>
          </p:cNvPr>
          <p:cNvSpPr txBox="1"/>
          <p:nvPr/>
        </p:nvSpPr>
        <p:spPr>
          <a:xfrm>
            <a:off x="9061704" y="3099816"/>
            <a:ext cx="200253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C84B4B"/>
                </a:solidFill>
                <a:latin typeface="Arial"/>
              </a:defRPr>
            </a:pPr>
            <a:r>
              <a:t>Recovery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BB4FF4D6-ABA5-7A94-BDC4-93DBC40DED1B}"/>
              </a:ext>
            </a:extLst>
          </p:cNvPr>
          <p:cNvSpPr txBox="1"/>
          <p:nvPr/>
        </p:nvSpPr>
        <p:spPr>
          <a:xfrm>
            <a:off x="9061704" y="3438144"/>
            <a:ext cx="2002536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72B3A"/>
                </a:solidFill>
                <a:latin typeface="Arial"/>
              </a:defRPr>
            </a:pPr>
            <a:r>
              <a:t>midpoint </a:t>
            </a:r>
            <a:r>
              <a:rPr err="1"/>
              <a:t>nếu</a:t>
            </a:r>
            <a:r>
              <a:t> coarse fail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15CA2EBA-DBCE-8912-1CCF-65DC11ADC660}"/>
              </a:ext>
            </a:extLst>
          </p:cNvPr>
          <p:cNvSpPr txBox="1"/>
          <p:nvPr/>
        </p:nvSpPr>
        <p:spPr>
          <a:xfrm>
            <a:off x="9061704" y="4306824"/>
            <a:ext cx="200253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2E8B57"/>
                </a:solidFill>
                <a:latin typeface="Arial"/>
              </a:defRPr>
            </a:pPr>
            <a:r>
              <a:t>Refine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42DE66E7-9F09-1C2C-7ACA-28F362385AFA}"/>
              </a:ext>
            </a:extLst>
          </p:cNvPr>
          <p:cNvSpPr txBox="1"/>
          <p:nvPr/>
        </p:nvSpPr>
        <p:spPr>
          <a:xfrm>
            <a:off x="9061704" y="4645152"/>
            <a:ext cx="2002536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172B3A"/>
                </a:solidFill>
                <a:latin typeface="Arial"/>
              </a:defRPr>
            </a:pPr>
            <a:r>
              <a:t>chia </a:t>
            </a:r>
            <a:r>
              <a:rPr err="1"/>
              <a:t>nhỏ</a:t>
            </a:r>
            <a:r>
              <a:t> </a:t>
            </a:r>
            <a:r>
              <a:rPr err="1"/>
              <a:t>quanh</a:t>
            </a:r>
            <a:r>
              <a:t> winner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66A119C4-824F-76DF-CEBE-3F0AE3E777BF}"/>
              </a:ext>
            </a:extLst>
          </p:cNvPr>
          <p:cNvSpPr txBox="1"/>
          <p:nvPr/>
        </p:nvSpPr>
        <p:spPr>
          <a:xfrm>
            <a:off x="8997696" y="5486400"/>
            <a:ext cx="21396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75D59"/>
                </a:solidFill>
                <a:latin typeface="Arial"/>
              </a:defRPr>
            </a:pPr>
            <a:r>
              <a:t>Chọn Eκ nhỏ nhất trong các ứng viên feasible.</a:t>
            </a:r>
          </a:p>
        </p:txBody>
      </p:sp>
    </p:spTree>
    <p:extLst>
      <p:ext uri="{BB962C8B-B14F-4D97-AF65-F5344CB8AC3E}">
        <p14:creationId xmlns:p14="http://schemas.microsoft.com/office/powerpoint/2010/main" val="1369123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4E17-EDF4-0166-4059-3124C5A6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0AAC55D3-AAB4-1B5A-47B4-17F559D7C0EA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64FF4C5-DE0F-C987-7D6B-DDE6E49B2545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5. Sinh và tìm kiếm ứng viên chuyển tiếp</a:t>
            </a:r>
            <a:endParaRPr lang="vi-VN">
              <a:effectLst/>
            </a:endParaRPr>
          </a:p>
          <a:p>
            <a:endParaRPr lang="vi-VN"/>
          </a:p>
        </p:txBody>
      </p:sp>
      <p:pic>
        <p:nvPicPr>
          <p:cNvPr id="5" name="Picture 8" descr="figure_06_two_trim_dp.png">
            <a:extLst>
              <a:ext uri="{FF2B5EF4-FFF2-40B4-BE49-F238E27FC236}">
                <a16:creationId xmlns:a16="http://schemas.microsoft.com/office/drawing/2014/main" id="{5D99C803-EDF1-02F1-C509-11EDD7331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981760"/>
            <a:ext cx="10404355" cy="3778960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E289922A-ED90-DA69-6588-66613A4AF031}"/>
              </a:ext>
            </a:extLst>
          </p:cNvPr>
          <p:cNvSpPr txBox="1"/>
          <p:nvPr/>
        </p:nvSpPr>
        <p:spPr>
          <a:xfrm>
            <a:off x="976370" y="5446220"/>
            <a:ext cx="6094476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vi-VN">
                <a:latin typeface="Arial"/>
                <a:cs typeface="Arial"/>
              </a:rPr>
              <a:t>Mỗi góc sinh tối đa 3 trạng thái:</a:t>
            </a:r>
          </a:p>
          <a:p>
            <a:pPr lvl="1"/>
            <a:r>
              <a:rPr lang="vi-VN">
                <a:latin typeface="Arial"/>
                <a:cs typeface="Arial"/>
              </a:rPr>
              <a:t>dpref​: ứng viên ưu tiên;</a:t>
            </a:r>
            <a:endParaRPr lang="en-US">
              <a:latin typeface="Arial"/>
              <a:cs typeface="Arial"/>
            </a:endParaRPr>
          </a:p>
          <a:p>
            <a:pPr lvl="1"/>
            <a:r>
              <a:rPr lang="vi-VN">
                <a:latin typeface="Arial"/>
                <a:cs typeface="Arial"/>
              </a:rPr>
              <a:t>dcompat​: giảm trim để tránh chồng lấn;</a:t>
            </a:r>
          </a:p>
          <a:p>
            <a:pPr lvl="1"/>
            <a:r>
              <a:rPr lang="vi-VN">
                <a:latin typeface="Arial"/>
                <a:cs typeface="Arial"/>
              </a:rPr>
              <a:t>Pivot: phương án </a:t>
            </a:r>
            <a:r>
              <a:rPr lang="vi-VN" dirty="0">
                <a:latin typeface="Arial"/>
                <a:cs typeface="Arial"/>
              </a:rPr>
              <a:t>dự phòng.</a:t>
            </a:r>
            <a:endParaRPr lang="vi-VN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40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52976-ACE6-77F1-DC70-336E52EC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333298A0-1CD4-CB45-4768-84165DC5FF3A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9588588D-4A20-6AFA-0586-D809A8C55841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E85502AE-1E38-050D-1812-E5CF76057513}"/>
              </a:ext>
            </a:extLst>
          </p:cNvPr>
          <p:cNvSpPr txBox="1"/>
          <p:nvPr/>
        </p:nvSpPr>
        <p:spPr>
          <a:xfrm>
            <a:off x="1481328" y="1783080"/>
            <a:ext cx="230428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Miền tham số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52BF223-F070-1EE9-A388-016EF517AE24}"/>
              </a:ext>
            </a:extLst>
          </p:cNvPr>
          <p:cNvSpPr txBox="1"/>
          <p:nvPr/>
        </p:nvSpPr>
        <p:spPr>
          <a:xfrm>
            <a:off x="941832" y="2414015"/>
            <a:ext cx="294436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72B3A"/>
                </a:solidFill>
                <a:latin typeface="Arial"/>
              </a:defRPr>
            </a:pPr>
            <a:r>
              <a:t>d, α hữu hạn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B75AD342-569D-720F-5D6B-CF410423C52B}"/>
              </a:ext>
            </a:extLst>
          </p:cNvPr>
          <p:cNvSpPr txBox="1"/>
          <p:nvPr/>
        </p:nvSpPr>
        <p:spPr>
          <a:xfrm>
            <a:off x="5248656" y="1783080"/>
            <a:ext cx="230428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Hình học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1E81E14B-8EAE-A054-828C-F59AC7C52709}"/>
              </a:ext>
            </a:extLst>
          </p:cNvPr>
          <p:cNvSpPr txBox="1"/>
          <p:nvPr/>
        </p:nvSpPr>
        <p:spPr>
          <a:xfrm>
            <a:off x="4709160" y="2414015"/>
            <a:ext cx="294436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72B3A"/>
                </a:solidFill>
                <a:latin typeface="Arial"/>
              </a:defRPr>
            </a:pPr>
            <a:r>
              <a:rPr err="1"/>
              <a:t>đạo</a:t>
            </a:r>
            <a:r>
              <a:t> </a:t>
            </a:r>
            <a:r>
              <a:rPr err="1"/>
              <a:t>hàm</a:t>
            </a:r>
            <a:r>
              <a:t> </a:t>
            </a:r>
            <a:r>
              <a:rPr err="1"/>
              <a:t>không</a:t>
            </a:r>
            <a:r>
              <a:t> </a:t>
            </a:r>
            <a:r>
              <a:rPr err="1"/>
              <a:t>suy</a:t>
            </a:r>
            <a:r>
              <a:t> </a:t>
            </a:r>
            <a:r>
              <a:rPr err="1"/>
              <a:t>biến</a:t>
            </a:r>
            <a:endParaRPr/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F6949714-6F1C-5FCC-2FD0-6B19D279F04D}"/>
              </a:ext>
            </a:extLst>
          </p:cNvPr>
          <p:cNvSpPr txBox="1"/>
          <p:nvPr/>
        </p:nvSpPr>
        <p:spPr>
          <a:xfrm>
            <a:off x="9015984" y="1783080"/>
            <a:ext cx="230428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Curvature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32891FBA-E341-6BBD-CD0A-0FCE08C602C2}"/>
              </a:ext>
            </a:extLst>
          </p:cNvPr>
          <p:cNvSpPr txBox="1"/>
          <p:nvPr/>
        </p:nvSpPr>
        <p:spPr>
          <a:xfrm>
            <a:off x="8476488" y="2414015"/>
            <a:ext cx="294436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72B3A"/>
                </a:solidFill>
                <a:latin typeface="Arial"/>
              </a:defRPr>
            </a:pPr>
            <a:r>
              <a:t>không đổi dấu bất thường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D90E7BB4-8DE9-45CA-4FDE-8E3BB513184A}"/>
              </a:ext>
            </a:extLst>
          </p:cNvPr>
          <p:cNvSpPr txBox="1"/>
          <p:nvPr/>
        </p:nvSpPr>
        <p:spPr>
          <a:xfrm>
            <a:off x="1481328" y="3813048"/>
            <a:ext cx="230428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Robot vi sai</a:t>
            </a:r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56E260BF-9C57-8216-754A-1B24868B1CFD}"/>
              </a:ext>
            </a:extLst>
          </p:cNvPr>
          <p:cNvSpPr txBox="1"/>
          <p:nvPr/>
        </p:nvSpPr>
        <p:spPr>
          <a:xfrm>
            <a:off x="941832" y="4443983"/>
            <a:ext cx="294436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72B3A"/>
                </a:solidFill>
                <a:latin typeface="Arial"/>
              </a:defRPr>
            </a:pPr>
            <a:r>
              <a:t>không đảo bánh trong</a:t>
            </a:r>
          </a:p>
        </p:txBody>
      </p:sp>
      <p:sp>
        <p:nvSpPr>
          <p:cNvPr id="24" name="TextBox 30">
            <a:extLst>
              <a:ext uri="{FF2B5EF4-FFF2-40B4-BE49-F238E27FC236}">
                <a16:creationId xmlns:a16="http://schemas.microsoft.com/office/drawing/2014/main" id="{7907657C-DD82-2D7B-BB56-CE56D19DAE18}"/>
              </a:ext>
            </a:extLst>
          </p:cNvPr>
          <p:cNvSpPr txBox="1"/>
          <p:nvPr/>
        </p:nvSpPr>
        <p:spPr>
          <a:xfrm>
            <a:off x="5248656" y="3813048"/>
            <a:ext cx="230428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Footprint</a:t>
            </a:r>
          </a:p>
        </p:txBody>
      </p:sp>
      <p:sp>
        <p:nvSpPr>
          <p:cNvPr id="26" name="TextBox 31">
            <a:extLst>
              <a:ext uri="{FF2B5EF4-FFF2-40B4-BE49-F238E27FC236}">
                <a16:creationId xmlns:a16="http://schemas.microsoft.com/office/drawing/2014/main" id="{08F59F09-4225-F3F6-423C-E3BF30216B36}"/>
              </a:ext>
            </a:extLst>
          </p:cNvPr>
          <p:cNvSpPr txBox="1"/>
          <p:nvPr/>
        </p:nvSpPr>
        <p:spPr>
          <a:xfrm>
            <a:off x="4709160" y="4443983"/>
            <a:ext cx="294436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72B3A"/>
                </a:solidFill>
                <a:latin typeface="Arial"/>
              </a:defRPr>
            </a:pPr>
            <a:r>
              <a:t>sweep không va chạm</a:t>
            </a:r>
          </a:p>
        </p:txBody>
      </p:sp>
      <p:sp>
        <p:nvSpPr>
          <p:cNvPr id="28" name="TextBox 35">
            <a:extLst>
              <a:ext uri="{FF2B5EF4-FFF2-40B4-BE49-F238E27FC236}">
                <a16:creationId xmlns:a16="http://schemas.microsoft.com/office/drawing/2014/main" id="{0E4DA11F-0104-84AF-B606-67A8EC7FFF59}"/>
              </a:ext>
            </a:extLst>
          </p:cNvPr>
          <p:cNvSpPr txBox="1"/>
          <p:nvPr/>
        </p:nvSpPr>
        <p:spPr>
          <a:xfrm>
            <a:off x="9015984" y="3813048"/>
            <a:ext cx="230428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t>Thời gian</a:t>
            </a: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536374F9-4ADD-E731-2F33-B357D781BCA7}"/>
              </a:ext>
            </a:extLst>
          </p:cNvPr>
          <p:cNvSpPr txBox="1"/>
          <p:nvPr/>
        </p:nvSpPr>
        <p:spPr>
          <a:xfrm>
            <a:off x="8476488" y="4443983"/>
            <a:ext cx="294436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72B3A"/>
                </a:solidFill>
                <a:latin typeface="Arial"/>
              </a:defRPr>
            </a:pPr>
            <a:r>
              <a:t>profile hội tụ, có lợi</a:t>
            </a:r>
          </a:p>
        </p:txBody>
      </p:sp>
    </p:spTree>
    <p:extLst>
      <p:ext uri="{BB962C8B-B14F-4D97-AF65-F5344CB8AC3E}">
        <p14:creationId xmlns:p14="http://schemas.microsoft.com/office/powerpoint/2010/main" val="2165686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A662-EEA0-4E8D-3E5E-D53274739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E4CA9D6E-8337-6EB6-F0C8-2148CB9B8B97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EFFA0C3B-28D1-0484-41A3-4017639A02BB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01EC7057-4872-0DAD-2327-9FA160B6FB98}"/>
              </a:ext>
            </a:extLst>
          </p:cNvPr>
          <p:cNvSpPr txBox="1"/>
          <p:nvPr/>
        </p:nvSpPr>
        <p:spPr>
          <a:xfrm>
            <a:off x="594360" y="1878414"/>
            <a:ext cx="60944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 sz="2700"/>
              <a:t>Cổng hình học và </a:t>
            </a:r>
            <a:r>
              <a:rPr lang="vi-VN" sz="2700" err="1"/>
              <a:t>curvature</a:t>
            </a:r>
            <a:endParaRPr lang="vi-VN" sz="2700"/>
          </a:p>
        </p:txBody>
      </p:sp>
      <p:pic>
        <p:nvPicPr>
          <p:cNvPr id="8" name="Picture 8" descr="figure_04_bezier_g2.png">
            <a:extLst>
              <a:ext uri="{FF2B5EF4-FFF2-40B4-BE49-F238E27FC236}">
                <a16:creationId xmlns:a16="http://schemas.microsoft.com/office/drawing/2014/main" id="{800838D1-88E9-0F36-9441-90D08BB45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55578"/>
            <a:ext cx="8107691" cy="3375605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493B2186-7A9E-2FEB-EDBD-FA04335A20C3}"/>
              </a:ext>
            </a:extLst>
          </p:cNvPr>
          <p:cNvSpPr txBox="1"/>
          <p:nvPr/>
        </p:nvSpPr>
        <p:spPr>
          <a:xfrm>
            <a:off x="7748016" y="360510"/>
            <a:ext cx="1298448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A43"/>
                </a:solidFill>
                <a:latin typeface="Arial"/>
              </a:defRPr>
            </a:pPr>
            <a:r>
              <a:t>Đạo hàm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830331B-C516-763A-7959-6F540D255EFB}"/>
              </a:ext>
            </a:extLst>
          </p:cNvPr>
          <p:cNvSpPr txBox="1"/>
          <p:nvPr/>
        </p:nvSpPr>
        <p:spPr>
          <a:xfrm>
            <a:off x="9055608" y="360510"/>
            <a:ext cx="254203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40" b="0" i="0">
                <a:solidFill>
                  <a:srgbClr val="172B3A"/>
                </a:solidFill>
                <a:latin typeface="Arial"/>
              </a:defRPr>
            </a:pPr>
            <a:r>
              <a:t>‖B′(u)‖ &gt; ε </a:t>
            </a:r>
            <a:r>
              <a:rPr err="1"/>
              <a:t>trên</a:t>
            </a:r>
            <a:r>
              <a:t> </a:t>
            </a:r>
            <a:r>
              <a:rPr err="1"/>
              <a:t>mọi</a:t>
            </a:r>
            <a:r>
              <a:t> </a:t>
            </a:r>
            <a:r>
              <a:rPr err="1"/>
              <a:t>mẫu</a:t>
            </a:r>
            <a:endParaRPr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FE87396D-56C1-1E76-ED9A-406043278167}"/>
              </a:ext>
            </a:extLst>
          </p:cNvPr>
          <p:cNvSpPr txBox="1"/>
          <p:nvPr/>
        </p:nvSpPr>
        <p:spPr>
          <a:xfrm>
            <a:off x="7748016" y="1384638"/>
            <a:ext cx="1298448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A43"/>
                </a:solidFill>
                <a:latin typeface="Arial"/>
              </a:defRPr>
            </a:pPr>
            <a:r>
              <a:t>Curvature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2F876616-90CC-A6C5-1507-242CF890B06F}"/>
              </a:ext>
            </a:extLst>
          </p:cNvPr>
          <p:cNvSpPr txBox="1"/>
          <p:nvPr/>
        </p:nvSpPr>
        <p:spPr>
          <a:xfrm>
            <a:off x="9055608" y="1384638"/>
            <a:ext cx="254203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40" b="0" i="0">
                <a:solidFill>
                  <a:srgbClr val="172B3A"/>
                </a:solidFill>
                <a:latin typeface="Arial"/>
              </a:defRPr>
            </a:pPr>
            <a:r>
              <a:t>κ hữu hạn; peak được ghi nhận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C8A20E14-3FF3-5C4A-3321-59E5C4231760}"/>
              </a:ext>
            </a:extLst>
          </p:cNvPr>
          <p:cNvSpPr txBox="1"/>
          <p:nvPr/>
        </p:nvSpPr>
        <p:spPr>
          <a:xfrm>
            <a:off x="7748016" y="2408766"/>
            <a:ext cx="1298448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A43"/>
                </a:solidFill>
                <a:latin typeface="Arial"/>
              </a:defRPr>
            </a:pPr>
            <a:r>
              <a:t>Dấu quay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461931C2-BBC6-6C7C-E310-D9A5348F7CBA}"/>
              </a:ext>
            </a:extLst>
          </p:cNvPr>
          <p:cNvSpPr txBox="1"/>
          <p:nvPr/>
        </p:nvSpPr>
        <p:spPr>
          <a:xfrm>
            <a:off x="9055608" y="2408766"/>
            <a:ext cx="254203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40" b="0" i="0">
                <a:solidFill>
                  <a:srgbClr val="172B3A"/>
                </a:solidFill>
                <a:latin typeface="Arial"/>
              </a:defRPr>
            </a:pPr>
            <a:r>
              <a:t>sign(κ) không ngược sign(θ)</a:t>
            </a:r>
          </a:p>
        </p:txBody>
      </p:sp>
    </p:spTree>
    <p:extLst>
      <p:ext uri="{BB962C8B-B14F-4D97-AF65-F5344CB8AC3E}">
        <p14:creationId xmlns:p14="http://schemas.microsoft.com/office/powerpoint/2010/main" val="911925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CB8D-A45D-5B1A-BE5B-BAF25CAA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028FA397-21FD-6241-A1E0-14B8441F898A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4315CC2A-7D85-1502-458B-F91448B8190D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pic>
        <p:nvPicPr>
          <p:cNvPr id="4" name="Picture 8" descr="image18.png">
            <a:extLst>
              <a:ext uri="{FF2B5EF4-FFF2-40B4-BE49-F238E27FC236}">
                <a16:creationId xmlns:a16="http://schemas.microsoft.com/office/drawing/2014/main" id="{1DB2E781-61DB-E7EE-748F-E15219BB9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5629"/>
            <a:ext cx="5413248" cy="3150244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6B8B2234-4D03-8E34-2999-45420354DFF9}"/>
              </a:ext>
            </a:extLst>
          </p:cNvPr>
          <p:cNvSpPr txBox="1"/>
          <p:nvPr/>
        </p:nvSpPr>
        <p:spPr>
          <a:xfrm>
            <a:off x="7150608" y="1773936"/>
            <a:ext cx="396849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02A43"/>
                </a:solidFill>
                <a:latin typeface="Arial"/>
              </a:defRPr>
            </a:pPr>
            <a:r>
              <a:t>vL = v(1 − bκ/2)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8EE63A-9497-CF30-51EE-38A4682CC682}"/>
              </a:ext>
            </a:extLst>
          </p:cNvPr>
          <p:cNvSpPr txBox="1"/>
          <p:nvPr/>
        </p:nvSpPr>
        <p:spPr>
          <a:xfrm>
            <a:off x="7150608" y="2322576"/>
            <a:ext cx="3968496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02A43"/>
                </a:solidFill>
                <a:latin typeface="Arial"/>
              </a:defRPr>
            </a:pPr>
            <a:r>
              <a:t>vR = v(1 + bκ/2)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7E4B851D-8D7D-62F7-8887-99DD302A3DF9}"/>
              </a:ext>
            </a:extLst>
          </p:cNvPr>
          <p:cNvSpPr txBox="1"/>
          <p:nvPr/>
        </p:nvSpPr>
        <p:spPr>
          <a:xfrm>
            <a:off x="6958584" y="3401568"/>
            <a:ext cx="11430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07A2F"/>
                </a:solidFill>
                <a:latin typeface="Arial"/>
              </a:defRPr>
            </a:pPr>
            <a:r>
              <a:t>Điều kiện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69AA6A32-D5D9-9882-6156-91B8DAF0282E}"/>
              </a:ext>
            </a:extLst>
          </p:cNvPr>
          <p:cNvSpPr txBox="1"/>
          <p:nvPr/>
        </p:nvSpPr>
        <p:spPr>
          <a:xfrm>
            <a:off x="8147304" y="3355848"/>
            <a:ext cx="25146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E07A2F"/>
                </a:solidFill>
                <a:latin typeface="Arial"/>
              </a:defRPr>
            </a:pPr>
            <a:r>
              <a:t>1 − |</a:t>
            </a:r>
            <a:r>
              <a:rPr err="1"/>
              <a:t>bκ</a:t>
            </a:r>
            <a:r>
              <a:t>|/2 ≥ 0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5DF6604A-7B31-FE35-2262-F635925F79E8}"/>
              </a:ext>
            </a:extLst>
          </p:cNvPr>
          <p:cNvSpPr txBox="1"/>
          <p:nvPr/>
        </p:nvSpPr>
        <p:spPr>
          <a:xfrm>
            <a:off x="6976872" y="4096512"/>
            <a:ext cx="3950208" cy="12435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7A75"/>
                </a:solidFill>
                <a:latin typeface="Arial"/>
              </a:rPr>
              <a:t>• </a:t>
            </a:r>
            <a:r>
              <a:rPr sz="1300" b="0">
                <a:solidFill>
                  <a:srgbClr val="172B3A"/>
                </a:solidFill>
                <a:latin typeface="Arial"/>
              </a:rPr>
              <a:t>b = 0,2548 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7A75"/>
                </a:solidFill>
                <a:latin typeface="Arial"/>
              </a:rPr>
              <a:t>• </a:t>
            </a:r>
            <a:r>
              <a:rPr sz="1300" b="0">
                <a:solidFill>
                  <a:srgbClr val="172B3A"/>
                </a:solidFill>
                <a:latin typeface="Arial"/>
              </a:rPr>
              <a:t>|vwheel| ≤ 0,36 m/s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7A75"/>
                </a:solidFill>
                <a:latin typeface="Arial"/>
              </a:rPr>
              <a:t>• </a:t>
            </a:r>
            <a:r>
              <a:rPr sz="1300" b="0">
                <a:solidFill>
                  <a:srgbClr val="172B3A"/>
                </a:solidFill>
                <a:latin typeface="Arial"/>
              </a:rPr>
              <a:t>|ω| ≤ 0,80 rad/s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4C327898-6FD5-03F4-0661-63BDE102D7A8}"/>
              </a:ext>
            </a:extLst>
          </p:cNvPr>
          <p:cNvSpPr txBox="1"/>
          <p:nvPr/>
        </p:nvSpPr>
        <p:spPr>
          <a:xfrm>
            <a:off x="633984" y="1696194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err="1"/>
              <a:t>Cổng</a:t>
            </a:r>
            <a:r>
              <a:t> </a:t>
            </a:r>
            <a:r>
              <a:rPr err="1"/>
              <a:t>động</a:t>
            </a:r>
            <a:r>
              <a:t> </a:t>
            </a:r>
            <a:r>
              <a:rPr err="1"/>
              <a:t>học</a:t>
            </a:r>
            <a:r>
              <a:t> robot vi </a:t>
            </a:r>
            <a:r>
              <a:rPr err="1"/>
              <a:t>sai</a:t>
            </a:r>
            <a:endParaRPr/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D84E773E-3C27-5BB1-27FA-399DEB32C008}"/>
              </a:ext>
            </a:extLst>
          </p:cNvPr>
          <p:cNvSpPr txBox="1"/>
          <p:nvPr/>
        </p:nvSpPr>
        <p:spPr>
          <a:xfrm>
            <a:off x="7077456" y="5522976"/>
            <a:ext cx="3867911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07A2F"/>
                </a:solidFill>
                <a:latin typeface="Arial"/>
              </a:defRPr>
            </a:pPr>
            <a:r>
              <a:rPr err="1"/>
              <a:t>Không</a:t>
            </a:r>
            <a:r>
              <a:t> </a:t>
            </a:r>
            <a:r>
              <a:rPr err="1"/>
              <a:t>đạt</a:t>
            </a:r>
            <a:r>
              <a:t> → </a:t>
            </a:r>
            <a:r>
              <a:rPr err="1"/>
              <a:t>giữ</a:t>
            </a:r>
            <a:r>
              <a:t> pivot state </a:t>
            </a:r>
            <a:r>
              <a:rPr err="1"/>
              <a:t>thay</a:t>
            </a:r>
            <a:r>
              <a:t> </a:t>
            </a:r>
            <a:r>
              <a:rPr err="1"/>
              <a:t>vì</a:t>
            </a:r>
            <a:r>
              <a:t> </a:t>
            </a:r>
            <a:r>
              <a:rPr err="1"/>
              <a:t>ép</a:t>
            </a:r>
            <a:r>
              <a:t> </a:t>
            </a:r>
            <a:r>
              <a:rPr err="1"/>
              <a:t>đường</a:t>
            </a:r>
            <a:r>
              <a:t> cong.</a:t>
            </a:r>
          </a:p>
        </p:txBody>
      </p:sp>
    </p:spTree>
    <p:extLst>
      <p:ext uri="{BB962C8B-B14F-4D97-AF65-F5344CB8AC3E}">
        <p14:creationId xmlns:p14="http://schemas.microsoft.com/office/powerpoint/2010/main" val="498000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E797-4F3B-6E8A-DDFE-6FFF8035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86A1F5FD-E88A-67B2-D4C0-8DAE6E444882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3AEBBB6-58B2-0BC1-EF95-98F967A1BF82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05345DA-9B9B-4AF1-BCA5-C210F49BD3B6}"/>
              </a:ext>
            </a:extLst>
          </p:cNvPr>
          <p:cNvSpPr txBox="1"/>
          <p:nvPr/>
        </p:nvSpPr>
        <p:spPr>
          <a:xfrm>
            <a:off x="566928" y="1640670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err="1"/>
              <a:t>Cổng</a:t>
            </a:r>
            <a:r>
              <a:t> an </a:t>
            </a:r>
            <a:r>
              <a:rPr err="1"/>
              <a:t>toàn</a:t>
            </a:r>
            <a:r>
              <a:t> footprint</a:t>
            </a:r>
          </a:p>
        </p:txBody>
      </p:sp>
      <p:pic>
        <p:nvPicPr>
          <p:cNvPr id="8" name="Picture 8" descr="image29.png">
            <a:extLst>
              <a:ext uri="{FF2B5EF4-FFF2-40B4-BE49-F238E27FC236}">
                <a16:creationId xmlns:a16="http://schemas.microsoft.com/office/drawing/2014/main" id="{61C242AB-9A5E-E69B-DA8D-3733D0A0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5" y="2287001"/>
            <a:ext cx="6665977" cy="3428552"/>
          </a:xfrm>
          <a:prstGeom prst="rect">
            <a:avLst/>
          </a:prstGeom>
        </p:spPr>
      </p:pic>
      <p:pic>
        <p:nvPicPr>
          <p:cNvPr id="11" name="Picture 10" descr="image30.png">
            <a:extLst>
              <a:ext uri="{FF2B5EF4-FFF2-40B4-BE49-F238E27FC236}">
                <a16:creationId xmlns:a16="http://schemas.microsoft.com/office/drawing/2014/main" id="{3E8DE46B-AF52-57F7-2E02-64DB57A77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935079"/>
            <a:ext cx="5196840" cy="2282251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5FFD36A8-11E6-9630-F4C5-A87F2D96C819}"/>
              </a:ext>
            </a:extLst>
          </p:cNvPr>
          <p:cNvSpPr txBox="1"/>
          <p:nvPr/>
        </p:nvSpPr>
        <p:spPr>
          <a:xfrm>
            <a:off x="7104888" y="5826963"/>
            <a:ext cx="4160520" cy="4185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1" i="0">
                <a:solidFill>
                  <a:srgbClr val="172B3A"/>
                </a:solidFill>
                <a:latin typeface="Arial"/>
              </a:defRPr>
            </a:pPr>
            <a:r>
              <a:rPr err="1"/>
              <a:t>Mỗi</a:t>
            </a:r>
            <a:r>
              <a:t> </a:t>
            </a:r>
            <a:r>
              <a:rPr err="1"/>
              <a:t>mẫu</a:t>
            </a:r>
            <a:r>
              <a:t>: pose footprint → </a:t>
            </a:r>
            <a:r>
              <a:rPr err="1"/>
              <a:t>costmap</a:t>
            </a:r>
            <a:br>
              <a:rPr/>
            </a:br>
            <a:r>
              <a:t>lethal / unknown / &gt;252 → reject</a:t>
            </a:r>
          </a:p>
        </p:txBody>
      </p:sp>
    </p:spTree>
    <p:extLst>
      <p:ext uri="{BB962C8B-B14F-4D97-AF65-F5344CB8AC3E}">
        <p14:creationId xmlns:p14="http://schemas.microsoft.com/office/powerpoint/2010/main" val="2019280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F87A1-D5C5-327A-9666-66C231C5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01449BAB-3AA2-CF4F-9A49-9A278034BCBC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DACD143-6A5E-9E2A-084F-99C68F7699ED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ABB4A3D-7E1F-396F-185A-C7174B9C514F}"/>
              </a:ext>
            </a:extLst>
          </p:cNvPr>
          <p:cNvSpPr txBox="1"/>
          <p:nvPr/>
        </p:nvSpPr>
        <p:spPr>
          <a:xfrm>
            <a:off x="566928" y="1640670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err="1"/>
              <a:t>Cổng</a:t>
            </a:r>
            <a:r>
              <a:t> an </a:t>
            </a:r>
            <a:r>
              <a:rPr err="1"/>
              <a:t>toàn</a:t>
            </a:r>
            <a:r>
              <a:t> footprint</a:t>
            </a:r>
          </a:p>
        </p:txBody>
      </p:sp>
      <p:pic>
        <p:nvPicPr>
          <p:cNvPr id="8" name="Picture 8" descr="image29.png">
            <a:extLst>
              <a:ext uri="{FF2B5EF4-FFF2-40B4-BE49-F238E27FC236}">
                <a16:creationId xmlns:a16="http://schemas.microsoft.com/office/drawing/2014/main" id="{7E4235B4-330A-ED24-13CF-8F224329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5" y="2287001"/>
            <a:ext cx="6665977" cy="3428552"/>
          </a:xfrm>
          <a:prstGeom prst="rect">
            <a:avLst/>
          </a:prstGeom>
        </p:spPr>
      </p:pic>
      <p:pic>
        <p:nvPicPr>
          <p:cNvPr id="11" name="Picture 10" descr="image30.png">
            <a:extLst>
              <a:ext uri="{FF2B5EF4-FFF2-40B4-BE49-F238E27FC236}">
                <a16:creationId xmlns:a16="http://schemas.microsoft.com/office/drawing/2014/main" id="{F2F13ECF-16A8-E0C9-B660-2FF4237CE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274" y="3143846"/>
            <a:ext cx="5196840" cy="2282251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3D21334F-BE5F-FCAD-DA38-9BA8A00893A7}"/>
              </a:ext>
            </a:extLst>
          </p:cNvPr>
          <p:cNvSpPr txBox="1"/>
          <p:nvPr/>
        </p:nvSpPr>
        <p:spPr>
          <a:xfrm>
            <a:off x="7104888" y="5826963"/>
            <a:ext cx="4160520" cy="4185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1" i="0">
                <a:solidFill>
                  <a:srgbClr val="172B3A"/>
                </a:solidFill>
                <a:latin typeface="Arial"/>
              </a:defRPr>
            </a:pPr>
            <a:r>
              <a:rPr err="1"/>
              <a:t>Mỗi</a:t>
            </a:r>
            <a:r>
              <a:t> </a:t>
            </a:r>
            <a:r>
              <a:rPr err="1"/>
              <a:t>mẫu</a:t>
            </a:r>
            <a:r>
              <a:t>: pose footprint → </a:t>
            </a:r>
            <a:r>
              <a:rPr err="1"/>
              <a:t>costmap</a:t>
            </a:r>
            <a:br>
              <a:rPr/>
            </a:br>
            <a:r>
              <a:t>lethal / unknown / &gt;252 → reject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2AA462D1-7F27-28EC-8F59-07AF7C5AD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829" y="156575"/>
            <a:ext cx="4796719" cy="280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12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B31D-E4B9-0D6F-50BD-B10D1E28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60F6E821-CC54-4FB4-025C-A3A9F86A99CF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4305810D-CFF2-9173-F0D0-560B7D246BD2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FF566C9-784D-40FD-3CD0-1CD0D414368E}"/>
              </a:ext>
            </a:extLst>
          </p:cNvPr>
          <p:cNvSpPr txBox="1"/>
          <p:nvPr/>
        </p:nvSpPr>
        <p:spPr>
          <a:xfrm>
            <a:off x="484632" y="1640670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dirty="0" err="1"/>
              <a:t>Tạo</a:t>
            </a:r>
            <a:r>
              <a:rPr dirty="0"/>
              <a:t> speed cap </a:t>
            </a:r>
            <a:r>
              <a:rPr dirty="0" err="1"/>
              <a:t>và</a:t>
            </a:r>
            <a:r>
              <a:rPr dirty="0"/>
              <a:t> profile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endParaRPr lang="en-US">
              <a:cs typeface="Arial"/>
            </a:endParaRPr>
          </a:p>
        </p:txBody>
      </p:sp>
      <p:pic>
        <p:nvPicPr>
          <p:cNvPr id="10" name="Picture 8" descr="figure_07_kinematic_time_gate.png">
            <a:extLst>
              <a:ext uri="{FF2B5EF4-FFF2-40B4-BE49-F238E27FC236}">
                <a16:creationId xmlns:a16="http://schemas.microsoft.com/office/drawing/2014/main" id="{8978B485-FD5B-F753-B027-9B417623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13" y="2117165"/>
            <a:ext cx="10010004" cy="33861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94EE36-C65F-B180-29F1-709502CD9150}"/>
              </a:ext>
            </a:extLst>
          </p:cNvPr>
          <p:cNvSpPr txBox="1"/>
          <p:nvPr/>
        </p:nvSpPr>
        <p:spPr>
          <a:xfrm>
            <a:off x="1063168" y="5509147"/>
            <a:ext cx="84639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: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cong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 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giảm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056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58279-3A42-9321-6DEB-CE3526209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E2E72AA1-2857-CA24-4727-0864FCA6EADF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8B92741-62D3-89CE-5D1C-0BF3455AAE37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29FFF-C3C8-8B58-328F-85438C1B4AE8}"/>
              </a:ext>
            </a:extLst>
          </p:cNvPr>
          <p:cNvSpPr txBox="1"/>
          <p:nvPr/>
        </p:nvSpPr>
        <p:spPr>
          <a:xfrm>
            <a:off x="566928" y="1633759"/>
            <a:ext cx="1069848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t>So </a:t>
            </a:r>
            <a:r>
              <a:rPr err="1"/>
              <a:t>sánh</a:t>
            </a:r>
            <a:r>
              <a:t> transition </a:t>
            </a:r>
            <a:r>
              <a:rPr err="1"/>
              <a:t>với</a:t>
            </a:r>
            <a:r>
              <a:t> pivot </a:t>
            </a:r>
            <a:r>
              <a:rPr err="1"/>
              <a:t>bằng</a:t>
            </a:r>
            <a:r>
              <a:t> time gate</a:t>
            </a:r>
          </a:p>
        </p:txBody>
      </p:sp>
      <p:pic>
        <p:nvPicPr>
          <p:cNvPr id="8" name="Picture 8" descr="image33.png">
            <a:extLst>
              <a:ext uri="{FF2B5EF4-FFF2-40B4-BE49-F238E27FC236}">
                <a16:creationId xmlns:a16="http://schemas.microsoft.com/office/drawing/2014/main" id="{809E01FE-6557-E7F0-E71D-954B4F47F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0" y="2609597"/>
            <a:ext cx="6381100" cy="2614644"/>
          </a:xfrm>
          <a:prstGeom prst="rect">
            <a:avLst/>
          </a:prstGeom>
        </p:spPr>
      </p:pic>
      <p:pic>
        <p:nvPicPr>
          <p:cNvPr id="11" name="Picture 12" descr="image34.png">
            <a:extLst>
              <a:ext uri="{FF2B5EF4-FFF2-40B4-BE49-F238E27FC236}">
                <a16:creationId xmlns:a16="http://schemas.microsoft.com/office/drawing/2014/main" id="{17232223-16AE-21A9-7802-B341252A7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59736"/>
            <a:ext cx="5546259" cy="2840767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5BBE892-25D7-2749-5C23-51CFB1190DD5}"/>
              </a:ext>
            </a:extLst>
          </p:cNvPr>
          <p:cNvSpPr txBox="1"/>
          <p:nvPr/>
        </p:nvSpPr>
        <p:spPr>
          <a:xfrm>
            <a:off x="6739128" y="5446807"/>
            <a:ext cx="43434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75D59"/>
                </a:solidFill>
                <a:latin typeface="Arial"/>
              </a:defRPr>
            </a:pPr>
            <a:r>
              <a:t>Tcurve + ΔT &lt; Tpivot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AB9363-2341-E3A7-EE52-3E972A614BF6}"/>
              </a:ext>
            </a:extLst>
          </p:cNvPr>
          <p:cNvSpPr txBox="1"/>
          <p:nvPr/>
        </p:nvSpPr>
        <p:spPr>
          <a:xfrm>
            <a:off x="7452360" y="6059455"/>
            <a:ext cx="2926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07A2F"/>
                </a:solidFill>
                <a:latin typeface="Arial"/>
              </a:defRPr>
            </a:pPr>
            <a:r>
              <a:t>ΔT = 0,15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B78AF3-1F5D-CE9D-6A9B-598C40BD34E7}"/>
              </a:ext>
            </a:extLst>
          </p:cNvPr>
          <p:cNvSpPr txBox="1"/>
          <p:nvPr/>
        </p:nvSpPr>
        <p:spPr>
          <a:xfrm>
            <a:off x="6858000" y="6416071"/>
            <a:ext cx="4224528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07A2F"/>
                </a:solidFill>
                <a:latin typeface="Arial"/>
              </a:defRPr>
            </a:pPr>
            <a:r>
              <a:rPr lang="en-US" err="1"/>
              <a:t>Nếu</a:t>
            </a:r>
            <a:r>
              <a:t> pivot </a:t>
            </a:r>
            <a:r>
              <a:rPr lang="en-US" err="1"/>
              <a:t>không</a:t>
            </a:r>
            <a:r>
              <a:t> an </a:t>
            </a:r>
            <a:r>
              <a:rPr lang="en-US" err="1"/>
              <a:t>toàn</a:t>
            </a:r>
            <a:r>
              <a:t>, transition </a:t>
            </a:r>
            <a:r>
              <a:rPr lang="en-US" err="1"/>
              <a:t>không</a:t>
            </a:r>
            <a:r>
              <a:t> </a:t>
            </a:r>
            <a:r>
              <a:rPr lang="en-US" err="1"/>
              <a:t>bị</a:t>
            </a:r>
            <a:r>
              <a:t> </a:t>
            </a:r>
            <a:r>
              <a:rPr lang="en-US" err="1"/>
              <a:t>khóa</a:t>
            </a:r>
            <a:r>
              <a:t> </a:t>
            </a:r>
            <a:r>
              <a:rPr lang="en-US" err="1"/>
              <a:t>bởi</a:t>
            </a:r>
            <a:r>
              <a:t> so </a:t>
            </a:r>
            <a:r>
              <a:rPr lang="en-US" err="1"/>
              <a:t>sánh</a:t>
            </a:r>
            <a:r>
              <a:t> </a:t>
            </a:r>
            <a:r>
              <a:rPr lang="en-US" err="1"/>
              <a:t>thời</a:t>
            </a:r>
            <a:r>
              <a:t> </a:t>
            </a:r>
            <a:r>
              <a:rPr lang="en-US" err="1"/>
              <a:t>gian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792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8370-424D-E2B9-AAA0-2409C9BA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E242DD86-C6D8-EABC-66FA-5FF90170B1B7}"/>
              </a:ext>
            </a:extLst>
          </p:cNvPr>
          <p:cNvSpPr txBox="1"/>
          <p:nvPr/>
        </p:nvSpPr>
        <p:spPr>
          <a:xfrm>
            <a:off x="594360" y="530352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5AA7AA3A-4F21-7611-4D23-1A47A5123473}"/>
              </a:ext>
            </a:extLst>
          </p:cNvPr>
          <p:cNvSpPr txBox="1"/>
          <p:nvPr/>
        </p:nvSpPr>
        <p:spPr>
          <a:xfrm>
            <a:off x="594360" y="1232083"/>
            <a:ext cx="532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Đánh giá tính khả thi của ứng viên</a:t>
            </a:r>
            <a:endParaRPr lang="vi-VN">
              <a:effectLst/>
            </a:endParaRPr>
          </a:p>
          <a:p>
            <a:endParaRPr lang="vi-VN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A6CE4D-C629-82BE-301B-6BD9D63D376D}"/>
              </a:ext>
            </a:extLst>
          </p:cNvPr>
          <p:cNvSpPr txBox="1"/>
          <p:nvPr/>
        </p:nvSpPr>
        <p:spPr>
          <a:xfrm>
            <a:off x="644104" y="1516394"/>
            <a:ext cx="10557296" cy="4678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err="1"/>
              <a:t>Hàm</a:t>
            </a:r>
            <a:r>
              <a:t> </a:t>
            </a:r>
            <a:r>
              <a:rPr err="1"/>
              <a:t>mục</a:t>
            </a:r>
            <a:r>
              <a:t> </a:t>
            </a:r>
            <a:r>
              <a:rPr err="1"/>
              <a:t>tiêu</a:t>
            </a:r>
            <a:r>
              <a:t> </a:t>
            </a:r>
            <a:r>
              <a:rPr err="1"/>
              <a:t>cục</a:t>
            </a:r>
            <a:r>
              <a:t> </a:t>
            </a:r>
            <a:r>
              <a:rPr err="1"/>
              <a:t>bộ</a:t>
            </a:r>
            <a:r>
              <a:t> </a:t>
            </a:r>
            <a:r>
              <a:rPr err="1"/>
              <a:t>xếp</a:t>
            </a:r>
            <a:r>
              <a:t> </a:t>
            </a:r>
            <a:r>
              <a:rPr err="1"/>
              <a:t>hạng</a:t>
            </a:r>
            <a:r>
              <a:t> </a:t>
            </a:r>
            <a:r>
              <a:rPr err="1"/>
              <a:t>ứng</a:t>
            </a:r>
            <a:r>
              <a:t> </a:t>
            </a:r>
            <a:r>
              <a:rPr err="1"/>
              <a:t>viên</a:t>
            </a:r>
            <a:endParaRPr/>
          </a:p>
        </p:txBody>
      </p:sp>
      <p:pic>
        <p:nvPicPr>
          <p:cNvPr id="9" name="Picture 8" descr="image35.png">
            <a:extLst>
              <a:ext uri="{FF2B5EF4-FFF2-40B4-BE49-F238E27FC236}">
                <a16:creationId xmlns:a16="http://schemas.microsoft.com/office/drawing/2014/main" id="{73253D1C-E4BC-D139-B2E2-8A4B6F0FA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00" y="2259415"/>
            <a:ext cx="7445635" cy="4015520"/>
          </a:xfrm>
          <a:prstGeom prst="rect">
            <a:avLst/>
          </a:prstGeom>
        </p:spPr>
      </p:pic>
      <p:sp>
        <p:nvSpPr>
          <p:cNvPr id="12" name="TextBox 13">
            <a:extLst>
              <a:ext uri="{FF2B5EF4-FFF2-40B4-BE49-F238E27FC236}">
                <a16:creationId xmlns:a16="http://schemas.microsoft.com/office/drawing/2014/main" id="{A80B7512-AE92-14FC-E220-B8399F3305DA}"/>
              </a:ext>
            </a:extLst>
          </p:cNvPr>
          <p:cNvSpPr txBox="1"/>
          <p:nvPr/>
        </p:nvSpPr>
        <p:spPr>
          <a:xfrm>
            <a:off x="8177657" y="4073044"/>
            <a:ext cx="902333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C84B4B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E4D2DE0B-65E3-22C2-7515-3808751A9DA3}"/>
              </a:ext>
            </a:extLst>
          </p:cNvPr>
          <p:cNvSpPr txBox="1"/>
          <p:nvPr/>
        </p:nvSpPr>
        <p:spPr>
          <a:xfrm>
            <a:off x="9148880" y="4073924"/>
            <a:ext cx="1732479" cy="2369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0" i="0">
                <a:solidFill>
                  <a:srgbClr val="172B3A"/>
                </a:solidFill>
                <a:latin typeface="Arial"/>
              </a:defRPr>
            </a:pPr>
            <a:r>
              <a:rPr dirty="0"/>
              <a:t>peak cost </a:t>
            </a:r>
            <a:r>
              <a:rPr dirty="0" err="1"/>
              <a:t>gần</a:t>
            </a:r>
            <a:r>
              <a:rPr dirty="0"/>
              <a:t>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cản</a:t>
            </a:r>
            <a:endParaRPr lang="en-US" dirty="0" err="1">
              <a:cs typeface="Arial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E74EB239-1340-126A-8045-30FEC8F9500D}"/>
              </a:ext>
            </a:extLst>
          </p:cNvPr>
          <p:cNvSpPr txBox="1"/>
          <p:nvPr/>
        </p:nvSpPr>
        <p:spPr>
          <a:xfrm>
            <a:off x="8177657" y="4786276"/>
            <a:ext cx="902333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6E5AE6"/>
                </a:solidFill>
                <a:latin typeface="Arial"/>
              </a:defRPr>
            </a:pPr>
            <a:r>
              <a:t>angular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71DECEB7-1F9A-B296-2A8A-BE478499DBC3}"/>
              </a:ext>
            </a:extLst>
          </p:cNvPr>
          <p:cNvSpPr txBox="1"/>
          <p:nvPr/>
        </p:nvSpPr>
        <p:spPr>
          <a:xfrm>
            <a:off x="9148880" y="4787156"/>
            <a:ext cx="1732479" cy="2369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0" i="0">
                <a:solidFill>
                  <a:srgbClr val="172B3A"/>
                </a:solidFill>
                <a:latin typeface="Arial"/>
              </a:defRPr>
            </a:pPr>
            <a:r>
              <a:rPr dirty="0"/>
              <a:t>max |ω| / </a:t>
            </a:r>
            <a:r>
              <a:rPr dirty="0" err="1"/>
              <a:t>ωmax</a:t>
            </a:r>
            <a:endParaRPr lang="en-US" dirty="0" err="1">
              <a:cs typeface="Arial"/>
            </a:endParaRP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849AE991-1E11-36A9-1209-D19C8A0D8E33}"/>
              </a:ext>
            </a:extLst>
          </p:cNvPr>
          <p:cNvSpPr txBox="1"/>
          <p:nvPr/>
        </p:nvSpPr>
        <p:spPr>
          <a:xfrm>
            <a:off x="8177657" y="5499508"/>
            <a:ext cx="902333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8B57"/>
                </a:solidFill>
                <a:latin typeface="Arial"/>
              </a:defRPr>
            </a:pPr>
            <a:r>
              <a:rPr err="1"/>
              <a:t>Eκ</a:t>
            </a:r>
            <a:endParaRPr/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73CF1389-B42B-64EC-1540-E34629D6581A}"/>
              </a:ext>
            </a:extLst>
          </p:cNvPr>
          <p:cNvSpPr txBox="1"/>
          <p:nvPr/>
        </p:nvSpPr>
        <p:spPr>
          <a:xfrm>
            <a:off x="9148880" y="5500388"/>
            <a:ext cx="1732479" cy="6001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0" i="0">
                <a:solidFill>
                  <a:srgbClr val="172B3A"/>
                </a:solidFill>
                <a:latin typeface="Arial"/>
              </a:defRPr>
            </a:pPr>
            <a:r>
              <a:rPr lang="vi-VN"/>
              <a:t>Tích phân bình phương độ cong -&gt; độ mượt hình học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37797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F74B-D25E-3D94-F9F0-0A0DA6D1D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948FF9D6-2762-489A-CF99-9D6AC1B933D1}"/>
              </a:ext>
            </a:extLst>
          </p:cNvPr>
          <p:cNvSpPr txBox="1"/>
          <p:nvPr/>
        </p:nvSpPr>
        <p:spPr>
          <a:xfrm>
            <a:off x="531730" y="352900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EFD044A1-8639-08E2-4DD2-92A106360C8B}"/>
              </a:ext>
            </a:extLst>
          </p:cNvPr>
          <p:cNvSpPr txBox="1"/>
          <p:nvPr/>
        </p:nvSpPr>
        <p:spPr>
          <a:xfrm>
            <a:off x="531730" y="824987"/>
            <a:ext cx="75243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/>
              <a:t>7. Lựa chọn chuỗi chuyển tiếp bằng quy hoạch động</a:t>
            </a:r>
            <a:endParaRPr lang="vi-VN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6F40E-DF06-156C-FDF2-AEDF23921A54}"/>
              </a:ext>
            </a:extLst>
          </p:cNvPr>
          <p:cNvSpPr txBox="1"/>
          <p:nvPr/>
        </p:nvSpPr>
        <p:spPr>
          <a:xfrm>
            <a:off x="533780" y="1189756"/>
            <a:ext cx="111878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Aptos"/>
                <a:ea typeface="Calibri"/>
                <a:cs typeface="Calibri"/>
              </a:rPr>
              <a:t>Tối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ưu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cục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bộ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từng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góc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có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thể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tạo</a:t>
            </a:r>
            <a:r>
              <a:rPr lang="en-US">
                <a:latin typeface="Aptos"/>
                <a:ea typeface="Calibri"/>
                <a:cs typeface="Calibri"/>
              </a:rPr>
              <a:t> trim </a:t>
            </a:r>
            <a:r>
              <a:rPr lang="en-US" err="1">
                <a:latin typeface="Aptos"/>
                <a:ea typeface="Calibri"/>
                <a:cs typeface="Calibri"/>
              </a:rPr>
              <a:t>chồng</a:t>
            </a:r>
            <a:r>
              <a:rPr lang="en-US">
                <a:latin typeface="Aptos"/>
                <a:ea typeface="Calibri"/>
                <a:cs typeface="Calibri"/>
              </a:rPr>
              <a:t> </a:t>
            </a:r>
            <a:r>
              <a:rPr lang="en-US" err="1">
                <a:latin typeface="Aptos"/>
                <a:ea typeface="Calibri"/>
                <a:cs typeface="Calibri"/>
              </a:rPr>
              <a:t>lấn</a:t>
            </a:r>
            <a:r>
              <a:rPr lang="en-US">
                <a:latin typeface="Aptos"/>
                <a:ea typeface="Calibri"/>
                <a:cs typeface="Calibri"/>
              </a:rPr>
              <a:t>;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>
                <a:ea typeface="+mn-lt"/>
                <a:cs typeface="+mn-lt"/>
              </a:rPr>
              <a:t> DP </a:t>
            </a:r>
            <a:r>
              <a:rPr lang="en-US" err="1">
                <a:ea typeface="+mn-lt"/>
                <a:cs typeface="+mn-lt"/>
              </a:rPr>
              <a:t>chọn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chuỗi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ứng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viên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không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chồng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lấn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trên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toàn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đường</a:t>
            </a:r>
            <a:r>
              <a:rPr lang="en-US">
                <a:ea typeface="+mn-lt"/>
                <a:cs typeface="+mn-lt"/>
              </a:rPr>
              <a:t> , </a:t>
            </a:r>
            <a:r>
              <a:rPr lang="en-US" err="1">
                <a:ea typeface="+mn-lt"/>
                <a:cs typeface="+mn-lt"/>
              </a:rPr>
              <a:t>giải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quyết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tương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thích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cục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bộ</a:t>
            </a:r>
            <a:r>
              <a:rPr lang="en-US">
                <a:ea typeface="+mn-lt"/>
                <a:cs typeface="+mn-lt"/>
              </a:rPr>
              <a:t> .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562EC8-7CB2-6235-6A40-C197724B7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90" y="1835433"/>
            <a:ext cx="9864248" cy="43353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1366D9-A7B8-7D79-6102-07AA2B91E793}"/>
              </a:ext>
            </a:extLst>
          </p:cNvPr>
          <p:cNvSpPr txBox="1"/>
          <p:nvPr/>
        </p:nvSpPr>
        <p:spPr>
          <a:xfrm>
            <a:off x="536523" y="6168525"/>
            <a:ext cx="11407033" cy="65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Một</a:t>
            </a:r>
            <a:r>
              <a:rPr lang="en-US">
                <a:ea typeface="+mn-lt"/>
                <a:cs typeface="+mn-lt"/>
              </a:rPr>
              <a:t> ứng viên tốt </a:t>
            </a:r>
            <a:r>
              <a:rPr lang="en-US" err="1">
                <a:ea typeface="+mn-lt"/>
                <a:cs typeface="+mn-lt"/>
              </a:rPr>
              <a:t>tại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từng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góc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chưa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chắc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tạo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thành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một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đường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tốt</a:t>
            </a:r>
            <a:r>
              <a:rPr lang="en-US">
                <a:ea typeface="+mn-lt"/>
                <a:cs typeface="+mn-lt"/>
              </a:rPr>
              <a:t>; </a:t>
            </a:r>
            <a:r>
              <a:rPr lang="en-US" err="1">
                <a:ea typeface="+mn-lt"/>
                <a:cs typeface="+mn-lt"/>
              </a:rPr>
              <a:t>hai</a:t>
            </a:r>
            <a:r>
              <a:rPr lang="en-US">
                <a:ea typeface="+mn-lt"/>
                <a:cs typeface="+mn-lt"/>
              </a:rPr>
              <a:t> transition </a:t>
            </a:r>
            <a:r>
              <a:rPr lang="en-US" err="1">
                <a:ea typeface="+mn-lt"/>
                <a:cs typeface="+mn-lt"/>
              </a:rPr>
              <a:t>tốt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riêng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lẻ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vẫn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có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chồng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lên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cùng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một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đoạn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thẳng</a:t>
            </a:r>
            <a:r>
              <a:rPr lang="en-US">
                <a:ea typeface="+mn-lt"/>
                <a:cs typeface="+mn-lt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DE79BB-1B73-3C54-EADF-2B673267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79" y="5651686"/>
            <a:ext cx="1315571" cy="50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14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30FEA-E0B3-73C1-A8DB-9FE7A09F1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A66197C8-3920-2530-0352-F62839C93145}"/>
              </a:ext>
            </a:extLst>
          </p:cNvPr>
          <p:cNvSpPr txBox="1"/>
          <p:nvPr/>
        </p:nvSpPr>
        <p:spPr>
          <a:xfrm>
            <a:off x="531730" y="352900"/>
            <a:ext cx="6475743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defRPr sz="2700" b="1" i="0">
                <a:solidFill>
                  <a:srgbClr val="102A43"/>
                </a:solidFill>
                <a:latin typeface="Arial"/>
              </a:defRPr>
            </a:pPr>
            <a:r>
              <a:rPr lang="vi-VN"/>
              <a:t>II. Phương pháp PSTMO</a:t>
            </a:r>
            <a:endParaRPr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6A2D286-868A-1218-1A88-8266609C764A}"/>
              </a:ext>
            </a:extLst>
          </p:cNvPr>
          <p:cNvSpPr txBox="1"/>
          <p:nvPr/>
        </p:nvSpPr>
        <p:spPr>
          <a:xfrm>
            <a:off x="531730" y="939809"/>
            <a:ext cx="75243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>
                <a:latin typeface="Arial"/>
                <a:cs typeface="Arial"/>
              </a:rPr>
              <a:t>8. </a:t>
            </a:r>
            <a:r>
              <a:rPr lang="vi-VN">
                <a:ea typeface="+mn-lt"/>
                <a:cs typeface="+mn-lt"/>
              </a:rPr>
              <a:t>Tạo đường đi cuối cùng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5D136-11B7-1C8E-7FA7-D385453950DA}"/>
              </a:ext>
            </a:extLst>
          </p:cNvPr>
          <p:cNvSpPr txBox="1"/>
          <p:nvPr/>
        </p:nvSpPr>
        <p:spPr>
          <a:xfrm>
            <a:off x="527901" y="1303082"/>
            <a:ext cx="100396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Path </a:t>
            </a:r>
            <a:r>
              <a:rPr lang="en-US" err="1">
                <a:ea typeface="+mn-lt"/>
                <a:cs typeface="+mn-lt"/>
              </a:rPr>
              <a:t>chỉ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được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trả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về</a:t>
            </a:r>
            <a:r>
              <a:rPr lang="en-US">
                <a:ea typeface="+mn-lt"/>
                <a:cs typeface="+mn-lt"/>
              </a:rPr>
              <a:t> Nav2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khi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ghép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và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xác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nhận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lại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các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điều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kiện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hình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học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động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học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và</a:t>
            </a:r>
            <a:r>
              <a:rPr lang="en-US">
                <a:ea typeface="+mn-lt"/>
                <a:cs typeface="+mn-lt"/>
              </a:rPr>
              <a:t> an </a:t>
            </a:r>
            <a:r>
              <a:rPr lang="en-US" err="1">
                <a:ea typeface="+mn-lt"/>
                <a:cs typeface="+mn-lt"/>
              </a:rPr>
              <a:t>toàn</a:t>
            </a:r>
            <a:endParaRPr lang="en-US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06ACA-7D15-9B2D-36AB-BBAB90D08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50" y="1714108"/>
            <a:ext cx="7252831" cy="49433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FCF7AB-71CB-54F5-634B-FEDBB0223650}"/>
              </a:ext>
            </a:extLst>
          </p:cNvPr>
          <p:cNvSpPr txBox="1"/>
          <p:nvPr/>
        </p:nvSpPr>
        <p:spPr>
          <a:xfrm>
            <a:off x="8515548" y="2017877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Điều</a:t>
            </a:r>
            <a:r>
              <a:rPr lang="en-US" b="1"/>
              <a:t> </a:t>
            </a:r>
            <a:r>
              <a:rPr lang="en-US" b="1" err="1"/>
              <a:t>kiện</a:t>
            </a:r>
            <a:r>
              <a:rPr lang="en-US" b="1"/>
              <a:t> </a:t>
            </a:r>
            <a:r>
              <a:rPr lang="en-US" b="1" err="1"/>
              <a:t>kiểm</a:t>
            </a:r>
            <a:r>
              <a:rPr lang="en-US" b="1"/>
              <a:t> </a:t>
            </a:r>
            <a:r>
              <a:rPr lang="en-US" b="1" err="1"/>
              <a:t>tra</a:t>
            </a:r>
            <a:r>
              <a:rPr lang="en-US" b="1"/>
              <a:t> </a:t>
            </a:r>
            <a:r>
              <a:rPr lang="en-US" b="1" err="1"/>
              <a:t>cuối</a:t>
            </a:r>
            <a:r>
              <a:rPr lang="en-US" b="1"/>
              <a:t> 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0CEE27-BB71-C668-E305-E322AE1B6D81}"/>
              </a:ext>
            </a:extLst>
          </p:cNvPr>
          <p:cNvSpPr txBox="1"/>
          <p:nvPr/>
        </p:nvSpPr>
        <p:spPr>
          <a:xfrm>
            <a:off x="8511914" y="2417704"/>
            <a:ext cx="33695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err="1">
                <a:ea typeface="+mn-lt"/>
                <a:cs typeface="+mn-lt"/>
              </a:rPr>
              <a:t>Giữ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nguyên</a:t>
            </a:r>
            <a:r>
              <a:rPr lang="en-US">
                <a:ea typeface="+mn-lt"/>
                <a:cs typeface="+mn-lt"/>
              </a:rPr>
              <a:t> start </a:t>
            </a:r>
            <a:r>
              <a:rPr lang="en-US" err="1">
                <a:ea typeface="+mn-lt"/>
                <a:cs typeface="+mn-lt"/>
              </a:rPr>
              <a:t>và</a:t>
            </a:r>
            <a:r>
              <a:rPr lang="en-US">
                <a:ea typeface="+mn-lt"/>
                <a:cs typeface="+mn-lt"/>
              </a:rPr>
              <a:t> goal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>
                <a:ea typeface="+mn-lt"/>
                <a:cs typeface="+mn-lt"/>
              </a:rPr>
              <a:t>Vị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nối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liên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tục</a:t>
            </a:r>
            <a:r>
              <a:rPr lang="en-US">
                <a:ea typeface="+mn-lt"/>
                <a:cs typeface="+mn-lt"/>
              </a:rPr>
              <a:t>; yaw </a:t>
            </a:r>
            <a:r>
              <a:rPr lang="en-US" err="1">
                <a:ea typeface="+mn-lt"/>
                <a:cs typeface="+mn-lt"/>
              </a:rPr>
              <a:t>theo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tiếp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tuyến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hoặc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trạng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thái</a:t>
            </a:r>
            <a:r>
              <a:rPr lang="en-US">
                <a:ea typeface="+mn-lt"/>
                <a:cs typeface="+mn-lt"/>
              </a:rPr>
              <a:t> Pivot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Pivot </a:t>
            </a:r>
            <a:r>
              <a:rPr lang="en-US" err="1">
                <a:ea typeface="+mn-lt"/>
                <a:cs typeface="+mn-lt"/>
              </a:rPr>
              <a:t>giữ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hai</a:t>
            </a:r>
            <a:r>
              <a:rPr lang="en-US">
                <a:ea typeface="+mn-lt"/>
                <a:cs typeface="+mn-lt"/>
              </a:rPr>
              <a:t> pose </a:t>
            </a:r>
            <a:r>
              <a:rPr lang="en-US" err="1">
                <a:ea typeface="+mn-lt"/>
                <a:cs typeface="+mn-lt"/>
              </a:rPr>
              <a:t>cùng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nhưng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khác</a:t>
            </a:r>
            <a:r>
              <a:rPr lang="en-US">
                <a:ea typeface="+mn-lt"/>
                <a:cs typeface="+mn-lt"/>
              </a:rPr>
              <a:t> yaw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Khoảng </a:t>
            </a:r>
            <a:r>
              <a:rPr lang="en-US" err="1">
                <a:ea typeface="+mn-lt"/>
                <a:cs typeface="+mn-lt"/>
              </a:rPr>
              <a:t>lấy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mẫu</a:t>
            </a:r>
            <a:r>
              <a:rPr lang="en-US">
                <a:ea typeface="+mn-lt"/>
                <a:cs typeface="+mn-lt"/>
              </a:rPr>
              <a:t> 0,05 m </a:t>
            </a:r>
            <a:r>
              <a:rPr lang="en-US" err="1">
                <a:ea typeface="+mn-lt"/>
                <a:cs typeface="+mn-lt"/>
              </a:rPr>
              <a:t>trên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các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đoạn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tịnh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tiến</a:t>
            </a:r>
            <a:endParaRPr lang="en-US" err="1"/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Các </a:t>
            </a:r>
            <a:r>
              <a:rPr lang="en-US" err="1">
                <a:ea typeface="+mn-lt"/>
                <a:cs typeface="+mn-lt"/>
              </a:rPr>
              <a:t>vùng</a:t>
            </a:r>
            <a:r>
              <a:rPr lang="en-US">
                <a:ea typeface="+mn-lt"/>
                <a:cs typeface="+mn-lt"/>
              </a:rPr>
              <a:t> trim </a:t>
            </a:r>
            <a:r>
              <a:rPr lang="en-US" err="1">
                <a:ea typeface="+mn-lt"/>
                <a:cs typeface="+mn-lt"/>
              </a:rPr>
              <a:t>không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chồng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lấn</a:t>
            </a:r>
            <a:endParaRPr lang="en-US" err="1"/>
          </a:p>
          <a:p>
            <a:pPr marL="285750" indent="-285750">
              <a:buFont typeface="Calibri"/>
              <a:buChar char="-"/>
            </a:pPr>
            <a:r>
              <a:rPr lang="en-US" err="1">
                <a:ea typeface="+mn-lt"/>
                <a:cs typeface="+mn-lt"/>
              </a:rPr>
              <a:t>Mọi</a:t>
            </a:r>
            <a:r>
              <a:rPr lang="en-US">
                <a:ea typeface="+mn-lt"/>
                <a:cs typeface="+mn-lt"/>
              </a:rPr>
              <a:t> Transition </a:t>
            </a:r>
            <a:r>
              <a:rPr lang="en-US" err="1">
                <a:ea typeface="+mn-lt"/>
                <a:cs typeface="+mn-lt"/>
              </a:rPr>
              <a:t>vẫn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đạt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cổng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thời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gian</a:t>
            </a:r>
            <a:endParaRPr lang="en-US" err="1"/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Swept-footprint an </a:t>
            </a:r>
            <a:r>
              <a:rPr lang="en-US" err="1">
                <a:ea typeface="+mn-lt"/>
                <a:cs typeface="+mn-lt"/>
              </a:rPr>
              <a:t>toàn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trên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toàn</a:t>
            </a:r>
            <a:r>
              <a:rPr lang="en-US">
                <a:ea typeface="+mn-lt"/>
                <a:cs typeface="+mn-lt"/>
              </a:rPr>
              <a:t> path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67418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57efac-17f8-4f20-be32-b7e833e3d62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C220A8999F86104FB9EBB0E297B501C0" ma:contentTypeVersion="11" ma:contentTypeDescription="Tạo tài liệu mới." ma:contentTypeScope="" ma:versionID="36329f2c2de3cc9b43eab4ae8fa4c844">
  <xsd:schema xmlns:xsd="http://www.w3.org/2001/XMLSchema" xmlns:xs="http://www.w3.org/2001/XMLSchema" xmlns:p="http://schemas.microsoft.com/office/2006/metadata/properties" xmlns:ns3="bb57efac-17f8-4f20-be32-b7e833e3d620" targetNamespace="http://schemas.microsoft.com/office/2006/metadata/properties" ma:root="true" ma:fieldsID="cd9f271ffbc8132d3fdd74bc0c965fea" ns3:_="">
    <xsd:import namespace="bb57efac-17f8-4f20-be32-b7e833e3d62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57efac-17f8-4f20-be32-b7e833e3d62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D1534-5FB4-4390-ADEC-34E502E80DF2}">
  <ds:schemaRefs>
    <ds:schemaRef ds:uri="bb57efac-17f8-4f20-be32-b7e833e3d6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06843DD-9AC7-4627-A5D9-21A32BBDC1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CBB48D-E6BD-4689-9F4D-D74A47A3C4BB}">
  <ds:schemaRefs>
    <ds:schemaRef ds:uri="bb57efac-17f8-4f20-be32-b7e833e3d6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Chủ đề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TIẾN CƯƠNG</dc:creator>
  <cp:revision>83</cp:revision>
  <dcterms:created xsi:type="dcterms:W3CDTF">2026-08-11T20:04:13Z</dcterms:created>
  <dcterms:modified xsi:type="dcterms:W3CDTF">2026-08-18T17:42:12Z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0x010100C220A8999F86104FB9EBB0E297B501C0</vt:lpwstr>
  </property>
</Properties>
</file>