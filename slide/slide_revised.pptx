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obot_gazebo_warehouse_hero.png"/>
          <p:cNvPicPr>
            <a:picLocks noChangeAspect="1"/>
          </p:cNvPicPr>
          <p:nvPr/>
        </p:nvPicPr>
        <p:blipFill>
          <a:blip r:embed="rId2"/>
          <a:srcRect l="28539" r="28539"/>
          <a:stretch>
            <a:fillRect/>
          </a:stretch>
        </p:blipFill>
        <p:spPr>
          <a:xfrm>
            <a:off x="6967728" y="0"/>
            <a:ext cx="5230368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37960" y="0"/>
            <a:ext cx="914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30632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576072"/>
            <a:ext cx="29900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D6FB8"/>
                </a:solidFill>
                <a:latin typeface="Noto Sans"/>
              </a:rPr>
              <a:t>ROS 2 NAVIGATION2 · ROBOT VI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61872"/>
            <a:ext cx="54406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02A43"/>
                </a:solidFill>
                <a:latin typeface="Noto Sans"/>
              </a:rPr>
              <a:t>PSTMO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93392"/>
            <a:ext cx="57150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7212B"/>
                </a:solidFill>
                <a:latin typeface="Noto Sans"/>
              </a:rPr>
              <a:t>Làm mượt đường đi và tối ưu hóa</a:t>
            </a:r>
            <a:br/>
            <a:r>
              <a:rPr sz="2700" b="1" i="0">
                <a:solidFill>
                  <a:srgbClr val="17212B"/>
                </a:solidFill>
                <a:latin typeface="Noto Sans"/>
              </a:rPr>
              <a:t>thao tác chuyển hướng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5440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0F766E"/>
                </a:solidFill>
                <a:latin typeface="Noto Sans"/>
              </a:rPr>
              <a:t>Path smoothing and turning-maneuver optimization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4151376"/>
            <a:ext cx="4727448" cy="0"/>
          </a:xfrm>
          <a:prstGeom prst="line">
            <a:avLst/>
          </a:prstGeom>
          <a:ln w="1524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4407408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NGUYỄN TIẾN CƯƠNG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55464"/>
            <a:ext cx="5440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Bằng chứng: mô phỏng Gazebo Harmonic · trực quan RViz2 · 175 lượt thực thi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6428232"/>
            <a:ext cx="42245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1">
                <a:solidFill>
                  <a:srgbClr val="FFFFFF"/>
                </a:solidFill>
                <a:latin typeface="Noto Sans"/>
              </a:rPr>
              <a:t>Ảnh bìa: minh họa 3D từ mô hình STL/SDF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Câu hỏi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Từ đường đi tồn tại trên bản đồ tới chuyển động có thể thực thi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MỞ ĐẦU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17320"/>
            <a:ext cx="107442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>
                <a:solidFill>
                  <a:srgbClr val="102A43"/>
                </a:solidFill>
                <a:latin typeface="Noto Sans"/>
              </a:rPr>
              <a:t>Làm thế nào thay các góc gãy của đường do bộ lập kế hoạch tạo bằng thao tác chuyển hướng…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95728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395728"/>
            <a:ext cx="73152" cy="205740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176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102A43"/>
                </a:solidFill>
                <a:latin typeface="Noto Sans"/>
              </a:rPr>
              <a:t>MƯỢT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26080"/>
            <a:ext cx="21762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Tiếp tuyến và độ cong không nhảy tại điểm nối.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395728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2395728"/>
            <a:ext cx="73152" cy="2057400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532888"/>
            <a:ext cx="2176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102A43"/>
                </a:solidFill>
                <a:latin typeface="Noto Sans"/>
              </a:rPr>
              <a:t>KHẢ THI ĐỘNG HỌC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926080"/>
            <a:ext cx="21762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Không vượt giới hạn thân xe, bánh xe và gia tốc.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395728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2395728"/>
            <a:ext cx="73152" cy="2057400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532888"/>
            <a:ext cx="2176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102A43"/>
                </a:solidFill>
                <a:latin typeface="Noto Sans"/>
              </a:rPr>
              <a:t>AN TOÀN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926080"/>
            <a:ext cx="21762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Toàn bộ hình bao robot không quét vào vật cản.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1" y="2395728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1" y="2395728"/>
            <a:ext cx="73152" cy="20574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7" y="2532888"/>
            <a:ext cx="2176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102A43"/>
                </a:solidFill>
                <a:latin typeface="Noto Sans"/>
              </a:rPr>
              <a:t>CÓ LỢI VỀ THỜI GIAN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7" y="2926080"/>
            <a:ext cx="21762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Chỉ bo góc khi nhanh hơn quay tại chỗ.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47088" y="4956048"/>
            <a:ext cx="8503920" cy="658368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6816" y="5001768"/>
            <a:ext cx="828446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F766E"/>
                </a:solidFill>
                <a:latin typeface="Noto Sans"/>
              </a:rPr>
              <a:t>Đầu vào: nav_msgs/Path thô  →  Đầu ra: nav_msgs/Path đã xử lý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5843016"/>
            <a:ext cx="9601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5B6876"/>
                </a:solidFill>
                <a:latin typeface="Noto Sans"/>
              </a:rPr>
              <a:t>PSTMO tối ưu đường hình học; bộ điều khiển bám đường vẫn là khối phát lệnh vận tốc v, ω.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Đóng góp và phạm vi khẳng định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MỞ ĐẦU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99032"/>
            <a:ext cx="475488" cy="475488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990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353312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Đoạn chuyển tiếp Bézier bậc năm G²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737360"/>
            <a:ext cx="4526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Nối đoạn thẳng–đường cong với κ=0 tại hai đầu.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514600"/>
            <a:ext cx="475488" cy="47548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2468880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Chọn trạng thái theo nhiều điều kiện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852928"/>
            <a:ext cx="4526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Hình học → động học → vùng quét hình bao → thời gian.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30168"/>
            <a:ext cx="475488" cy="475488"/>
          </a:xfrm>
          <a:prstGeom prst="ellipse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3584448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Tối ưu toàn đường bằng quy hoạch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3968496"/>
            <a:ext cx="4526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Ngăn các vùng bo góc kề nhau chồng lấn.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745736"/>
            <a:ext cx="475488" cy="475488"/>
          </a:xfrm>
          <a:prstGeom prst="ellipse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457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4700016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Kiểm chứng trên đúng hệ thống mô phỏng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5084064"/>
            <a:ext cx="4526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7 môi trường × 5 bộ lập kế hoạch × 5 phương án.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353312"/>
            <a:ext cx="4709160" cy="4526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7416" y="1609344"/>
            <a:ext cx="4087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PSTMO chứng minh điều gì?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148840"/>
            <a:ext cx="3968496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Đường đầu ra đạt các điều kiện hình học, động học và hình bao robot trên bản đồ chi phí dùng khi làm mượt.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Chỉ số hình học và thời gian mô phỏng được đo trên dữ liệu ghép cặp.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Không đồng nghĩa với bảo đảm tuyệt đối trên robot thật hoặc trước vật cản động.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937760"/>
            <a:ext cx="2962656" cy="292608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1775" y="4946904"/>
            <a:ext cx="28895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E8871E"/>
                </a:solidFill>
                <a:latin typeface="Noto Sans"/>
              </a:rPr>
              <a:t>KẾT LUẬN CÓ ĐIỀU KIỆN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Mạch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Mỗi phần trả lời một câu hỏi cụ thể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MỞ ĐẦU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561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1024128" cy="109728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1024128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FFFFFF"/>
                </a:solidFill>
                <a:latin typeface="Noto Sans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72768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HỆ THỐNG &amp; BÀI TOÁN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1572768"/>
            <a:ext cx="5577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5B6876"/>
                </a:solidFill>
                <a:latin typeface="Noto Sans"/>
              </a:rPr>
              <a:t>PSTMO nằm ở đâu trong Nav2? Vì sao góc gãy khó chạy?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98648"/>
            <a:ext cx="10561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98648"/>
            <a:ext cx="1024128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98648"/>
            <a:ext cx="1024128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FFFFFF"/>
                </a:solidFill>
                <a:latin typeface="Noto Sans"/>
              </a:rPr>
              <a:t>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54096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PHƯƠNG PHÁP PSTMO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054096"/>
            <a:ext cx="5577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5B6876"/>
                </a:solidFill>
                <a:latin typeface="Noto Sans"/>
              </a:rPr>
              <a:t>Đường cong được sinh, kiểm tra và chọn như thế nào?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79976"/>
            <a:ext cx="10561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79976"/>
            <a:ext cx="1024128" cy="1097280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79976"/>
            <a:ext cx="1024128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FFFFFF"/>
                </a:solidFill>
                <a:latin typeface="Noto Sans"/>
              </a:rPr>
              <a:t>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53542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THỰC NGHIỆM &amp; KẾT QUẢ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4535424"/>
            <a:ext cx="5577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5B6876"/>
                </a:solidFill>
                <a:latin typeface="Noto Sans"/>
              </a:rPr>
              <a:t>Mô hình gồm gì, thử ra sao và kết quả nói lên điều gì?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Nav2 biến bản đồ thành chuyển động như thế nào?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93392"/>
            <a:ext cx="1481328" cy="786384"/>
          </a:xfrm>
          <a:prstGeom prst="round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2020824"/>
            <a:ext cx="13716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Bản đồ + cảm biến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Map + sensors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39112" y="2386584"/>
            <a:ext cx="329184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993392"/>
            <a:ext cx="1371600" cy="786384"/>
          </a:xfrm>
          <a:prstGeom prst="round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8024" y="2020824"/>
            <a:ext cx="126187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Định vị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Localization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9624" y="2386584"/>
            <a:ext cx="338328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42816" y="1993392"/>
            <a:ext cx="1481328" cy="786384"/>
          </a:xfrm>
          <a:prstGeom prst="round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020824"/>
            <a:ext cx="13716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Lập kế hoạch toàn cục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Global planner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79007" y="2386584"/>
            <a:ext cx="320041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53912" y="1993392"/>
            <a:ext cx="1481328" cy="7863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2020824"/>
            <a:ext cx="13716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Làm mượt đường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Path smoother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90104" y="2386584"/>
            <a:ext cx="320040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65008" y="1993392"/>
            <a:ext cx="1719072" cy="786384"/>
          </a:xfrm>
          <a:prstGeom prst="round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020824"/>
            <a:ext cx="1609343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Điều khiển bám đường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Path-following controller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38944" y="2386584"/>
            <a:ext cx="347471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1280" y="1993392"/>
            <a:ext cx="1188720" cy="786384"/>
          </a:xfrm>
          <a:prstGeom prst="round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6144" y="2020824"/>
            <a:ext cx="107899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Robot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37560"/>
            <a:ext cx="335584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37560"/>
            <a:ext cx="73152" cy="146304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474720"/>
            <a:ext cx="29900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Bộ lập kế hoạch (planner)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867911"/>
            <a:ext cx="299008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Trả lời: đi qua đâu?</a:t>
            </a:r>
            <a:br/>
            <a:r>
              <a:rPr sz="1250" b="0" i="0">
                <a:solidFill>
                  <a:srgbClr val="5B6876"/>
                </a:solidFill>
                <a:latin typeface="Noto Sans"/>
              </a:rPr>
              <a:t>Đầu ra: chuỗi tư thế nav_msgs/Path.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8" y="3337560"/>
            <a:ext cx="335584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3337560"/>
            <a:ext cx="73152" cy="1463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474720"/>
            <a:ext cx="29900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Bộ làm mượt (smoother)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867911"/>
            <a:ext cx="299008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Trả lời: chỉnh hình học đường ra sao?</a:t>
            </a:r>
            <a:br/>
            <a:r>
              <a:rPr sz="1250" b="0" i="0">
                <a:solidFill>
                  <a:srgbClr val="5B6876"/>
                </a:solidFill>
                <a:latin typeface="Noto Sans"/>
              </a:rPr>
              <a:t>PSTMO nằm ở đây.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3337560"/>
            <a:ext cx="335584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337560"/>
            <a:ext cx="73152" cy="146304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3474720"/>
            <a:ext cx="29900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Bộ điều khiển (controller)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867911"/>
            <a:ext cx="299008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Trả lời: ngay lúc này phát v, ω bao nhiêu?</a:t>
            </a:r>
            <a:br/>
            <a:r>
              <a:rPr sz="1250" b="0" i="0">
                <a:solidFill>
                  <a:srgbClr val="5B6876"/>
                </a:solidFill>
                <a:latin typeface="Noto Sans"/>
              </a:rPr>
              <a:t>Đầu ra: cmd_vel.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5340096"/>
            <a:ext cx="9738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44168" y="5385816"/>
            <a:ext cx="951890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 i="0">
                <a:solidFill>
                  <a:srgbClr val="102A43"/>
                </a:solidFill>
                <a:latin typeface="Noto Sans"/>
              </a:rPr>
              <a:t>Trong thí nghiệm: FollowPath nhận đường sau làm mượt; đường gốc (Raw) là nhánh đối chứng.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Phân biệt “đường đi” và “quỹ đạo”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Dùng đúng thuật ngữ để tránh nhầm trách nhiệm của thuật toán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5285232" cy="43434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45920"/>
            <a:ext cx="47365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6FB8"/>
                </a:solidFill>
                <a:latin typeface="Noto Sans"/>
              </a:rPr>
              <a:t>PATH · ĐƯỜNG HÌNH HỌC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2267712"/>
            <a:ext cx="409651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2313432"/>
            <a:ext cx="3877056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P = {p₀, p₁, …, pₙ}</a:t>
            </a:r>
            <a:br/>
            <a:r>
              <a:rPr sz="2000" b="1" i="0">
                <a:solidFill>
                  <a:srgbClr val="102A43"/>
                </a:solidFill>
                <a:latin typeface="Noto Sans"/>
              </a:rPr>
              <a:t>pᵢ = (xᵢ, yᵢ, ψᵢ)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703320"/>
            <a:ext cx="443484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Mô tả vị trí và hướng đi qua.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Không chứa thời điểm, vận tốc, gia tốc.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5285232" cy="4343400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45920"/>
            <a:ext cx="47365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766E"/>
                </a:solidFill>
                <a:latin typeface="Noto Sans"/>
              </a:rPr>
              <a:t>TRAJECTORY · QUỸ ĐẠO THEO THỜI GIAN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2267712"/>
            <a:ext cx="409651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4576" y="2313432"/>
            <a:ext cx="3877056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q(t) = [x(t), y(t), ψ(t)]</a:t>
            </a:r>
            <a:br/>
            <a:r>
              <a:rPr sz="2000" b="1" i="0">
                <a:solidFill>
                  <a:srgbClr val="102A43"/>
                </a:solidFill>
                <a:latin typeface="Noto Sans"/>
              </a:rPr>
              <a:t>+ v(t), ω(t), a(t)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703320"/>
            <a:ext cx="443484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Gắn trạng thái với thời gian thực thi.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Cho phép kiểm tra vận tốc và gia tốc.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925312"/>
            <a:ext cx="9509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PSTMO trả về đường hình học, nhưng dùng mô hình thời gian để loại đường cong không khả thi.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Vì sao góc gãy khó thực thi?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4892040" cy="4526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43000" y="4892040"/>
            <a:ext cx="2011680" cy="0"/>
          </a:xfrm>
          <a:prstGeom prst="line">
            <a:avLst/>
          </a:prstGeom>
          <a:ln w="635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54680" y="1965960"/>
            <a:ext cx="0" cy="2926080"/>
          </a:xfrm>
          <a:prstGeom prst="line">
            <a:avLst/>
          </a:prstGeom>
          <a:ln w="635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53512" y="4690872"/>
            <a:ext cx="402336" cy="402336"/>
          </a:xfrm>
          <a:prstGeom prst="ellipse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469087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5138928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hướng vào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011680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hướng 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60520"/>
            <a:ext cx="347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E8871E"/>
                </a:solidFill>
                <a:latin typeface="Noto Sans"/>
              </a:rPr>
              <a:t>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29968" y="4169663"/>
            <a:ext cx="832104" cy="0"/>
          </a:xfrm>
          <a:prstGeom prst="line">
            <a:avLst/>
          </a:prstGeom>
          <a:ln w="25400">
            <a:solidFill>
              <a:srgbClr val="E88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761488" y="3108960"/>
            <a:ext cx="0" cy="914400"/>
          </a:xfrm>
          <a:prstGeom prst="line">
            <a:avLst/>
          </a:prstGeom>
          <a:ln w="25400">
            <a:solidFill>
              <a:srgbClr val="E88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33856" y="1645920"/>
            <a:ext cx="3931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Hướng tiếp tuyến đổi tức thời tại 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508760"/>
            <a:ext cx="5394960" cy="78638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554480"/>
            <a:ext cx="5175504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κ(t) = [x′y″ − y′x″] / (x′² + y′²)³ᐟ²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58775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7212B"/>
                </a:solidFill>
                <a:latin typeface="Noto Sans"/>
              </a:rPr>
              <a:t>Tại đỉnh polyline, đạo hàm theo hướng không liên tục ⇒ độ cong κ rất lớn hoặc không xác định.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749039"/>
            <a:ext cx="15727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3328" y="3749039"/>
            <a:ext cx="73152" cy="1444752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3886200"/>
            <a:ext cx="12070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Giảm tốc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4279392"/>
            <a:ext cx="1207007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Bộ điều khiển phải hãm mạnh.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5552" y="3749039"/>
            <a:ext cx="15727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45552" y="3749039"/>
            <a:ext cx="73152" cy="1444752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886200"/>
            <a:ext cx="12070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Quay tại chỗ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4279392"/>
            <a:ext cx="1207007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Dừng–quay–đi.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7776" y="3749039"/>
            <a:ext cx="15727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7776" y="3749039"/>
            <a:ext cx="73152" cy="1444752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7232" y="3886200"/>
            <a:ext cx="12070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Lệch bám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4279392"/>
            <a:ext cx="1207007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Khó theo đúng góc gãy.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5577840"/>
            <a:ext cx="51937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F766E"/>
                </a:solidFill>
                <a:latin typeface="Noto Sans"/>
              </a:rPr>
              <a:t>Bài toán không chỉ là “đường nhìn đẹp hơn”, mà là tạo chuyển hướng có thể chạy.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Ba bộ làm mượt Nav2 dùng làm đối chứng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Cùng nhận đúng một đường do bộ lập kế hoạch tạo trong mỗi nhóm ghép cặp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35295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89888"/>
            <a:ext cx="3529584" cy="475488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17320"/>
            <a:ext cx="35295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Noto Sans"/>
              </a:rPr>
              <a:t>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57400"/>
            <a:ext cx="3072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Lặp cục bộ trên điểm đường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79192"/>
            <a:ext cx="3017520" cy="12070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24912"/>
            <a:ext cx="2798063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yᵢ ← yᵢ + w_d(xᵢ−yᵢ)</a:t>
            </a:r>
            <a:br/>
            <a:r>
              <a:rPr sz="1350" b="1" i="0">
                <a:solidFill>
                  <a:srgbClr val="102A43"/>
                </a:solidFill>
                <a:latin typeface="Noto Sans"/>
              </a:rPr>
              <a:t>+ w_s(yᵢ₋₁+yᵢ₊₁−2yᵢ)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251960"/>
            <a:ext cx="297180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Nhanh; giảm góc gãy nhỏ.</a:t>
            </a:r>
            <a:br/>
            <a:r>
              <a:rPr sz="1220" b="0" i="0">
                <a:solidFill>
                  <a:srgbClr val="5B6876"/>
                </a:solidFill>
                <a:latin typeface="Noto Sans"/>
              </a:rPr>
              <a:t>Không dùng hình bao robot trong phép cập nhật.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389888"/>
            <a:ext cx="35295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389888"/>
            <a:ext cx="3529584" cy="475488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17320"/>
            <a:ext cx="35295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Noto Sans"/>
              </a:rPr>
              <a:t>SAVITZKY–GOLAY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57400"/>
            <a:ext cx="3072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Lọc đa thức cửa sổ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0872" y="2679192"/>
            <a:ext cx="3017520" cy="12070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724912"/>
            <a:ext cx="2798063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ŷᵢ = (−2yᵢ₋₃+3yᵢ₋₂+6yᵢ₋₁</a:t>
            </a:r>
            <a:br/>
            <a:r>
              <a:rPr sz="1150" b="1" i="0">
                <a:solidFill>
                  <a:srgbClr val="102A43"/>
                </a:solidFill>
                <a:latin typeface="Noto Sans"/>
              </a:rPr>
              <a:t>+7yᵢ+6yᵢ₊₁+3yᵢ₊₂−2yᵢ₊₃)/21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51960"/>
            <a:ext cx="297180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Lọc dao động cao tần.</a:t>
            </a:r>
            <a:br/>
            <a:r>
              <a:rPr sz="1220" b="0" i="0">
                <a:solidFill>
                  <a:srgbClr val="5B6876"/>
                </a:solidFill>
                <a:latin typeface="Noto Sans"/>
              </a:rPr>
              <a:t>Khó xử lý góc gãy lớn.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1389888"/>
            <a:ext cx="35295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2752" y="1389888"/>
            <a:ext cx="3529584" cy="475488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1417320"/>
            <a:ext cx="35295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Noto Sans"/>
              </a:rPr>
              <a:t>CONSTRAINED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2057400"/>
            <a:ext cx="3072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Tối ưu có bản đồ chi phí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58784" y="2679192"/>
            <a:ext cx="3017520" cy="12070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1" y="2724912"/>
            <a:ext cx="2798063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J = w_sJ_s + w_κJ_κ</a:t>
            </a:r>
            <a:br/>
            <a:r>
              <a:rPr sz="1350" b="1" i="0">
                <a:solidFill>
                  <a:srgbClr val="102A43"/>
                </a:solidFill>
                <a:latin typeface="Noto Sans"/>
              </a:rPr>
              <a:t>+ w_dJ_d + w_cJ_cost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4251960"/>
            <a:ext cx="297180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Tối ưu nặng hơn. Cấu hình thử:</a:t>
            </a:r>
            <a:br/>
            <a:r>
              <a:rPr sz="1220" b="0" i="0">
                <a:solidFill>
                  <a:srgbClr val="5B6876"/>
                </a:solidFill>
                <a:latin typeface="Noto Sans"/>
              </a:rPr>
              <a:t>w_s=200000; w_cost=0,015; w_κ=w_d=0.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0016" y="6099048"/>
            <a:ext cx="2724912" cy="292608"/>
          </a:xfrm>
          <a:prstGeom prst="roundRect">
            <a:avLst/>
          </a:prstGeom>
          <a:solidFill>
            <a:srgbClr val="FB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6108192"/>
            <a:ext cx="2651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C53B3C"/>
                </a:solidFill>
                <a:latin typeface="Noto Sans"/>
              </a:rPr>
              <a:t>KHOẢNG TRỐNG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6327648"/>
            <a:ext cx="9089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90" b="0" i="0">
                <a:solidFill>
                  <a:srgbClr val="5B6876"/>
                </a:solidFill>
                <a:latin typeface="Noto Sans"/>
              </a:rPr>
              <a:t>Các phương pháp đối chứng không đồng thời mô hình hóa G², bánh xe vi sai, điều kiện ưu thế thời gian và quy hoạch động.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Mục tiêu thiết kế của PSTMO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417320"/>
            <a:ext cx="9372600" cy="960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1463040"/>
            <a:ext cx="9153144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Tìm chuỗi trạng thái z₁…z_N có chi phí nhỏ nhất</a:t>
            </a:r>
            <a:br/>
            <a:r>
              <a:rPr sz="2000" b="1" i="0">
                <a:solidFill>
                  <a:srgbClr val="102A43"/>
                </a:solidFill>
                <a:latin typeface="Noto Sans"/>
              </a:rPr>
              <a:t>trên tập phương án đã đạt toàn bộ điều kiện bắt buộc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D6FB8"/>
                </a:solidFill>
                <a:latin typeface="Noto Sans"/>
              </a:rPr>
              <a:t>G²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κ liên tục tại mối nối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7257B5"/>
                </a:solidFill>
                <a:latin typeface="Noto Sans"/>
              </a:rPr>
              <a:t>v_L, v_R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Không đảo bánh trong đoạn chuyển tiếp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F_map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Vùng quét hình bao không va chạm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E8871E"/>
                </a:solidFill>
                <a:latin typeface="Noto Sans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Đoạn chuyển tiếp có lợi hơn quay tại chỗ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7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d_i+d_{i+1}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Vùng cắt không chồng lấn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68112"/>
            <a:ext cx="1010412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F766E"/>
                </a:solidFill>
                <a:latin typeface="Noto Sans"/>
              </a:rPr>
              <a:t>Phương án xử lý tại góc = một cách xử lý cụ thể, xác định bởi trạng thái, khoảng cắt d và tỷ lệ α=q/d.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94944"/>
            <a:ext cx="12801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F766E"/>
                </a:solidFill>
                <a:latin typeface="Noto Sans"/>
              </a:rPr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847088"/>
            <a:ext cx="571500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FFFFF"/>
                </a:solidFill>
                <a:latin typeface="Noto Sans"/>
              </a:rPr>
              <a:t>PHƯƠNG PHÁP PSTMO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73552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C8D5E3"/>
                </a:solidFill>
                <a:latin typeface="Noto Sans"/>
              </a:rPr>
              <a:t>Từ điều kiện hóa đường tới ghép đường cuối cùng — mỗi quyết định đều có công thức và điều kiện kiểm tra.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9601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wept_footprint_clean.png"/>
          <p:cNvPicPr>
            <a:picLocks noChangeAspect="1"/>
          </p:cNvPicPr>
          <p:nvPr/>
        </p:nvPicPr>
        <p:blipFill>
          <a:blip r:embed="rId2"/>
          <a:srcRect l="10133" r="10133"/>
          <a:stretch>
            <a:fillRect/>
          </a:stretch>
        </p:blipFill>
        <p:spPr>
          <a:xfrm>
            <a:off x="6729984" y="0"/>
            <a:ext cx="5468112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46520" y="0"/>
            <a:ext cx="86868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Một quy trình duy nhất, theo đúng thứ tự kiểm tra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10927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70" y="1353312"/>
            <a:ext cx="10219299" cy="26974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85800" y="4407408"/>
            <a:ext cx="438912" cy="438912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074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4389120"/>
            <a:ext cx="20299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Điều kiện hóa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892040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Bỏ điểm trùng, RDP an toàn, triệt zíc-zắc.</a:t>
            </a:r>
          </a:p>
        </p:txBody>
      </p:sp>
      <p:sp>
        <p:nvSpPr>
          <p:cNvPr id="13" name="Oval 12"/>
          <p:cNvSpPr/>
          <p:nvPr/>
        </p:nvSpPr>
        <p:spPr>
          <a:xfrm>
            <a:off x="3538728" y="440740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44074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4389120"/>
            <a:ext cx="20299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Tạo phương 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4892040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Quay tại chỗ hoặc Bézier bậc năm G².</a:t>
            </a:r>
          </a:p>
        </p:txBody>
      </p:sp>
      <p:sp>
        <p:nvSpPr>
          <p:cNvPr id="17" name="Oval 16"/>
          <p:cNvSpPr/>
          <p:nvPr/>
        </p:nvSpPr>
        <p:spPr>
          <a:xfrm>
            <a:off x="6391656" y="4407408"/>
            <a:ext cx="438912" cy="438912"/>
          </a:xfrm>
          <a:prstGeom prst="ellipse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44074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4389120"/>
            <a:ext cx="20299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Điều kiện bắt buộc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4892040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Hình học, bánh xe, hình bao, thời gian.</a:t>
            </a:r>
          </a:p>
        </p:txBody>
      </p:sp>
      <p:sp>
        <p:nvSpPr>
          <p:cNvPr id="21" name="Oval 20"/>
          <p:cNvSpPr/>
          <p:nvPr/>
        </p:nvSpPr>
        <p:spPr>
          <a:xfrm>
            <a:off x="9244584" y="4407408"/>
            <a:ext cx="438912" cy="438912"/>
          </a:xfrm>
          <a:prstGeom prst="ellipse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44074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1" y="4389120"/>
            <a:ext cx="20299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Chọn toàn cục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892040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Ưu thế thời gian, chi phí và quy hoạch động.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72768" y="5833872"/>
            <a:ext cx="9052560" cy="493776"/>
          </a:xfrm>
          <a:prstGeom prst="roundRect">
            <a:avLst/>
          </a:prstGeom>
          <a:solidFill>
            <a:srgbClr val="FBEAEC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82495" y="5879592"/>
            <a:ext cx="8833104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53B3C"/>
                </a:solidFill>
                <a:latin typeface="Noto Sans"/>
              </a:rPr>
              <a:t>Nếu kiểm tra cuối thất bại → FailedToSmoothPath; không âm thầm trả lại đường gốc.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Tiền xử lý: giảm nhiễu nhưng không phá hành 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Điều kiện hóa đường (path conditioning) · chế độ hiện tại: condition_only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669340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03_conditioning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7487"/>
            <a:ext cx="6693408" cy="19516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62672" y="1426464"/>
            <a:ext cx="384048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426464"/>
            <a:ext cx="73152" cy="1225296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1563624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1. Bỏ điểm trùng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956816"/>
            <a:ext cx="347472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Tránh đoạn có chiều dài bằng 0 và đạo hàm suy biến.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2816352"/>
            <a:ext cx="3840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2816352"/>
            <a:ext cx="73152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2953512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2. RDP có điều kiện an toàn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3346704"/>
            <a:ext cx="34747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Chỉ nhận dây cung khi sai số ≤ ε_RDP và vùng quét hình bao an toàn.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4370832"/>
            <a:ext cx="3840480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4370832"/>
            <a:ext cx="73152" cy="1344168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4507992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3. Triệt zíc-zắc cục bộ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4901184"/>
            <a:ext cx="3474720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Loại chuỗi đổi dấu góc do lưới, nhưng vẫn giữ điểm đầu/đích.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2728" y="5907024"/>
            <a:ext cx="9692640" cy="493776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62456" y="5952744"/>
            <a:ext cx="9473184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F766E"/>
                </a:solidFill>
                <a:latin typeface="Noto Sans"/>
              </a:rPr>
              <a:t>ε_RDP = 1,5 × độ phân giải = 1,5 × 0,05 = 0,075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Phát hiện góc và ba trạng thái xử lý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89888"/>
            <a:ext cx="4041648" cy="71323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35608"/>
            <a:ext cx="3822191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02A43"/>
                </a:solidFill>
                <a:latin typeface="Noto Sans"/>
              </a:rPr>
              <a:t>θ = atan2(u × v, u · 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822191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u: hướng cạnh vào · v: hướng cạnh ra · dấu θ phân biệt quay trái/phải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200400"/>
            <a:ext cx="4041648" cy="11887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246120"/>
            <a:ext cx="3822191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|θ| &lt; 5°  →  giữ nguyên góc</a:t>
            </a:r>
            <a:br/>
            <a:r>
              <a:rPr sz="1600" b="1" i="0">
                <a:solidFill>
                  <a:srgbClr val="102A43"/>
                </a:solidFill>
                <a:latin typeface="Noto Sans"/>
              </a:rPr>
              <a:t>5° ≤ |θ| &lt; 170°  →  xét chuyển tiếp hoặc quay tại chỗ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417320"/>
            <a:ext cx="1956816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49240" y="1664208"/>
            <a:ext cx="1591056" cy="292608"/>
          </a:xfrm>
          <a:prstGeom prst="round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5816" y="1673352"/>
            <a:ext cx="15179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PASS-THROUGH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2944368"/>
            <a:ext cx="1143000" cy="0"/>
          </a:xfrm>
          <a:prstGeom prst="line">
            <a:avLst/>
          </a:prstGeom>
          <a:ln w="635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49240" y="3776472"/>
            <a:ext cx="159105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Giữ nguyên góc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407408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Góc nhỏ; không cần đoạn chuyển tiếp.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417320"/>
            <a:ext cx="1956816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3800" y="1664208"/>
            <a:ext cx="1591056" cy="2926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5" y="1673352"/>
            <a:ext cx="15179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TRANSITION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08392" y="3246120"/>
            <a:ext cx="493776" cy="0"/>
          </a:xfrm>
          <a:prstGeom prst="line">
            <a:avLst/>
          </a:prstGeom>
          <a:ln w="508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rc 21"/>
          <p:cNvSpPr/>
          <p:nvPr/>
        </p:nvSpPr>
        <p:spPr>
          <a:xfrm>
            <a:off x="8119872" y="2514600"/>
            <a:ext cx="731520" cy="749808"/>
          </a:xfrm>
          <a:prstGeom prst="arc">
            <a:avLst/>
          </a:prstGeom>
          <a:noFill/>
          <a:ln w="508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8842248" y="2121408"/>
            <a:ext cx="0" cy="420624"/>
          </a:xfrm>
          <a:prstGeom prst="line">
            <a:avLst/>
          </a:prstGeom>
          <a:ln w="508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43800" y="3776472"/>
            <a:ext cx="159105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Đoạn chuyển tiếp G²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407408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Cắt hai cạnh và chèn Bézier.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1417320"/>
            <a:ext cx="1956816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38359" y="1664208"/>
            <a:ext cx="1591056" cy="292608"/>
          </a:xfrm>
          <a:prstGeom prst="round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5" y="1673352"/>
            <a:ext cx="15179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PIVOT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02952" y="3246120"/>
            <a:ext cx="630936" cy="0"/>
          </a:xfrm>
          <a:prstGeom prst="line">
            <a:avLst/>
          </a:prstGeom>
          <a:ln w="50800">
            <a:solidFill>
              <a:srgbClr val="E88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360152" y="2487168"/>
            <a:ext cx="457200" cy="457200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60152" y="2487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↻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0698480" y="2651760"/>
            <a:ext cx="448056" cy="429768"/>
          </a:xfrm>
          <a:prstGeom prst="line">
            <a:avLst/>
          </a:prstGeom>
          <a:ln w="50800">
            <a:solidFill>
              <a:srgbClr val="E88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38359" y="3776472"/>
            <a:ext cx="159105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Quay tại chỗ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4407408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Dừng tại đỉnh, đổi góc hướng rồi đi tiếp.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971032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20" b="1" i="0">
                <a:solidFill>
                  <a:srgbClr val="0F766E"/>
                </a:solidFill>
                <a:latin typeface="Noto Sans"/>
              </a:rPr>
              <a:t>Ở mỗi góc, PSTMO tạo các phương án cụ thể rồi kiểm tra, so sánh và lựa chọn.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G¹, G² và lý do chọn Bézier bậc năm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3401568" cy="1975104"/>
          </a:xfrm>
          <a:prstGeom prst="roundRect">
            <a:avLst/>
          </a:prstGeom>
          <a:solidFill>
            <a:srgbClr val="FFF3E5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36776"/>
            <a:ext cx="2926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E8871E"/>
                </a:solidFill>
                <a:latin typeface="Noto Sans"/>
              </a:rPr>
              <a:t>G¹ · LIÊN TỤC TIẾP TUYẾN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94560"/>
            <a:ext cx="2670048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7212B"/>
                </a:solidFill>
                <a:latin typeface="Noto Sans"/>
              </a:rPr>
              <a:t>Cùng hướng tại điểm nối</a:t>
            </a:r>
            <a:br/>
            <a:r>
              <a:rPr sz="1600" b="1" i="0">
                <a:solidFill>
                  <a:srgbClr val="17212B"/>
                </a:solidFill>
                <a:latin typeface="Noto Sans"/>
              </a:rPr>
              <a:t>nhưng κ có thể nhảy.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389888"/>
            <a:ext cx="3401568" cy="1975104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36776"/>
            <a:ext cx="2926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0F766E"/>
                </a:solidFill>
                <a:latin typeface="Noto Sans"/>
              </a:rPr>
              <a:t>G² · LIÊN TỤC ĐỘ CONG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194560"/>
            <a:ext cx="2670048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7212B"/>
                </a:solidFill>
                <a:latin typeface="Noto Sans"/>
              </a:rPr>
              <a:t>Cùng hướng và cùng κ.</a:t>
            </a:r>
            <a:br/>
            <a:r>
              <a:rPr sz="1600" b="1" i="0">
                <a:solidFill>
                  <a:srgbClr val="17212B"/>
                </a:solidFill>
                <a:latin typeface="Noto Sans"/>
              </a:rPr>
              <a:t>Đoạn thẳng có κ=0.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89888"/>
            <a:ext cx="3493008" cy="197510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36776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1D6FB8"/>
                </a:solidFill>
                <a:latin typeface="Noto Sans"/>
              </a:rPr>
              <a:t>YÊU CẦU NỐI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49056" y="2121408"/>
            <a:ext cx="2651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4" y="2167127"/>
            <a:ext cx="243230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02A43"/>
                </a:solidFill>
                <a:latin typeface="Noto Sans"/>
              </a:rPr>
              <a:t>κ(0)=κ(1)=0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" y="3730752"/>
          <a:ext cx="1058875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74519"/>
                <a:gridCol w="1600200"/>
                <a:gridCol w="2084831"/>
                <a:gridCol w="41148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Bậc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Điểm điều khiển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Khớp hướng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κ=0 hai đầu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Còn tham số hình dạng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Không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Không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3–4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4–5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 thể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Rất hạn chế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6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 theo cấu trúc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Có: α=q/d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33271" y="5879592"/>
            <a:ext cx="101315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Bậc năm là cấu trúc gọn nhất trong thiết kế này để vừa áp điều kiện biên G², vừa giữ một tham số tối ưu hình dạng.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Xây dựng đoạn chuyển tiếp Bézier bậc năm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4_bezier_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43821"/>
            <a:ext cx="5303520" cy="22081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91072" y="1389888"/>
            <a:ext cx="5230368" cy="71323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35608"/>
            <a:ext cx="501091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B(t)=Σᵢ₌₀⁵ C(5,i)(1−t)⁵⁻ⁱtⁱPᵢ,   0≤t≤1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331720"/>
            <a:ext cx="5230368" cy="640080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39"/>
            <a:ext cx="5010912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0F766E"/>
                </a:solidFill>
                <a:latin typeface="Noto Sans"/>
              </a:rPr>
              <a:t>A=V−d·u     B=V+d·v     q=αd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3200400"/>
            <a:ext cx="5230368" cy="10789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5010912" cy="9875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P₀=A      P₁=A+q·u      P₂=A+2q·u</a:t>
            </a:r>
            <a:br/>
            <a:r>
              <a:rPr sz="1700" b="1" i="0">
                <a:solidFill>
                  <a:srgbClr val="102A43"/>
                </a:solidFill>
                <a:latin typeface="Noto Sans"/>
              </a:rPr>
              <a:t>P₃=B−2q·v   P₄=B−q·v      P₅=B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4553712"/>
            <a:ext cx="235915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4553712"/>
            <a:ext cx="73152" cy="118872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4690872"/>
            <a:ext cx="1993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d · khoảng cắt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5084064"/>
            <a:ext cx="199339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Quy mô vùng chuyển hướng.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4553712"/>
            <a:ext cx="235915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4553712"/>
            <a:ext cx="73152" cy="1188720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4690872"/>
            <a:ext cx="1993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α=q/d · tỷ lệ hình dạng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5084064"/>
            <a:ext cx="199339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Phân bố độ cong bên trong.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15584"/>
            <a:ext cx="50474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Hình sinh từ đúng cấu trúc Bézier G² trong mã nguồn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Chứng minh mối nối đạt G²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Ba bước ngắn: vị trí → tiếp tuyến → độ cong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349300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682496"/>
            <a:ext cx="438912" cy="438912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824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691640"/>
            <a:ext cx="2450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02A43"/>
                </a:solidFill>
                <a:latin typeface="Noto Sans"/>
              </a:rPr>
              <a:t>Khớp vị trí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2377440"/>
            <a:ext cx="3054096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423160"/>
            <a:ext cx="2834639" cy="12070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6FB8"/>
                </a:solidFill>
                <a:latin typeface="Noto Sans"/>
              </a:rPr>
              <a:t>B(0)=P₀=A</a:t>
            </a:r>
            <a:br/>
            <a:r>
              <a:rPr sz="1500" b="1" i="0">
                <a:solidFill>
                  <a:srgbClr val="1D6FB8"/>
                </a:solidFill>
                <a:latin typeface="Noto Sans"/>
              </a:rPr>
              <a:t>B(1)=P₅=B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481328"/>
            <a:ext cx="349300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682496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6824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691640"/>
            <a:ext cx="2450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02A43"/>
                </a:solidFill>
                <a:latin typeface="Noto Sans"/>
              </a:rPr>
              <a:t>Khớp tiếp tuyến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0016" y="2377440"/>
            <a:ext cx="3054096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423160"/>
            <a:ext cx="2834639" cy="12070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F766E"/>
                </a:solidFill>
                <a:latin typeface="Noto Sans"/>
              </a:rPr>
              <a:t>B′(0)=5q·u</a:t>
            </a:r>
            <a:br/>
            <a:r>
              <a:rPr sz="1500" b="1" i="0">
                <a:solidFill>
                  <a:srgbClr val="0F766E"/>
                </a:solidFill>
                <a:latin typeface="Noto Sans"/>
              </a:rPr>
              <a:t>B′(1)=5q·v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481328"/>
            <a:ext cx="349300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85632" y="1682496"/>
            <a:ext cx="438912" cy="438912"/>
          </a:xfrm>
          <a:prstGeom prst="ellipse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16824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691640"/>
            <a:ext cx="2450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02A43"/>
                </a:solidFill>
                <a:latin typeface="Noto Sans"/>
              </a:rPr>
              <a:t>Triệt đạo hàm bậc hai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2208" y="2377440"/>
            <a:ext cx="3054096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1936" y="2423160"/>
            <a:ext cx="2834639" cy="12070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80" b="1" i="0">
                <a:solidFill>
                  <a:srgbClr val="7257B5"/>
                </a:solidFill>
                <a:latin typeface="Noto Sans"/>
              </a:rPr>
              <a:t>B″(0)=20(P₂−2P₁+P₀)=0</a:t>
            </a:r>
            <a:br/>
            <a:r>
              <a:rPr sz="1280" b="1" i="0">
                <a:solidFill>
                  <a:srgbClr val="7257B5"/>
                </a:solidFill>
                <a:latin typeface="Noto Sans"/>
              </a:rPr>
              <a:t>B″(1)=20(P₅−2P₄+P₃)=0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4681728"/>
            <a:ext cx="8430768" cy="749808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84248" y="4727448"/>
            <a:ext cx="821131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F766E"/>
                </a:solidFill>
                <a:latin typeface="Noto Sans"/>
              </a:rPr>
              <a:t>κ = (B′ × B″) / ‖B′‖³   ⇒   κ(0)=κ(1)=0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65376" y="5687568"/>
            <a:ext cx="8458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Vì đoạn thẳng kề cũng có κ=0, độ cong không nhảy tại hai điểm nối.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6231" y="6126480"/>
            <a:ext cx="84856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Lưu ý: G² là độ mượt hình học; không tự động bảo đảm jerk theo thời gian bằng 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Khoảng cắt d và tỷ lệ α có hai vai trò khác nhau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349240" cy="44805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00784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6FB8"/>
                </a:solidFill>
                <a:latin typeface="Noto Sans"/>
              </a:rPr>
              <a:t>d · TRIM DISTANCE · KHOẢNG CẮT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67712"/>
            <a:ext cx="42976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7212B"/>
                </a:solidFill>
                <a:latin typeface="Noto Sans"/>
              </a:rPr>
              <a:t>Quyết định đoạn chuyển tiếp chiếm bao nhiêu chiều dài trên hai cạnh.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035808"/>
            <a:ext cx="4389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081527"/>
            <a:ext cx="41696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d_pref = min(d_max, L_in, L_out)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95344"/>
            <a:ext cx="4389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941063"/>
            <a:ext cx="41696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d_compat = min(d_pref, b_in, b_out)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937760"/>
            <a:ext cx="4114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5B6876"/>
                </a:solidFill>
                <a:latin typeface="Noto Sans"/>
              </a:rPr>
              <a:t>Tối đa hai giá trị: ưu tiên và tương thích với đoạn chung.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417320"/>
            <a:ext cx="5349240" cy="4480560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700784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7257B5"/>
                </a:solidFill>
                <a:latin typeface="Noto Sans"/>
              </a:rPr>
              <a:t>α=q/d · SHAPE RATIO · TỶ LỆ HÌNH DẠNG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267712"/>
            <a:ext cx="42976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0" i="0">
                <a:solidFill>
                  <a:srgbClr val="17212B"/>
                </a:solidFill>
                <a:latin typeface="Noto Sans"/>
              </a:rPr>
              <a:t>Khi d cố định, α điều chỉnh đa giác điều khiển và phân bố độ cong.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93408" y="3035808"/>
            <a:ext cx="4389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3081527"/>
            <a:ext cx="41696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q = αd,     0 &lt; α ≤ 0,5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8" y="3895344"/>
            <a:ext cx="4389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3941063"/>
            <a:ext cx="41696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7257B5"/>
                </a:solidFill>
                <a:latin typeface="Noto Sans"/>
              </a:rPr>
              <a:t>E_κ = ∫₀ᴸ κ(s)² 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937760"/>
            <a:ext cx="4114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5B6876"/>
                </a:solidFill>
                <a:latin typeface="Noto Sans"/>
              </a:rPr>
              <a:t>Trong cùng một d, chọn α khả thi có Eκ nhỏ nhất.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126480"/>
            <a:ext cx="9372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80" b="1" i="0">
                <a:solidFill>
                  <a:srgbClr val="C53B3C"/>
                </a:solidFill>
                <a:latin typeface="Noto Sans"/>
              </a:rPr>
              <a:t>Eκ là tích phân bình phương độ cong, tức chỉ số uốn hình học; không phải điện năng đo từ pin.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Tìm α theo lưới phân cấp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Tìm thô → phục hồi khi cần → tinh chỉnh quanh phương án có Eκ nhỏ nhất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6967728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05_alpha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62441"/>
            <a:ext cx="6967728" cy="25354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00416" y="1444752"/>
            <a:ext cx="35844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444752"/>
            <a:ext cx="73152" cy="1207008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581912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COARSE · THÔ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1975104"/>
            <a:ext cx="32186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α={0,1; 0,2; 0,3; 0,4; 0,5}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2871216"/>
            <a:ext cx="35844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0416" y="2871216"/>
            <a:ext cx="73152" cy="1207008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3008376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RECOVERY · PHỤC HỒI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3401568"/>
            <a:ext cx="32186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Chỉ chạy nếu toàn bộ lưới thô thất bại:</a:t>
            </a:r>
            <a:br/>
            <a:r>
              <a:rPr sz="1120" b="0" i="0">
                <a:solidFill>
                  <a:srgbClr val="5B6876"/>
                </a:solidFill>
                <a:latin typeface="Noto Sans"/>
              </a:rPr>
              <a:t>{0,15; 0,25; 0,35; 0,45}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0416" y="4297680"/>
            <a:ext cx="35844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0416" y="4297680"/>
            <a:ext cx="73152" cy="1207008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4434840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REFINEMENT · TINH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4828032"/>
            <a:ext cx="32186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Chia khoảng quanh phương án có Eκ nhỏ nhất thành 10 khoảng, 11 nút.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0416" y="5715000"/>
            <a:ext cx="3584448" cy="53035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5760720"/>
            <a:ext cx="3364991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80" b="1" i="0">
                <a:solidFill>
                  <a:srgbClr val="0F766E"/>
                </a:solidFill>
                <a:latin typeface="Noto Sans"/>
              </a:rPr>
              <a:t>Chỉ so Eκ giữa các α đã đạt mọi điều kiện bắt buộc.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Kiểm tra tính khả thi của từng phương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Chỉ các phương án đạt toàn bộ điều kiện bắt buộc mới được so sánh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73152" cy="3986784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1 · HÌNH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B′ không suy biến; κ hữu hạn; không xuất hiện đổi dấu quay ngoài ý muốn.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944368"/>
            <a:ext cx="2468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D6DEE7"/>
                </a:solidFill>
                <a:latin typeface="Noto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417320"/>
            <a:ext cx="73152" cy="3986784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2 · ĐỘNG HỌC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Bánh trong không chạy lùi; v, ω và gia tốc đều nằm trong giới hạn.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2944368"/>
            <a:ext cx="2468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D6DEE7"/>
                </a:solidFill>
                <a:latin typeface="Noto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417320"/>
            <a:ext cx="73152" cy="3986784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3 · AN TOÀN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Chi phí tại tâm đạt ngưỡng; vùng quét hình bao không giao vật cản.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1" y="2944368"/>
            <a:ext cx="2468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D6DEE7"/>
                </a:solidFill>
                <a:latin typeface="Noto San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59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1417320"/>
            <a:ext cx="73152" cy="3986784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5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4 · THỜI GIAN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5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Biểu đồ vận tốc hội tụ; đoạn chuyển tiếp nhanh hơn quay tại chỗ theo biên 0,15 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1" y="2944368"/>
            <a:ext cx="2468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D6DEE7"/>
                </a:solidFill>
                <a:latin typeface="Noto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417320"/>
            <a:ext cx="73152" cy="39867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03536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5 · HẬU KIỂM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Đường cuối giữ đầu–đích, không chồng vùng cắt và vẫn an toàn sau khi ghép.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3856" y="5577840"/>
            <a:ext cx="9921240" cy="475488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3584" y="5623559"/>
            <a:ext cx="970178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0F766E"/>
                </a:solidFill>
                <a:latin typeface="Noto Sans"/>
              </a:rPr>
              <a:t>Đạt cả 5 nhóm điều kiện  →  mới được tính J và so sánh phương án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181344"/>
            <a:ext cx="10104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60" b="1" i="0">
                <a:solidFill>
                  <a:srgbClr val="C53B3C"/>
                </a:solidFill>
                <a:latin typeface="Noto Sans"/>
              </a:rPr>
              <a:t>Va chạm là điều kiện loại bắt buộc; Eκ nhỏ không thể bù cho một phương án không an toàn.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Cổng động học robot vi sai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48920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bot_isometr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5" y="1371600"/>
            <a:ext cx="4315968" cy="43159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572768" y="5175504"/>
            <a:ext cx="301752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5184648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1D6FB8"/>
                </a:solidFill>
                <a:latin typeface="Noto Sans"/>
              </a:rPr>
              <a:t>MÔ HÌNH TỪ STL/SDF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605272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60" b="0" i="0">
                <a:solidFill>
                  <a:srgbClr val="5B6876"/>
                </a:solidFill>
                <a:latin typeface="Noto Sans"/>
              </a:rPr>
              <a:t>Hai bánh chủ động · vệt bánh vật lý b=0,2548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5312" y="1444752"/>
            <a:ext cx="5321808" cy="151790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90472"/>
            <a:ext cx="5102352" cy="142646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02A43"/>
                </a:solidFill>
                <a:latin typeface="Noto Sans"/>
              </a:rPr>
              <a:t>v_L = v(1 − bκ/2)</a:t>
            </a:r>
            <a:br/>
            <a:r>
              <a:rPr sz="2200" b="1" i="0">
                <a:solidFill>
                  <a:srgbClr val="102A43"/>
                </a:solidFill>
                <a:latin typeface="Noto Sans"/>
              </a:rPr>
              <a:t>v_R = v(1 + bκ/2)</a:t>
            </a:r>
            <a:br/>
            <a:r>
              <a:rPr sz="2200" b="1" i="0">
                <a:solidFill>
                  <a:srgbClr val="102A43"/>
                </a:solidFill>
                <a:latin typeface="Noto Sans"/>
              </a:rPr>
              <a:t>ω = vκ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25312" y="3310128"/>
            <a:ext cx="5321808" cy="694944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355848"/>
            <a:ext cx="5102352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7257B5"/>
                </a:solidFill>
                <a:latin typeface="Noto Sans"/>
              </a:rPr>
              <a:t>1 − |bκ|/2 ≥ 0   ⇒   |κ| ≤ 2/b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370832"/>
            <a:ext cx="478231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12B"/>
                </a:solidFill>
                <a:latin typeface="Noto Sans"/>
              </a:rPr>
              <a:t>Đoạn chuyển tiếp là pha tịnh tiến liên tục nên bánh trong không được chạy lùi. Quay tại chỗ là trạng thái riêng, cho phép hai bánh quay ngược chiều.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5522976"/>
            <a:ext cx="3054096" cy="292608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5532120"/>
            <a:ext cx="29809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E8871E"/>
                </a:solidFill>
                <a:latin typeface="Noto Sans"/>
              </a:rPr>
              <a:t>GIỚI HẠN THỬ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5916168"/>
            <a:ext cx="5212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b mô hình=0,2548 m · b hiệu dụng Gazebo=0,2834 m · |v_bánh|≤0,36 m/s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Điều kiện an toàn: hình bao robot và vùng quét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4892040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wept_footpri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1" y="1371600"/>
            <a:ext cx="4553712" cy="45537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5961888"/>
            <a:ext cx="453542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Màu xanh lá: hợp các hình bao · màu xanh đậm: vật cản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7024" y="1444752"/>
            <a:ext cx="5394960" cy="731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1490472"/>
            <a:ext cx="5175504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50" b="1" i="0">
                <a:solidFill>
                  <a:srgbClr val="102A43"/>
                </a:solidFill>
                <a:latin typeface="Noto Sans"/>
              </a:rPr>
              <a:t>F_map(x,y,ψ) = { [x,y]ᵀ + R(ψ)f  |  f∈F_body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487168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2487168"/>
            <a:ext cx="73152" cy="100584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2624328"/>
            <a:ext cx="49377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Tư thế an toàn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3017520"/>
            <a:ext cx="49377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90" b="0" i="0">
                <a:solidFill>
                  <a:srgbClr val="5B6876"/>
                </a:solidFill>
                <a:latin typeface="Noto Sans"/>
              </a:rPr>
              <a:t>Đa giác hình bao tại một tư thế không chạm ô gây va chạm, ô chưa biết hoặc ngoài bản đồ.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694176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694176"/>
            <a:ext cx="73152" cy="1005840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3831336"/>
            <a:ext cx="49377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Vùng quét an toàn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4224528"/>
            <a:ext cx="49377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90" b="0" i="0">
                <a:solidFill>
                  <a:srgbClr val="5B6876"/>
                </a:solidFill>
                <a:latin typeface="Noto Sans"/>
              </a:rPr>
              <a:t>Nội suy vị trí và góc hướng giữa các tư thế; kiểm tra toàn bộ đa giác hình bao.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5074920"/>
            <a:ext cx="5303520" cy="62179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5120640"/>
            <a:ext cx="5084064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F766E"/>
                </a:solidFill>
                <a:latin typeface="Noto Sans"/>
              </a:rPr>
              <a:t>Chi phí ô tại tâm ≤252  ∧  hình bao đặc không va chạm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5980176"/>
            <a:ext cx="5212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Hình bao thử nghiệm: 0,44 × 0,34 m · độ phân giải bản đồ chi phí: 0,05 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Từ độ cong tới giới hạn vận tốc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Giới hạn vận tốc phụ thuộc độ cong và biểu đồ vận tốc dọc đường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89888"/>
            <a:ext cx="5532120" cy="1188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35608"/>
            <a:ext cx="5312664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v_limit(κ)=min{ v_max,  ω_max/|κ|,  √(a_y,max/|κ|),</a:t>
            </a:r>
            <a:br/>
            <a:r>
              <a:rPr sz="1650" b="1" i="0">
                <a:solidFill>
                  <a:srgbClr val="102A43"/>
                </a:solidFill>
                <a:latin typeface="Noto Sans"/>
              </a:rPr>
              <a:t> v_w,max / max(|1−bκ/2|, |1+bκ/2|)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5074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766E"/>
                </a:solidFill>
                <a:latin typeface="Noto Sans"/>
              </a:rPr>
              <a:t>Độ cong càng lớn → giới hạn vận tốc tịnh tiến càng thấp.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5532120" cy="1097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566160"/>
            <a:ext cx="53126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Quét tiến:  vᵢ ≤ √(vᵢ₋₁² + 2a_accΔs)</a:t>
            </a:r>
            <a:br/>
            <a:r>
              <a:rPr sz="1650" b="1" i="0">
                <a:solidFill>
                  <a:srgbClr val="102A43"/>
                </a:solidFill>
                <a:latin typeface="Noto Sans"/>
              </a:rPr>
              <a:t>Quét lùi:   vᵢ₋₁ ≤ √(vᵢ² + 2a_decΔs)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65192"/>
            <a:ext cx="510235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5B6876"/>
                </a:solidFill>
                <a:latin typeface="Noto Sans"/>
              </a:rPr>
              <a:t>Biểu đồ vận tốc là dãy v(s) sau khi áp giới hạn vận tốc cục bộ và các giới hạn tăng tốc, giảm tốc.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8" y="1371600"/>
            <a:ext cx="501091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ure_07_kinematic_tim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741477"/>
            <a:ext cx="5010912" cy="1695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5120" y="5897880"/>
            <a:ext cx="46817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Ví dụ biểu đồ vận tốc tịnh tiến và vận tốc góc dùng để tính thời gian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So sánh đoạn chuyển tiếp với quay tại chỗ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Điều kiện ưu thế thời gian (time gate)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5029200" cy="4462272"/>
          </a:xfrm>
          <a:prstGeom prst="roundRect">
            <a:avLst/>
          </a:prstGeom>
          <a:solidFill>
            <a:srgbClr val="FFF3E5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4425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8871E"/>
                </a:solidFill>
                <a:latin typeface="Noto Sans"/>
              </a:rPr>
              <a:t>PIVOT · QUAY TẠI CHỖ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43434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7212B"/>
                </a:solidFill>
                <a:latin typeface="Noto Sans"/>
              </a:rPr>
              <a:t>Đi tới đỉnh → giảm về 0 → quay → tăng tốc rời đỉnh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035808"/>
            <a:ext cx="4114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3081527"/>
            <a:ext cx="389534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E8871E"/>
                </a:solidFill>
                <a:latin typeface="Noto Sans"/>
              </a:rPr>
              <a:t>T_rot = 2√(|θ|/a_ω)  nếu chưa đạt ω_max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913632"/>
            <a:ext cx="4114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959352"/>
            <a:ext cx="389534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T_pivot = T_đến + T_rot + T_rời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0176" y="1353312"/>
            <a:ext cx="5532120" cy="446227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64208"/>
            <a:ext cx="4892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766E"/>
                </a:solidFill>
                <a:latin typeface="Noto Sans"/>
              </a:rPr>
              <a:t>TRANSITION · ĐOẠN CHUYỂN TIẾP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286000"/>
            <a:ext cx="4069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331720"/>
            <a:ext cx="3849624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0F766E"/>
                </a:solidFill>
                <a:latin typeface="Noto Sans"/>
              </a:rPr>
              <a:t>Δtᵢ = 2Δsᵢ/(vᵢ+vᵢ₊₁)</a:t>
            </a:r>
            <a:br/>
            <a:r>
              <a:rPr sz="1900" b="1" i="0">
                <a:solidFill>
                  <a:srgbClr val="0F766E"/>
                </a:solidFill>
                <a:latin typeface="Noto Sans"/>
              </a:rPr>
              <a:t>T_curve = Σᵢ Δtᵢ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547872"/>
            <a:ext cx="4343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3593591"/>
            <a:ext cx="4123944" cy="8961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>
                <a:solidFill>
                  <a:srgbClr val="169C52"/>
                </a:solidFill>
                <a:latin typeface="Noto Sans"/>
              </a:rPr>
              <a:t>T_fastest + ΔT &lt; T_pivot</a:t>
            </a:r>
            <a:br/>
            <a:r>
              <a:rPr sz="2100" b="1" i="0">
                <a:solidFill>
                  <a:srgbClr val="169C52"/>
                </a:solidFill>
                <a:latin typeface="Noto Sans"/>
              </a:rPr>
              <a:t>ΔT = 0,15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846320"/>
            <a:ext cx="44348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0" i="0">
                <a:solidFill>
                  <a:srgbClr val="5B6876"/>
                </a:solidFill>
                <a:latin typeface="Noto Sans"/>
              </a:rPr>
              <a:t>Nếu quay tại chỗ không an toàn, đoạn chuyển tiếp vẫn được giữ khi bản thân nó khả thi.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089904"/>
            <a:ext cx="9464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Tất cả phương án được đặt trên cùng một cửa sổ hình học trước khi so sánh thời gian.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Hàm mục tiêu dùng để lựa chọn phương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Chỉ so sánh sau khi phương án đạt điều kiện bắt buộc và điều kiện ưu thế thời gian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307592"/>
            <a:ext cx="4754880" cy="19385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353312"/>
            <a:ext cx="4535424" cy="18470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80" b="1" i="0">
                <a:solidFill>
                  <a:srgbClr val="102A43"/>
                </a:solidFill>
                <a:latin typeface="Noto Sans"/>
              </a:rPr>
              <a:t>r_cost = min(1, peak_cost/252)</a:t>
            </a:r>
            <a:br/>
            <a:r>
              <a:rPr sz="1580" b="1" i="0">
                <a:solidFill>
                  <a:srgbClr val="102A43"/>
                </a:solidFill>
                <a:latin typeface="Noto Sans"/>
              </a:rPr>
              <a:t>r_ω = min(1, |ω|_max/ω_max)</a:t>
            </a:r>
            <a:br/>
            <a:r>
              <a:rPr sz="1580" b="1" i="0">
                <a:solidFill>
                  <a:srgbClr val="102A43"/>
                </a:solidFill>
                <a:latin typeface="Noto Sans"/>
              </a:rPr>
              <a:t>eκ = (Eκ/E_ref)/(Eκ/E_ref+1)</a:t>
            </a:r>
            <a:br/>
            <a:r>
              <a:rPr sz="1580" b="1" i="0">
                <a:solidFill>
                  <a:srgbClr val="102A43"/>
                </a:solidFill>
                <a:latin typeface="Noto Sans"/>
              </a:rPr>
              <a:t>E_ref = 1 m⁻¹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456432"/>
            <a:ext cx="4754880" cy="731520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502151"/>
            <a:ext cx="4535424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7257B5"/>
                </a:solidFill>
                <a:latin typeface="Noto Sans"/>
              </a:rPr>
              <a:t>J = 0,15·r_cost + 0,10·r_ω + 0,75·eκ  → 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70832"/>
            <a:ext cx="434340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J nhỏ hơn → phương án tại góc được ưu tiên trong quy hoạch động.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1572768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CHI PHÍ BẢN ĐỒ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7264" y="1591056"/>
            <a:ext cx="3035808" cy="2560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27264" y="1591056"/>
            <a:ext cx="607161" cy="256032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54512" y="1554480"/>
            <a:ext cx="4754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53B3C"/>
                </a:solidFill>
                <a:latin typeface="Noto Sans"/>
              </a:rPr>
              <a:t>0,15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596896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VẬN TỐC GÓC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27264" y="2615184"/>
            <a:ext cx="3035808" cy="2560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27264" y="2615184"/>
            <a:ext cx="404774" cy="256032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54512" y="2578608"/>
            <a:ext cx="4754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E8871E"/>
                </a:solidFill>
                <a:latin typeface="Noto Sans"/>
              </a:rPr>
              <a:t>0,10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621024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CHỈ SỐ UỐN Eκ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7264" y="3639312"/>
            <a:ext cx="3035808" cy="2560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27264" y="3639312"/>
            <a:ext cx="3035808" cy="256032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54512" y="3602736"/>
            <a:ext cx="4754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7257B5"/>
                </a:solidFill>
                <a:latin typeface="Noto Sans"/>
              </a:rPr>
              <a:t>0,75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5312" y="4773168"/>
            <a:ext cx="5394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25312" y="4773168"/>
            <a:ext cx="73152" cy="1024128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4910328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Không nhầm chi phí mềm với an toàn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5303520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peak_cost chỉ dùng để so sánh phương án đã an toàn; va chạm luôn bị loại trước.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6108192"/>
            <a:ext cx="9281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60" b="0" i="0">
                <a:solidFill>
                  <a:srgbClr val="5B6876"/>
                </a:solidFill>
                <a:latin typeface="Noto Sans"/>
              </a:rPr>
              <a:t>Cửa sổ cạnh tranh tối đa: 10 s · Eκ có đơn vị m⁻¹ nhưng eκ và J không có đơn vị.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Quy hoạch động chọn chuỗi trạng thái toàn đường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6492240" cy="4498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6_two_trim_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23714"/>
            <a:ext cx="6492240" cy="23580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79792" y="1481328"/>
            <a:ext cx="3977639" cy="822960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1527048"/>
            <a:ext cx="3758183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766E"/>
                </a:solidFill>
                <a:latin typeface="Noto Sans"/>
              </a:rPr>
              <a:t>d(zᵢ)+d(zᵢ₊₁)+m ≤ Lᵢ</a:t>
            </a:r>
            <a:br/>
            <a:r>
              <a:rPr sz="1700" b="1" i="0">
                <a:solidFill>
                  <a:srgbClr val="0F766E"/>
                </a:solidFill>
                <a:latin typeface="Noto Sans"/>
              </a:rPr>
              <a:t>m = 0,05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77440"/>
            <a:ext cx="35661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17212B"/>
                </a:solidFill>
                <a:latin typeface="Noto Sans"/>
              </a:rPr>
              <a:t>Điều kiện tương thích:</a:t>
            </a:r>
            <a:br/>
            <a:r>
              <a:rPr sz="1450" b="1" i="0">
                <a:solidFill>
                  <a:srgbClr val="17212B"/>
                </a:solidFill>
                <a:latin typeface="Noto Sans"/>
              </a:rPr>
              <a:t>hai vùng cắt không chồng lấn trên đoạn chung.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3401568"/>
            <a:ext cx="3977639" cy="896112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3447288"/>
            <a:ext cx="3758183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7257B5"/>
                </a:solidFill>
                <a:latin typeface="Noto Sans"/>
              </a:rPr>
              <a:t>Dᵢ(z)=Jᵢ(z)+min_{z′ tương thích} Dᵢ₋₁(z′)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4599432"/>
            <a:ext cx="39776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79792" y="4599432"/>
            <a:ext cx="73152" cy="109728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4736592"/>
            <a:ext cx="36118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Độ phức tạp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5129784"/>
            <a:ext cx="361187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O(NK²), với N góc và tối đa K trạng thái mỗi góc.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108192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1" i="0">
                <a:solidFill>
                  <a:srgbClr val="102A43"/>
                </a:solidFill>
                <a:latin typeface="Noto Sans"/>
              </a:rPr>
              <a:t>Phương án có J nhỏ tại một góc chưa chắc tạo thành đường tốt: quy hoạch động giải xung đột giữa các góc.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Ghép đường cuối và bàn giao cho bộ điều khiển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408176"/>
            <a:ext cx="384048" cy="384048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081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Giữ điểm đầu–đích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71600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Vị trí đầu, vị trí đích và hướng đích không đổi.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228600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286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9424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Nội suy đường thẳng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49424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Khoảng lấy mẫu đầu ra: 0,05 m.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3163824"/>
            <a:ext cx="384048" cy="384048"/>
          </a:xfrm>
          <a:prstGeom prst="ellipse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163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27248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Chèn đoạn chuyển tiếp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127248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Góc hướng lấy theo tiếp tuyến Bézier.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4041648"/>
            <a:ext cx="384048" cy="38404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0416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Biểu diễn quay tại chỗ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005072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Hai tư thế cùng vị trí nhưng khác góc hướng.</a:t>
            </a:r>
          </a:p>
        </p:txBody>
      </p:sp>
      <p:sp>
        <p:nvSpPr>
          <p:cNvPr id="23" name="Oval 22"/>
          <p:cNvSpPr/>
          <p:nvPr/>
        </p:nvSpPr>
        <p:spPr>
          <a:xfrm>
            <a:off x="786384" y="4919472"/>
            <a:ext cx="384048" cy="384048"/>
          </a:xfrm>
          <a:prstGeom prst="ellipse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9194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82896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Hậu kiểm toàn đường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882896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Đầu–đích, thời gian, chồng lấn và vùng quét.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82127" y="1389888"/>
            <a:ext cx="347472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13648" y="1901952"/>
            <a:ext cx="2011680" cy="7498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2" y="1929384"/>
            <a:ext cx="1901952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PSTMO</a:t>
            </a:r>
            <a:br/>
            <a:r>
              <a:rPr sz="1300" b="1" i="0">
                <a:solidFill>
                  <a:srgbClr val="FFFFFF"/>
                </a:solidFill>
                <a:latin typeface="Noto Sans"/>
              </a:rPr>
              <a:t>nav_msgs/Path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19488" y="2788920"/>
            <a:ext cx="0" cy="612648"/>
          </a:xfrm>
          <a:prstGeom prst="line">
            <a:avLst/>
          </a:prstGeom>
          <a:ln w="2794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13648" y="3456432"/>
            <a:ext cx="2011680" cy="749808"/>
          </a:xfrm>
          <a:prstGeom prst="round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8512" y="3483863"/>
            <a:ext cx="1901952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Bộ điều khiển RPP</a:t>
            </a:r>
            <a:br/>
            <a:r>
              <a:rPr sz="1200" b="1" i="0">
                <a:solidFill>
                  <a:srgbClr val="FFFFFF"/>
                </a:solidFill>
                <a:latin typeface="Noto Sans"/>
              </a:rPr>
              <a:t>20 Hz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19488" y="4343400"/>
            <a:ext cx="0" cy="612648"/>
          </a:xfrm>
          <a:prstGeom prst="line">
            <a:avLst/>
          </a:prstGeom>
          <a:ln w="2794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13648" y="5010912"/>
            <a:ext cx="2011680" cy="530352"/>
          </a:xfrm>
          <a:prstGeom prst="round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5038344"/>
            <a:ext cx="19019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cmd_vel</a:t>
            </a:r>
            <a:br/>
            <a:r>
              <a:rPr sz="1200" b="1" i="0">
                <a:solidFill>
                  <a:srgbClr val="FFFFFF"/>
                </a:solidFill>
                <a:latin typeface="Noto Sans"/>
              </a:rPr>
              <a:t>(v, ω)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01952" y="5980176"/>
            <a:ext cx="8321040" cy="49377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6025896"/>
            <a:ext cx="810158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Bộ làm mượt chỉnh đường · Bộ điều khiển phát lệnh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94944"/>
            <a:ext cx="12801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69C52"/>
                </a:solidFill>
                <a:latin typeface="Noto Sans"/>
              </a:rPr>
              <a:t>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847088"/>
            <a:ext cx="571500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FFFFF"/>
                </a:solidFill>
                <a:latin typeface="Noto Sans"/>
              </a:rPr>
              <a:t>THỰC NGHIỆM &amp;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73552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C8D5E3"/>
                </a:solidFill>
                <a:latin typeface="Noto Sans"/>
              </a:rPr>
              <a:t>Hình 3D dùng để giải thích mô hình; kết quả được chứng minh bằng ảnh Gazebo, RViz2 và dữ liệu ROS đã lưu.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960120" cy="73152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bot_gazebo_warehouse_hero.png"/>
          <p:cNvPicPr>
            <a:picLocks noChangeAspect="1"/>
          </p:cNvPicPr>
          <p:nvPr/>
        </p:nvPicPr>
        <p:blipFill>
          <a:blip r:embed="rId2"/>
          <a:srcRect l="27563" r="27563"/>
          <a:stretch>
            <a:fillRect/>
          </a:stretch>
        </p:blipFill>
        <p:spPr>
          <a:xfrm>
            <a:off x="6729984" y="0"/>
            <a:ext cx="5468112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46520" y="0"/>
            <a:ext cx="86868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Mô hình mô phỏng gồm những gì?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THỰC NGHIỆM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35844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bot_isometr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335024"/>
            <a:ext cx="2651760" cy="2651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97680" y="1335024"/>
            <a:ext cx="35844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azebo_research_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815" y="1335024"/>
            <a:ext cx="3138177" cy="2651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28431" y="1335024"/>
            <a:ext cx="35844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viz_research_ui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1666831"/>
            <a:ext cx="3584447" cy="1988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4050791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3D từ STL/SDF: cấu tạo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4050791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Gazebo: trạng thái vật lý và môi trường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4050791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RViz2: dữ liệu điều hướng và đường đi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17720"/>
            <a:ext cx="25877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617720"/>
            <a:ext cx="73152" cy="1298448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754880"/>
            <a:ext cx="2221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Robot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148072"/>
            <a:ext cx="22219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Vi sai; hình bao 0,44×0,34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4617720"/>
            <a:ext cx="25877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296" y="4617720"/>
            <a:ext cx="73152" cy="1298448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4754880"/>
            <a:ext cx="2221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Cảm biến &amp; định vị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5148072"/>
            <a:ext cx="22219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LiDAR 2D + AMCL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4617720"/>
            <a:ext cx="25877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64224" y="4617720"/>
            <a:ext cx="73152" cy="1298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754880"/>
            <a:ext cx="2221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Điều hướng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48072"/>
            <a:ext cx="22219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5 bộ lập kế hoạch + 5 phương án đường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7152" y="4617720"/>
            <a:ext cx="25877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17152" y="4617720"/>
            <a:ext cx="73152" cy="1298448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8" y="4754880"/>
            <a:ext cx="2221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Bám đường &amp; an toàn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5148072"/>
            <a:ext cx="22219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RPP + làm mượt vận tốc + giám sát va chạm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6126480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1">
                <a:solidFill>
                  <a:srgbClr val="5B6876"/>
                </a:solidFill>
                <a:latin typeface="Noto Sans"/>
              </a:rPr>
              <a:t>Chỉ ảnh Gazebo/RViz2 và dữ liệu ROS được dùng làm bằng chứng thực nghiệm; hình 3D dùng để giải thích mô hình.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Bảy môi trường thử nghiệm trong Gazebo/RViz2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THỰC NGHIỆM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pen_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96" y="1325880"/>
            <a:ext cx="2056047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27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Không gian mở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32588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search_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548" y="1325880"/>
            <a:ext cx="2056047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19272" y="3127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Kho nghiên cứu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132588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arrow_ais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900" y="1325880"/>
            <a:ext cx="2056047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35624" y="3127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Lối đi hẹp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132588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ffice_ma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252" y="1325880"/>
            <a:ext cx="2056047" cy="1737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51976" y="3127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Mê cung văn phòng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11095" y="3685032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arehouse_cross_ais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0372" y="3685032"/>
            <a:ext cx="2056047" cy="1737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11095" y="548640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Kho giao cắt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7448" y="3685032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arehouse_disp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724" y="3685032"/>
            <a:ext cx="2056047" cy="1737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27448" y="548640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Kho điều phối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3685032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arehouse_long_aisl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3076" y="3685032"/>
            <a:ext cx="2056047" cy="1737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43800" y="548640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Kho lối đi dài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6144768"/>
            <a:ext cx="9966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10" b="0" i="0">
                <a:solidFill>
                  <a:srgbClr val="5B6876"/>
                </a:solidFill>
                <a:latin typeface="Noto Sans"/>
              </a:rPr>
              <a:t>Mỗi môi trường dùng một cặp đầu–đích đại diện; cùng một đường gốc được chia sẻ giữa năm phương án của mỗi bộ lập kế hoạch.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Thiết kế thực nghiệm và cách ghép cặp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THỰC NGHIỆM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35024"/>
            <a:ext cx="6748272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2_tes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5481"/>
            <a:ext cx="6748272" cy="28230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99248" y="1426464"/>
            <a:ext cx="16642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27264" y="1536192"/>
            <a:ext cx="140817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D6FB8"/>
                </a:solidFill>
                <a:latin typeface="Noto Sans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2029968"/>
            <a:ext cx="1408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môi trường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1426464"/>
            <a:ext cx="16642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47504" y="1536192"/>
            <a:ext cx="140817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7257B5"/>
                </a:solidFill>
                <a:latin typeface="Noto San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47504" y="2029968"/>
            <a:ext cx="1408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bộ lập kế hoạch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017520"/>
            <a:ext cx="16642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3127248"/>
            <a:ext cx="140817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3621024"/>
            <a:ext cx="1408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phương án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19488" y="3017520"/>
            <a:ext cx="16642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3127248"/>
            <a:ext cx="140817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175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3621024"/>
            <a:ext cx="1408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lượt thực thi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4681728"/>
            <a:ext cx="358444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99248" y="4681728"/>
            <a:ext cx="73152" cy="1078992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4818888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Đơn vị ghép cặp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5212080"/>
            <a:ext cx="32186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Môi trường + bộ lập kế hoạch + SHA-256 của đúng đường gốc.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6089904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C53B3C"/>
                </a:solidFill>
                <a:latin typeface="Noto Sans"/>
              </a:rPr>
              <a:t>Mỗi lượt chạy trong một mô phỏng mới; số lần lặp hiện tại: 1 cho mỗi tổ hợp.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RViz2 và Gazebo trả về dữ liệu gì?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THỰC NGHIỆM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35024"/>
            <a:ext cx="56235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search_warehouse__lower_left_diagonal__Smac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38586"/>
            <a:ext cx="5623560" cy="31191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55664" y="1335024"/>
            <a:ext cx="5120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search_warehouse_smac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983986"/>
            <a:ext cx="5120640" cy="32283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5916168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RViz2: đường gốc/PSTMO, hình bao, bản đồ chi phí và dữ liệu chẩn đoán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91616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Đối chiếu kế hoạch với quỹ đạo thực thi trong Gazebo cho đủ năm phương 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6309360"/>
            <a:ext cx="9006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F766E"/>
                </a:solidFill>
                <a:latin typeface="Noto Sans"/>
              </a:rPr>
              <a:t>Mỗi ca lưu cả ảnh PNG và dữ liệu JSON của đường/chủ đề ROS; ảnh không phải minh họa dựng lại.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Kết quả hình học trên 34 nhóm ghép cặp đầy đủ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316736"/>
            <a:ext cx="7077456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9_aggregat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28755"/>
            <a:ext cx="7077456" cy="45125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36992" y="1417320"/>
            <a:ext cx="153619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1527048"/>
            <a:ext cx="1280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2.40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2020824"/>
            <a:ext cx="1280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κ_max (m⁻¹)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377440"/>
            <a:ext cx="128016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giảm 90,3% so với Raw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1417320"/>
            <a:ext cx="153619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02368" y="1527048"/>
            <a:ext cx="1280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3.31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2020824"/>
            <a:ext cx="1280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Eκ (m⁻¹)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2377440"/>
            <a:ext cx="128016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giảm 98,5% so với Raw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090672"/>
            <a:ext cx="153619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3200400"/>
            <a:ext cx="1280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10.18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3694176"/>
            <a:ext cx="1280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chiều dài (m)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4050791"/>
            <a:ext cx="128016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ngắn hơn Raw 1,6%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3090672"/>
            <a:ext cx="153619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3200400"/>
            <a:ext cx="1280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E8871E"/>
                </a:solidFill>
                <a:latin typeface="Noto Sans"/>
              </a:rPr>
              <a:t>0.171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3694176"/>
            <a:ext cx="1280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khoảng hở nhỏ nhất (m)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4050791"/>
            <a:ext cx="128016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không có mẫu va chạm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4800600"/>
            <a:ext cx="327355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4800600"/>
            <a:ext cx="73152" cy="1115568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4937760"/>
            <a:ext cx="2907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1" i="0">
                <a:solidFill>
                  <a:srgbClr val="102A43"/>
                </a:solidFill>
                <a:latin typeface="Noto Sans"/>
              </a:rPr>
              <a:t>Cách đọc đúng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5330952"/>
            <a:ext cx="2907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B6876"/>
                </a:solidFill>
                <a:latin typeface="Noto Sans"/>
              </a:rPr>
              <a:t>PSTMO mượt hơn rõ rệt; khoảng hở thấp hơn một số đối chứng nhưng vẫn đạt kiểm tra hình bao.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6190488"/>
            <a:ext cx="9738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Số liệu là trung bình ghép cặp; không trộn các bộ lập kế hoạch hoặc đường gốc khác nhau.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Tỷ lệ thành công, thời gian xử lý và chẩn đoán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35024"/>
            <a:ext cx="53766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0_success_points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95928"/>
            <a:ext cx="5376672" cy="16945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45352" y="1335024"/>
            <a:ext cx="530352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_11_dq_live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070" y="1335024"/>
            <a:ext cx="4598082" cy="2816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35/35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PSTMO hình học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E8871E"/>
                </a:solidFill>
                <a:latin typeface="Noto Sans"/>
              </a:rPr>
              <a:t>34/35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Simple hình học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5422392"/>
            <a:ext cx="1618487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1 ca thất bại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1184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7257B5"/>
                </a:solidFill>
                <a:latin typeface="Noto Sans"/>
              </a:rPr>
              <a:t>95,2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thời gian xử lý PSTMO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221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đoạn chuyển tiếp G²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5422392"/>
            <a:ext cx="1618487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tổng trên 35 đường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E8871E"/>
                </a:solidFill>
                <a:latin typeface="Noto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lần quay tại chỗ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5422392"/>
            <a:ext cx="1618487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trên tổng 229 góc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6016752"/>
            <a:ext cx="10058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PSTMO cần thời gian xử lý cao hơn các phương án đối chứng, đổi lại cung cấp kiểm tra và dữ liệu chẩn đoán chi tiết hơn.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Kết quả thực thi vòng kín trong Gazebo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35024"/>
            <a:ext cx="5559552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3_execution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17904"/>
            <a:ext cx="5559552" cy="27797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82512" y="1335024"/>
            <a:ext cx="5166360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_14_execution_by_pl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798374"/>
            <a:ext cx="5166360" cy="221883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6384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170/175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lượt tới đích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05856"/>
            <a:ext cx="1682496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5 lỗi cùng nhóm C30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368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53,15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PSTMO trung bình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3.97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nhanh hơn Raw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5705856"/>
            <a:ext cx="1682496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32/34 cặp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D6FB8"/>
                </a:solidFill>
                <a:latin typeface="Noto Sans"/>
              </a:rPr>
              <a:t>1.30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nhanh hơn Simple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5705856"/>
            <a:ext cx="1682496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21/34 cặp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6336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giám sát va chạm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5705856"/>
            <a:ext cx="1682496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không can thiệp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6181344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70" b="0" i="0">
                <a:solidFill>
                  <a:srgbClr val="5B6876"/>
                </a:solidFill>
                <a:latin typeface="Noto Sans"/>
              </a:rPr>
              <a:t>Thời gian được đo từ lúc FollowPath nhận lệnh tới khi robot dừng vật lý theo trạng thái thực mô phỏng.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Một ca thực thi điển hình: kho điều phối · Smac2D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16736"/>
            <a:ext cx="8138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rehouse_dispatch_smac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0" y="1316736"/>
            <a:ext cx="8049562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15984" y="1389888"/>
            <a:ext cx="257860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15984" y="1389888"/>
            <a:ext cx="73152" cy="1225296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527048"/>
            <a:ext cx="22128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Cùng đường gốc đầu vào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920240"/>
            <a:ext cx="221284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Năm phương án dùng cùng đường do bộ lập kế hoạch tạo, xác nhận bằng hàm băm.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2816352"/>
            <a:ext cx="257860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15984" y="2816352"/>
            <a:ext cx="73152" cy="1225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953512"/>
            <a:ext cx="22128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Hai lớp bằng chứng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346704"/>
            <a:ext cx="221284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Đường kế hoạch và quỹ đạo Gazebo được đặt cạnh nhau.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4242816"/>
            <a:ext cx="257860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4242816"/>
            <a:ext cx="73152" cy="1225296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379976"/>
            <a:ext cx="22128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Không chỉ nhìn hình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773168"/>
            <a:ext cx="221284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0" i="0">
                <a:solidFill>
                  <a:srgbClr val="5B6876"/>
                </a:solidFill>
                <a:latin typeface="Noto Sans"/>
              </a:rPr>
              <a:t>Kết quả còn có thời gian, khoảng hở, va chạm và trạng thái thành công.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5779008"/>
            <a:ext cx="257860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Mục tiêu của ảnh: kiểm tra đường được công bố khớp với dữ liệu RViz2/Gazebo, không thay thế số liệu định lượng.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Phân tích ca thất bại C30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Kho điều phối · SmacHybrid · không được coi thời điểm dừng sớm là thời gian hoàn thành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64465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e_C30_warehouse_dispatch_Smac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62" y="1298448"/>
            <a:ext cx="6315651" cy="4800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0336" y="1371600"/>
            <a:ext cx="43159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0336" y="13716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508760"/>
            <a:ext cx="39502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Hình học của đường PSTMO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1901952"/>
            <a:ext cx="3950207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 i="0">
                <a:solidFill>
                  <a:srgbClr val="5B6876"/>
                </a:solidFill>
                <a:latin typeface="Noto Sans"/>
              </a:rPr>
              <a:t>10 góc được xử lý: −45,77° đến +56,30°; Eκ giảm 52,84% và κmax giảm 14,77% so với đường gốc.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2788920"/>
            <a:ext cx="43159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2788920"/>
            <a:ext cx="73152" cy="123444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2926079"/>
            <a:ext cx="39502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Lỗi riêng của Simple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319272"/>
            <a:ext cx="3950207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 i="0">
                <a:solidFill>
                  <a:srgbClr val="5B6876"/>
                </a:solidFill>
                <a:latin typeface="Noto Sans"/>
              </a:rPr>
              <a:t>Máy chủ làm mượt từ chối đường tại (−4,741290; 3,482165; 0,352672 rad) do hình bao va chạm.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4206240"/>
            <a:ext cx="43159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4206240"/>
            <a:ext cx="73152" cy="1417320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4343400"/>
            <a:ext cx="39502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Lỗi thực thi của bốn đường còn lại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4736592"/>
            <a:ext cx="3950207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876"/>
                </a:solidFill>
                <a:latin typeface="Noto Sans"/>
              </a:rPr>
              <a:t>RPP dự báo va chạm phía trước; FollowPath kết thúc với PATIENCE_EXCEEDED, mã 104. Bộ giám sát va chạm không can thiệp: 0 lần.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6199632"/>
            <a:ext cx="10287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80" b="1" i="0">
                <a:solidFill>
                  <a:srgbClr val="102A43"/>
                </a:solidFill>
                <a:latin typeface="Noto Sans"/>
              </a:rPr>
              <a:t>Kết luận đúng: đây là giới hạn phối hợp lập kế hoạch–làm mượt–điều khiển, không phải bằng chứng rằng mọi đường đều va chạm hình học.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Kết luận và giới hạn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LUẬN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285232" cy="455371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664208"/>
            <a:ext cx="46817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169C52"/>
                </a:solidFill>
                <a:latin typeface="Noto Sans"/>
              </a:rPr>
              <a:t>KẾT LUẬN TỪ DỮ LIỆU HIỆN CÓ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286000"/>
            <a:ext cx="4645152" cy="2971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PSTMO tạo đường G², có mô hình bánh xe, thời gian và vùng quét hình bao robot.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Trên 34 nhóm ghép cặp, κ_max giảm 90,3% và Eκ giảm 98,5% so với Raw.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Trong mô phỏng vòng kín, PSTMO nhanh hơn Raw trung bình 3,97 s trên các cặp thành công.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Không ghi nhận mẫu va chạm trên đường kế hoạch hoặc can thiệp của bộ giám sát va chạm.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53312"/>
            <a:ext cx="5285232" cy="4553712"/>
          </a:xfrm>
          <a:prstGeom prst="roundRect">
            <a:avLst/>
          </a:prstGeom>
          <a:solidFill>
            <a:srgbClr val="FFF3E5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664208"/>
            <a:ext cx="46817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E8871E"/>
                </a:solidFill>
                <a:latin typeface="Noto Sans"/>
              </a:rPr>
              <a:t>GIỚI HẠN CẦN NÓI RÕ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645152" cy="2971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Mỗi tổ hợp mới chạy một lần; chưa đủ để suy luận thống kê mạnh.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Bản đồ tĩnh không mô hình hóa vật cản động, trượt bánh, tải và độ trễ cảm biến.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Eκ là chỉ số hình học, không phải điện năng thực.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Cần thử nghiệm lặp và thử robot thật với sai số bám đường, dòng điện và sự kiện an toàn.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6053328"/>
            <a:ext cx="10040112" cy="53035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6099048"/>
            <a:ext cx="9820656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Thông điệp: PSTMO cải thiện rõ rệt chuyển hướng trong mô phỏng; robot thật là bước kiểm chứng tiếp theo.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Thuật ngữ nên dùng nhất quán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Thuật ngữ tiếng Anh · thuật ngữ tiếng Việt · cách hiểu trong bài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PHỤ LỤC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" y="1316736"/>
          <a:ext cx="11018520" cy="528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246120"/>
                <a:gridCol w="4937760"/>
              </a:tblGrid>
              <a:tr h="40655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Noto Sans"/>
                        </a:rPr>
                        <a:t>English term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Noto Sans"/>
                        </a:rPr>
                        <a:t>Tiếng Việt nên dùng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Noto Sans"/>
                        </a:rPr>
                        <a:t>Ý nghĩa trong báo cáo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path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đường đi / đường hình học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Chuỗi tư thế chưa gắn thời gian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trajectory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quỹ đạo theo thời gian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Có t, v, ω, gia tốc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path smoother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bộ làm mượt đường đi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Chỉnh hình học đường đi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corner-handling option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phương án xử lý tại góc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Một cách xử lý cụ thể cho một góc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trim distance 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khoảng cắt 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Chiều dài cắt trên mỗi cạnh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shape ratio α=q/d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tỷ lệ hình dạng α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Điều chỉnh phân bố độ cong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curvature κ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độ cong κ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Mức đổi hướng trên một đơn vị chiều dài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curvature energy Eκ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tích phân bình phương độ cong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Chỉ số uốn hình học; không phải điện năng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speed limit / speed profile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giới hạn vận tốc / biểu đồ vận tốc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Ngưỡng cục bộ / dãy v(s) sau quét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swept-footprint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vùng quét hình bao robot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Hợp của footprint dọc chuyển động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time gate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điều kiện ưu thế thời gian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Giữ đoạn chuyển tiếp khi có lợi hơn quay tại chỗ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6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pivot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quay tại chỗ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Hai bánh quay ngược chiều để đổi góc hướng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115568"/>
            <a:ext cx="101041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B8C8D8"/>
                </a:solidFill>
                <a:latin typeface="Noto Sans"/>
              </a:rPr>
              <a:t>CẢM ƠN THẦY CÔ VÀ CÁC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0"/>
            <a:ext cx="10104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Noto Sans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63824"/>
            <a:ext cx="10104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A9D7CC"/>
                </a:solidFill>
                <a:latin typeface="Noto Sans"/>
              </a:rPr>
              <a:t>PSTMO · ROS 2 Navigation2 · Bézier bậc năm G²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4114800"/>
            <a:ext cx="8458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4248" y="4160520"/>
            <a:ext cx="8238744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Đường mượt hơn chỉ có ý nghĩa khi vẫn khả thi, an toàn và thực thi được.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852160"/>
            <a:ext cx="10104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1A4B8"/>
                </a:solidFill>
                <a:latin typeface="Noto Sans"/>
              </a:rPr>
              <a:t>NGUYỄN TIẾN CƯƠNG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PSTMO – Làm mượt đường đi và tối ưu hóa thao tác chuyển hướng</dc:title>
  <dc:subject>ROS 2 Navigation2, robot vi sai, Bézier bậc năm G², RViz2, Gazebo</dc:subject>
  <dc:creator>NGUYỄN TIẾN CƯƠNG</dc:creator>
  <cp:keywords>PSTMO, ROS 2, Nav2, path smoothing, differential drive, RViz2, Gazebo</cp:keywords>
  <dc:description>Generated from audited repository figures and benchmark JSON.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